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>
        <p:scale>
          <a:sx n="95" d="100"/>
          <a:sy n="95" d="100"/>
        </p:scale>
        <p:origin x="1760" y="7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3242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[Tâm] Nhóm tái hiện phương pháp LinCIR, đề xuất hai cải tiến và kiểm chứng bằng kiểm định thống kê.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[Nou] Truy vấn gồm một ảnh tham chiếu và một câu mô tả thay đổi; hệ thống phải tìm ảnh giữ đặc điểm của ảnh tham chiếu và áp dụng thay đổi.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[Nou] Huấn luyện có giám sát cần bộ ba do người gán nhãn, tốn kém và số lượng nhỏ. Zero-shot không dùng bộ ba nào khi huấn luyện.</a:t>
            </a:r>
          </a:p>
          <a:p>
            <a:r>
              <a:t>Con số cần nêu: FashionIQ chỉ có 46,6 nghìn bộ ba, CIRR 28,8 nghìn — quá ít để tổng quát sang lĩnh vực khác.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[Nou] Bài toán vẫn là truy xuất có xếp hạng như chương I. R@K là Recall tính trên K kết quả đầu; mAP@K dùng khi có nhiều ảnh đúng. Khác chương I ở chỗ so khớp bằng vector thay vì từ khóa.</a:t>
            </a:r>
          </a:p>
          <a:p>
            <a:r>
              <a:t>Con số cần nêu: R@10 = 26 nghĩa là 26% số truy vấn có ảnh đúng trong 10 kết quả đầu.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[Trung] Ảnh tham chiếu được chuyển thành một token giả [$] và ghép vào câu “a photo of [$] that …”; bộ mã hóa văn bản tạo vector truy vấn để tìm ảnh. Chỉ cần huấn luyện mạng chiếu 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[Trung] Pic2Word và SEARLE chỉ huấn luyện với câu mẫu cố định và phải chạy bộ mã hóa ảnh khi huấn luyện.</a:t>
            </a:r>
          </a:p>
          <a:p>
            <a:r>
              <a:t>Con số cần nêu: Ảnh CC3M khoảng 430 GB, chú thích chỉ 125 MB.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[Trung] LinCIR huấn luyện φ chỉ bằng văn bản: che các từ khóa của câu bằng [$] và yêu cầu câu đã che có cùng vector với câu gốc.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[Trung] Vector ảnh và vector văn bản của CLIP nằm ở hai vùng tách biệt. φ học trên văn bản nhưng khi dùng lại nhận ảnh, nên LinCIR thêm nhiễu khi huấn luyện.</a:t>
            </a:r>
          </a:p>
          <a:p>
            <a:r>
              <a:t>Con số cần nêu: Ảnh và chú thích của chính nó chỉ có cosine 0,26 trên thang tối đa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[Tâm] Mã nguồn gốc không chạy với thư viện hiện tại. Nhóm viết lại phần mã hóa văn bản, sửa 4 lỗi và kiểm chứng kết quả trùng khớp với mô hình gốc.</a:t>
            </a:r>
          </a:p>
          <a:p>
            <a:r>
              <a:t>Con số cần nêu: Sai lệch 0,00 so với CLIP gốc.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[Tùng] Nhóm đánh giá lại checkpoint chính thức bằng mã đã chuyển đổi; kết quả khớp bài báo, xác nhận quy trình đánh giá đúng.</a:t>
            </a:r>
          </a:p>
          <a:p>
            <a:r>
              <a:t>Con số cần nêu: Lệch lớn nhất 0,77 điểm phần trăm.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[Trung] Cải tiến A thêm hàm mất mát đối sánh để mỗi câu phân biệt với 511 câu khác. Kết quả: không tốt hơn trên FashionIQ và kém hơn trên CIRCO; nguyên nhân trình bày ở slide 15.</a:t>
            </a:r>
          </a:p>
          <a:p>
            <a:r>
              <a:t>Con số cần nêu: CIRCO mAP@5 giảm từ 10,47 xuống 8,02, tức giảm khoảng 23%.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[Dũng] Cải tiến B cộng vào nhiễu vector Δ chỉ từ vùng văn bản sang vùng ảnh, để φ được huấn luyện gần với điều kiện khi suy luận.</a:t>
            </a:r>
          </a:p>
          <a:p>
            <a:r>
              <a:t>Con số cần nêu: Δ tính trên 5.000 cặp COCO, độc lập với dữ liệu đánh giá.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[Tâm] Mọi biến thể dùng cùng dữ liệu, cùng 5.000 bước, cùng siêu tham số và chạy 3 seed; chỉ khác đúng thành phần cải tiến. Nhóm khắc phục nghẽn nạp dữ liệu để kịp chạy trong hạn mức GPU.</a:t>
            </a:r>
          </a:p>
          <a:p>
            <a:r>
              <a:t>Con số cần nêu: Tốc độ tăng 3,1 lần: 2,0 giờ mỗi lần chạy thay vì 6,2 giờ.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[Dũng] B cao nhất ở mọi cột và tốt hơn baseline có ý nghĩa thống kê; A và A+B kém hơn trên CIRCO.</a:t>
            </a:r>
          </a:p>
          <a:p>
            <a:r>
              <a:t>Con số cần nêu: B tăng 0,60 điểm R@10 (thêm khoảng 6 truy vấn đúng trên 1.000), p = 0,006.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[Dũng] Đo độ tương đồng giữa đầu ra của φ khi nhận ảnh và khi nhận văn bản của cùng một cặp. Thứ tự độ tương đồng trùng với thứ tự kết quả CIRCO.</a:t>
            </a:r>
          </a:p>
          <a:p>
            <a:r>
              <a:t>Con số cần nêu: B 0,84, baseline 0,80, A 0,64.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[Tùng] Chất lượng truy xuất phụ thuộc chủ yếu vào việc φ xử lý ảnh nhất quán với văn bản. B cải thiện điều này nên tốt hơn; A làm giảm nên kém hơn. Hạn chế chính: huấn luyện 5.000 bước và chưa quét siêu tham số.</a:t>
            </a:r>
          </a:p>
          <a:p>
            <a:r>
              <a:t>Con số cần nêu: B chỉ huấn luyện 5.000 bước nhưng vượt checkpoint chính thức 20.000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[Cả nhóm] Cảm ơn cô và các bạn; mời đặt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6949440" y="-1086770"/>
            <a:ext cx="6766560" cy="67665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7630509" y="5454098"/>
            <a:ext cx="822960" cy="82296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731519" y="640080"/>
            <a:ext cx="676656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 dirty="0">
                <a:solidFill>
                  <a:srgbClr val="1E6FE8"/>
                </a:solidFill>
                <a:latin typeface="Helvetica"/>
              </a:rPr>
              <a:t>TÌM KIẾM VÀ TRUY XUẤT THÔNG TIN · NHÓM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19" y="1229449"/>
            <a:ext cx="9116674" cy="273985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Huấn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luyện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hiệu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quả</a:t>
            </a:r>
            <a:br>
              <a:rPr lang="en-US" sz="4000" b="1" i="0" dirty="0">
                <a:solidFill>
                  <a:srgbClr val="0F1C3F"/>
                </a:solidFill>
                <a:latin typeface="Helvetica"/>
              </a:rPr>
            </a:b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chỉ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bằng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văn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bản</a:t>
            </a:r>
            <a:br>
              <a:rPr lang="en-US" sz="4000" b="1" dirty="0">
                <a:solidFill>
                  <a:srgbClr val="0F1C3F"/>
                </a:solidFill>
                <a:latin typeface="Helvetica"/>
              </a:rPr>
            </a:b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cho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truy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xuất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ảnh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kết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000" b="1" i="0" dirty="0" err="1">
                <a:solidFill>
                  <a:srgbClr val="0F1C3F"/>
                </a:solidFill>
                <a:latin typeface="Helvetica"/>
              </a:rPr>
              <a:t>hợp</a:t>
            </a:r>
            <a:r>
              <a:rPr lang="en-US" sz="4000" b="1" i="0" dirty="0">
                <a:solidFill>
                  <a:srgbClr val="0F1C3F"/>
                </a:solidFill>
                <a:latin typeface="Helvetica"/>
              </a:rPr>
              <a:t> Zero-shot</a:t>
            </a:r>
            <a:endParaRPr sz="4000" b="1" i="0" dirty="0">
              <a:solidFill>
                <a:srgbClr val="0F1C3F"/>
              </a:solidFill>
              <a:latin typeface="Helvetica"/>
            </a:endParaRPr>
          </a:p>
          <a:p>
            <a:pPr algn="l">
              <a:lnSpc>
                <a:spcPct val="200000"/>
              </a:lnSpc>
            </a:pPr>
            <a:r>
              <a:rPr sz="2800" b="0" i="1" dirty="0">
                <a:solidFill>
                  <a:srgbClr val="144FB0"/>
                </a:solidFill>
                <a:latin typeface="Helvetica"/>
              </a:rPr>
              <a:t>Tái </a:t>
            </a:r>
            <a:r>
              <a:rPr sz="2800" b="0" i="1" dirty="0" err="1">
                <a:solidFill>
                  <a:srgbClr val="144FB0"/>
                </a:solidFill>
                <a:latin typeface="Helvetica"/>
              </a:rPr>
              <a:t>hiện</a:t>
            </a:r>
            <a:r>
              <a:rPr sz="2800" b="0" i="1" dirty="0">
                <a:solidFill>
                  <a:srgbClr val="144FB0"/>
                </a:solidFill>
                <a:latin typeface="Helvetica"/>
              </a:rPr>
              <a:t> </a:t>
            </a:r>
            <a:r>
              <a:rPr sz="2800" b="0" i="1" dirty="0" err="1">
                <a:solidFill>
                  <a:srgbClr val="144FB0"/>
                </a:solidFill>
                <a:latin typeface="Helvetica"/>
              </a:rPr>
              <a:t>và</a:t>
            </a:r>
            <a:r>
              <a:rPr sz="2800" b="0" i="1" dirty="0">
                <a:solidFill>
                  <a:srgbClr val="144FB0"/>
                </a:solidFill>
                <a:latin typeface="Helvetica"/>
              </a:rPr>
              <a:t> </a:t>
            </a:r>
            <a:r>
              <a:rPr sz="2800" b="0" i="1" dirty="0" err="1">
                <a:solidFill>
                  <a:srgbClr val="144FB0"/>
                </a:solidFill>
                <a:latin typeface="Helvetica"/>
              </a:rPr>
              <a:t>cải</a:t>
            </a:r>
            <a:r>
              <a:rPr sz="2800" b="0" i="1" dirty="0">
                <a:solidFill>
                  <a:srgbClr val="144FB0"/>
                </a:solidFill>
                <a:latin typeface="Helvetica"/>
              </a:rPr>
              <a:t> </a:t>
            </a:r>
            <a:r>
              <a:rPr sz="2800" b="0" i="1" dirty="0" err="1">
                <a:solidFill>
                  <a:srgbClr val="144FB0"/>
                </a:solidFill>
                <a:latin typeface="Helvetica"/>
              </a:rPr>
              <a:t>tiến</a:t>
            </a:r>
            <a:r>
              <a:rPr sz="2800" b="0" i="1" dirty="0">
                <a:solidFill>
                  <a:srgbClr val="144FB0"/>
                </a:solidFill>
                <a:latin typeface="Helvetica"/>
              </a:rPr>
              <a:t> </a:t>
            </a:r>
            <a:r>
              <a:rPr sz="2800" b="0" i="1" dirty="0" err="1">
                <a:solidFill>
                  <a:srgbClr val="144FB0"/>
                </a:solidFill>
                <a:latin typeface="Helvetica"/>
              </a:rPr>
              <a:t>LinCIR</a:t>
            </a:r>
            <a:r>
              <a:rPr sz="2800" b="0" i="1" dirty="0">
                <a:solidFill>
                  <a:srgbClr val="144FB0"/>
                </a:solidFill>
                <a:latin typeface="Helvetica"/>
              </a:rPr>
              <a:t> (CVPR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5349240"/>
            <a:ext cx="6949440" cy="17373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 dirty="0" err="1">
                <a:solidFill>
                  <a:srgbClr val="5B6B82"/>
                </a:solidFill>
                <a:latin typeface="Helvetica"/>
              </a:rPr>
              <a:t>Giảng</a:t>
            </a:r>
            <a:r>
              <a:rPr sz="2000" b="0" i="0" dirty="0">
                <a:solidFill>
                  <a:srgbClr val="5B6B82"/>
                </a:solidFill>
                <a:latin typeface="Helvetica"/>
              </a:rPr>
              <a:t> </a:t>
            </a:r>
            <a:r>
              <a:rPr sz="2000" b="0" i="0" dirty="0" err="1">
                <a:solidFill>
                  <a:srgbClr val="5B6B82"/>
                </a:solidFill>
                <a:latin typeface="Helvetica"/>
              </a:rPr>
              <a:t>viên</a:t>
            </a:r>
            <a:r>
              <a:rPr sz="2000" b="0" i="0" dirty="0">
                <a:solidFill>
                  <a:srgbClr val="5B6B82"/>
                </a:solidFill>
                <a:latin typeface="Helvetica"/>
              </a:rPr>
              <a:t>: TS. Đào Thị Thuý Quỳnh · </a:t>
            </a:r>
            <a:r>
              <a:rPr sz="2000" b="0" i="0" dirty="0" err="1">
                <a:solidFill>
                  <a:srgbClr val="5B6B82"/>
                </a:solidFill>
                <a:latin typeface="Helvetica"/>
              </a:rPr>
              <a:t>Lớp</a:t>
            </a:r>
            <a:r>
              <a:rPr sz="2000" b="0" i="0" dirty="0">
                <a:solidFill>
                  <a:srgbClr val="5B6B82"/>
                </a:solidFill>
                <a:latin typeface="Helvetica"/>
              </a:rPr>
              <a:t> M25CQHT02-B</a:t>
            </a:r>
          </a:p>
          <a:p>
            <a:pPr algn="l">
              <a:lnSpc>
                <a:spcPct val="110000"/>
              </a:lnSpc>
            </a:pPr>
            <a:r>
              <a:rPr sz="2000" b="0" i="0" dirty="0">
                <a:solidFill>
                  <a:srgbClr val="5B6B82"/>
                </a:solidFill>
                <a:latin typeface="Helvetica"/>
              </a:rPr>
              <a:t>Đào Văn Tâm · Lâm Thành Trung · Nguyễn Xuân Tùng</a:t>
            </a:r>
          </a:p>
          <a:p>
            <a:pPr algn="l">
              <a:lnSpc>
                <a:spcPct val="110000"/>
              </a:lnSpc>
            </a:pPr>
            <a:r>
              <a:rPr sz="2000" b="0" i="0" dirty="0">
                <a:solidFill>
                  <a:srgbClr val="5B6B82"/>
                </a:solidFill>
                <a:latin typeface="Helvetica"/>
              </a:rPr>
              <a:t>Trần Quang Đức Dũng · </a:t>
            </a:r>
            <a:r>
              <a:rPr sz="2000" b="0" i="0" dirty="0" err="1">
                <a:solidFill>
                  <a:srgbClr val="5B6B82"/>
                </a:solidFill>
                <a:latin typeface="Helvetica"/>
              </a:rPr>
              <a:t>Mekdala</a:t>
            </a:r>
            <a:r>
              <a:rPr sz="2000" b="0" i="0" dirty="0">
                <a:solidFill>
                  <a:srgbClr val="5B6B82"/>
                </a:solidFill>
                <a:latin typeface="Helvetica"/>
              </a:rPr>
              <a:t> Nounou</a:t>
            </a:r>
          </a:p>
        </p:txBody>
      </p:sp>
      <p:pic>
        <p:nvPicPr>
          <p:cNvPr id="7" name="Picture 6" descr="cir_example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639783"/>
            <a:ext cx="4206240" cy="149555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9692640" y="-2194560"/>
            <a:ext cx="4206240" cy="420624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20140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Truy vấn gồm một ảnh tham chiếu và một câu mô tả thay đổi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2</a:t>
            </a:r>
          </a:p>
        </p:txBody>
      </p:sp>
      <p:pic>
        <p:nvPicPr>
          <p:cNvPr id="6" name="Picture 5" descr="cir_example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91640"/>
            <a:ext cx="7498079" cy="26659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37360"/>
            <a:ext cx="3200400" cy="420624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41080" y="1901952"/>
            <a:ext cx="274320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CIR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2468880"/>
            <a:ext cx="2743200" cy="333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Giữ đặc điểm của ảnh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Áp dụng phần thay đổi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Trả về danh sách ảnh có xếp hạng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-1099971" y="3983019"/>
            <a:ext cx="3840480" cy="384048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54864" y="60350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Dữ liệu bộ ba đắt và nhỏ nên cần CIR không cần mẫu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29184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46,6k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329184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bộ ba FashionIQ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828800"/>
            <a:ext cx="329184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28,8k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697480"/>
            <a:ext cx="329184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bộ ba CIRR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1828800"/>
            <a:ext cx="384048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44FB0"/>
                </a:solidFill>
                <a:latin typeface="Helvetica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697480"/>
            <a:ext cx="384048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bộ ba dùng trong zero-shot CIR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77639"/>
            <a:ext cx="10698480" cy="192024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0120" y="4142231"/>
            <a:ext cx="1024128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Hệ quả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709159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1" i="0">
                <a:solidFill>
                  <a:srgbClr val="0F1C3F"/>
                </a:solidFill>
                <a:latin typeface="Helvetica"/>
              </a:rPr>
              <a:t>Có giám sát: </a:t>
            </a:r>
            <a:r>
              <a:rPr sz="2100" b="0" i="0">
                <a:solidFill>
                  <a:srgbClr val="0F1C3F"/>
                </a:solidFill>
                <a:latin typeface="Helvetica"/>
              </a:rPr>
              <a:t>gán nhãn thủ công, khó mở rộng sang lĩnh vực mới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1" i="0">
                <a:solidFill>
                  <a:srgbClr val="0F1C3F"/>
                </a:solidFill>
                <a:latin typeface="Helvetica"/>
              </a:rPr>
              <a:t>Zero-shot: </a:t>
            </a:r>
            <a:r>
              <a:rPr sz="2100" b="0" i="0">
                <a:solidFill>
                  <a:srgbClr val="0F1C3F"/>
                </a:solidFill>
                <a:latin typeface="Helvetica"/>
              </a:rPr>
              <a:t>huấn luyện trên dữ liệu sẵn có, đánh giá trực tiếp trên bộ CIR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9966960" y="420624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704320" y="32918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CIR là truy xuất có xếp hạng, đo bằng R@K và mAP@K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1089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Chương 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08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Nhu cầu → truy vấn → xếp hạng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Precision, Recall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Boolean + chỉ mục ngược: khớp chính xác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901952"/>
            <a:ext cx="31089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Độ đo của CIR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08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R@K: ảnh đích nằm trong top-K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mAP@K: nhiều ảnh đúng, thưởng vị trí cao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901952"/>
            <a:ext cx="31089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Tìm kiếm vector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68880"/>
            <a:ext cx="3108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Ảnh, truy vấn → vector CLIP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Xếp hạng theo cosine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Nhóm báo cáo R@10, R@50 trên FashionIQ và mAP@K trên CIRCO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9692640" y="-2194560"/>
            <a:ext cx="4206240" cy="420624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20140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Ảnh được biến thành một “từ giả” [$] trong câu truy vấn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5</a:t>
            </a:r>
          </a:p>
        </p:txBody>
      </p:sp>
      <p:pic>
        <p:nvPicPr>
          <p:cNvPr id="6" name="Picture 5" descr="lincir_infer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11064240" cy="35122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-1828800" y="-182880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54864" y="310896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Pic2Word và SEARLE học với câu mẫu cố định và cần ảnh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394960" cy="27432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49377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Câu mẫu cố định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49377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Chỉ học trên “a photo of [$]”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Kém với câu điều chỉnh phức tạp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Giảm khi tăng kích thước backbone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394960" cy="274320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901952"/>
            <a:ext cx="49377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Cần ảnh khi huấn luyện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468880"/>
            <a:ext cx="493776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Chạy bộ mã hóa ảnh mỗi bước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Ảnh CC3M ≈ 430 GB, chú thích 125 MB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11064240" cy="9144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144FB0"/>
                </a:solidFill>
                <a:latin typeface="Helvetica"/>
              </a:rPr>
              <a:t>LinCIR bỏ cả hai hạn chế: </a:t>
            </a:r>
            <a:r>
              <a:rPr sz="2400" b="0" i="0">
                <a:solidFill>
                  <a:srgbClr val="0F1C3F"/>
                </a:solidFill>
                <a:latin typeface="Helvetica"/>
              </a:rPr>
              <a:t>chỉ huấn luyện bằng văn bản tự nhiên đa dạng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9966960" y="4389120"/>
            <a:ext cx="3474720" cy="347472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704320" y="384048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LinCIR học từ giả chỉ bằng văn bản nhờ Self-Masking Projection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7</a:t>
            </a:r>
          </a:p>
        </p:txBody>
      </p:sp>
      <p:pic>
        <p:nvPicPr>
          <p:cNvPr id="6" name="Picture 5" descr="lincir_trai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600200"/>
            <a:ext cx="9966960" cy="470540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10241280" y="-2011680"/>
            <a:ext cx="3840480" cy="384048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24712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Nhiễu giúp φ dùng được vector ảnh dù hai miền lệch nhau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47472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0,82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347472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khoảng cách tâm ảnh – văn bản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347472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0,26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2697480"/>
            <a:ext cx="347472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cosine trung bình cặp ảnh – chú thích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1737360"/>
            <a:ext cx="3749039" cy="210312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92440" y="1901952"/>
            <a:ext cx="3291839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Nhiễu của LinCIR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68880"/>
            <a:ext cx="3291839" cy="123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400" b="1" i="0">
                <a:solidFill>
                  <a:srgbClr val="0F1C3F"/>
                </a:solidFill>
                <a:latin typeface="Helvetica"/>
              </a:rPr>
              <a:t>n = u · ε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u ~ U(0,1), ε ~ N(0, 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14800"/>
            <a:ext cx="10881360" cy="173736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4279392"/>
            <a:ext cx="104241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Ý nghĩa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846320"/>
            <a:ext cx="10424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φ học trên vector văn bản có nhiễu nên vẫn hoạt động khi nhận vector ảnh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-1645920" y="420624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54864" y="60350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Mã nguồn chạy trên môi trường mới với sai lệch bằng 0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329184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0,00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29184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sai lệch so với CLIP gốc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329184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329184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lỗi mã gốc đã sửa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356616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901952"/>
            <a:ext cx="31089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Đã làm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46888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Viết lại encoder văn bản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Thay tokenizer, “$” = 259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Kiểm chứng ViT-B/32, ViT-L/14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737360"/>
            <a:ext cx="3566160" cy="356616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1901952"/>
            <a:ext cx="31089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Bài báo ≠ mã nguồn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68880"/>
            <a:ext cx="310896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φ không có LayerNorm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Thêm prompt Midjourney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Từ khóa giữ cả từ hạn định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9875520" y="4480560"/>
            <a:ext cx="3474720" cy="347472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704320" y="310896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Checkpoint chính thức tái hiện khớp bài báo, lệch tối đa 0,77 điểm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40" cy="1597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FashionIQ val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Dress R@10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Dress R@50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Shirt R@10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Shirt R@50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Toptee R@10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Toptee R@50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TB R@10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TB R@50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Bài báo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20,92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42,44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29,10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46,81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28,81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50,18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26,28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46,49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Nhóm chạy lại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21,32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42,19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28,70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46,76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29,02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49,41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26,35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0F1C3F"/>
                          </a:solidFill>
                          <a:latin typeface="Helvetica"/>
                        </a:rPr>
                        <a:t>46,12</a:t>
                      </a:r>
                    </a:p>
                  </a:txBody>
                  <a:tcPr marL="73152" marR="73152" marT="36576" marB="36576" anchor="ctr">
                    <a:solidFill>
                      <a:srgbClr val="EAF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3840480"/>
            <a:ext cx="338328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0,77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09160"/>
            <a:ext cx="338328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điểm lệch lớn nhất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3840480"/>
            <a:ext cx="356616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10,50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4709160"/>
            <a:ext cx="356616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CIRCO val mAP@5 (mốc)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3840480"/>
            <a:ext cx="356616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09160"/>
            <a:ext cx="356616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thứ hạng giống hệt khi chạy lại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10058400" y="-2103120"/>
            <a:ext cx="4023360" cy="40233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24712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Cải tiến A: thêm InfoNCE để từ giả phân biệt được các câu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577840" cy="201168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512064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Vấn đề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120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MSE không phạt việc gần câu khác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Đánh giá lại là xếp hạng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5577840" cy="201168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1"/>
            <a:ext cx="512064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Giải pháp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5120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1" i="0">
                <a:solidFill>
                  <a:srgbClr val="0F1C3F"/>
                </a:solidFill>
                <a:latin typeface="Helvetica"/>
              </a:rPr>
              <a:t>L = L_SMP + 0,5 · InfoNCE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τ = 0,07 · 511 mẫu âm trong batch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475488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+2%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697480"/>
            <a:ext cx="475488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thời gian mỗi bước (1,474 so với 1,448 giây)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931920"/>
            <a:ext cx="475488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25,54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800600"/>
            <a:ext cx="475488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FashionIQ TB R@10 của A (baseline 25,90)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-1828800" y="4114800"/>
            <a:ext cx="3840480" cy="384048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54864" y="60350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Cải tiến B: dịch nhiễu theo hướng của modality gap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577840" cy="201168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512064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Nhiễu của LinCIR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5120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Đẳng hướng: làm mờ vùng văn bản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Không hướng về vùng ảnh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5577840" cy="201168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4096511"/>
            <a:ext cx="512064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Nhiễu có hướng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51206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1" i="0">
                <a:solidFill>
                  <a:srgbClr val="0F1C3F"/>
                </a:solidFill>
                <a:latin typeface="Helvetica"/>
              </a:rPr>
              <a:t>n = 0,5 · Δ + u · ε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Δ = tâm ảnh − tâm văn bản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475488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13,87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697480"/>
            <a:ext cx="475488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độ lớn của Δ (5.000 cặp COCO)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931920"/>
            <a:ext cx="4754880" cy="8686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1E6FE8"/>
                </a:solidFill>
                <a:latin typeface="Helvetica"/>
              </a:rPr>
              <a:t>COCO 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800600"/>
            <a:ext cx="4754880" cy="7772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độc lập với FashionIQ, CIRCO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9966960" y="4389120"/>
            <a:ext cx="3566160" cy="35661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704320" y="365760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Mọi biến thể dùng cùng cấu hình, 3 seed và kiểm định theo truy vấn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1089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Cấu hình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68880"/>
            <a:ext cx="31089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ViT-L/14, batch 512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5.000 bước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3 seed / biến thể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1901952"/>
            <a:ext cx="31089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Đánh giá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089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FashionIQ val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CIRCO val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Bootstrap + Wilcoxon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73736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901952"/>
            <a:ext cx="310896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Vận hành Kaggle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468880"/>
            <a:ext cx="31089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2 × T4, 2 run song song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Không vượt 12 giờ/phiên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Nạp dữ liệu nhanh ×3,1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Chỉ khác đúng thành phần cải tiến </a:t>
            </a:r>
            <a:r>
              <a:rPr sz="2200" b="0" i="0">
                <a:solidFill>
                  <a:srgbClr val="0F1C3F"/>
                </a:solidFill>
                <a:latin typeface="Helvetica"/>
              </a:rPr>
              <a:t>→ chênh lệch là do cải tiến, không do cấu hình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10241280" y="-2194560"/>
            <a:ext cx="4023360" cy="402336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247120" y="5029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Nhiễu có hướng (B) tốt hơn LinCIR, InfoNCE (A) làm giảm hiệu năng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Biến thể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FIQ TB R@10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FIQ TB R@50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i="0">
                          <a:solidFill>
                            <a:srgbClr val="FFFFFF"/>
                          </a:solidFill>
                          <a:latin typeface="Helvetica"/>
                        </a:rPr>
                        <a:t>CIRCO mAP@5</a:t>
                      </a:r>
                    </a:p>
                  </a:txBody>
                  <a:tcPr marL="73152" marR="73152" marT="36576" marB="36576" anchor="ctr">
                    <a:solidFill>
                      <a:srgbClr val="1E6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Baseline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25,90 ± 0,24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45,53 ± 0,23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10,47 ± 0,10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A: + InfoNCE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25,54 ± 0,14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45,16 ± 0,21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8,02 ± 0,44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B: + nhiễu có hướng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26,50 ± 0,04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46,79 ± 0,07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10,94 ± 0,35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A + B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25,44 ± 0,13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45,36 ± 0,16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i="0">
                          <a:solidFill>
                            <a:srgbClr val="0F1C3F"/>
                          </a:solidFill>
                          <a:latin typeface="Helvetica"/>
                        </a:rPr>
                        <a:t>7,81 ± 0,19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34340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4572000"/>
            <a:ext cx="10515600" cy="109728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0F1C3F"/>
                </a:solidFill>
                <a:latin typeface="Helvetica"/>
              </a:rPr>
              <a:t>B: FashionIQ R@10 +0,60 (p = 0,006), R@50 +1,27 (p &lt; 0,001)</a:t>
            </a:r>
          </a:p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0F1C3F"/>
                </a:solidFill>
                <a:latin typeface="Helvetica"/>
              </a:rPr>
              <a:t>A: CIRCO mAP@5 −2,45, KTC 95% [−3,95; −1,07]; A+B tương tự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-1737360" y="-201168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54864" y="329184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Vì sao: B làm φ nhất quán hơn giữa ảnh và văn bản, A làm ngược lại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15</a:t>
            </a:r>
          </a:p>
        </p:txBody>
      </p:sp>
      <p:pic>
        <p:nvPicPr>
          <p:cNvPr id="10" name="Picture 9" descr="modality_gap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5486400" cy="3716593"/>
          </a:xfrm>
          <a:prstGeom prst="rect">
            <a:avLst/>
          </a:prstGeom>
        </p:spPr>
      </p:pic>
      <p:pic>
        <p:nvPicPr>
          <p:cNvPr id="11" name="Picture 10" descr="learning_curve_sl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783080"/>
            <a:ext cx="5486400" cy="37165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9875520" y="4297680"/>
            <a:ext cx="3657600" cy="3657600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11704320" y="3474720"/>
            <a:ext cx="411480" cy="411480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548640" y="347472"/>
            <a:ext cx="10424160" cy="1143000"/>
          </a:xfrm>
          <a:prstGeom prst="rect">
            <a:avLst/>
          </a:prstGeom>
          <a:noFill/>
        </p:spPr>
        <p:txBody>
          <a:bodyPr wrap="square" lIns="45720" tIns="27432" rIns="45720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 i="0">
                <a:solidFill>
                  <a:srgbClr val="0F1C3F"/>
                </a:solidFill>
                <a:latin typeface="Helvetica"/>
              </a:rPr>
              <a:t>Kết luận: tính nhất quán qua modality gap quyết định chất lượng</a:t>
            </a:r>
          </a:p>
        </p:txBody>
      </p:sp>
      <p:sp>
        <p:nvSpPr>
          <p:cNvPr id="5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965960"/>
            <a:ext cx="4937760" cy="283464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0F1C3F"/>
                </a:solidFill>
                <a:latin typeface="Helvetica"/>
              </a:rPr>
              <a:t>Tái hiện khớp bài báo (lệch ≤ 0,77)</a:t>
            </a:r>
          </a:p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0F1C3F"/>
                </a:solidFill>
                <a:latin typeface="Helvetica"/>
              </a:rPr>
              <a:t>B tốt hơn có ý nghĩa, vượt cả checkpoint 20.000 bước</a:t>
            </a:r>
          </a:p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0F1C3F"/>
                </a:solidFill>
                <a:latin typeface="Helvetica"/>
              </a:rPr>
              <a:t>A giảm CIRCO mAP@5 2,45 điểm</a:t>
            </a:r>
          </a:p>
          <a:p>
            <a:pPr algn="l">
              <a:lnSpc>
                <a:spcPct val="110000"/>
              </a:lnSpc>
            </a:pPr>
            <a:r>
              <a:rPr sz="2200" b="0" i="0">
                <a:solidFill>
                  <a:srgbClr val="0F1C3F"/>
                </a:solidFill>
                <a:latin typeface="Helvetica"/>
              </a:rPr>
              <a:t>φ nhất quán ảnh – văn bản là yếu tố then chốt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37360"/>
            <a:ext cx="5303520" cy="3291840"/>
          </a:xfrm>
          <a:prstGeom prst="roundRect">
            <a:avLst>
              <a:gd name="adj" fmla="val 8000"/>
            </a:avLst>
          </a:prstGeom>
          <a:solidFill>
            <a:srgbClr val="D6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37960" y="1901952"/>
            <a:ext cx="4846320" cy="50292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144FB0"/>
                </a:solidFill>
                <a:latin typeface="Helvetica"/>
              </a:rPr>
              <a:t>Hạn chế → hướng phát triển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8463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5.000 bước → đủ 20.000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Quét λ (A), α (B)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Thêm CIRR, CIRCO test</a:t>
            </a:r>
          </a:p>
          <a:p>
            <a:pPr marL="292608" indent="-292608">
              <a:lnSpc>
                <a:spcPct val="108000"/>
              </a:lnSpc>
              <a:spcAft>
                <a:spcPts val="600"/>
              </a:spcAft>
              <a:buClr>
                <a:srgbClr val="1E6FE8"/>
              </a:buClr>
              <a:buChar char="•"/>
            </a:pPr>
            <a:r>
              <a:rPr sz="2100" b="0" i="0">
                <a:solidFill>
                  <a:srgbClr val="0F1C3F"/>
                </a:solidFill>
                <a:latin typeface="Helvetica"/>
              </a:rPr>
              <a:t>Hướng C: từ khóa theo IDF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orb"/>
          <p:cNvSpPr/>
          <p:nvPr/>
        </p:nvSpPr>
        <p:spPr>
          <a:xfrm>
            <a:off x="-1783080" y="-4770120"/>
            <a:ext cx="15758159" cy="15758159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!!dot"/>
          <p:cNvSpPr/>
          <p:nvPr/>
        </p:nvSpPr>
        <p:spPr>
          <a:xfrm>
            <a:off x="5368065" y="1416270"/>
            <a:ext cx="1960581" cy="1960581"/>
          </a:xfrm>
          <a:prstGeom prst="ellipse">
            <a:avLst/>
          </a:prstGeom>
          <a:solidFill>
            <a:srgbClr val="1E6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!!title"/>
          <p:cNvSpPr txBox="1"/>
          <p:nvPr/>
        </p:nvSpPr>
        <p:spPr>
          <a:xfrm>
            <a:off x="731520" y="2011680"/>
            <a:ext cx="9601200" cy="76976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 dirty="0" err="1">
                <a:solidFill>
                  <a:srgbClr val="0F1C3F"/>
                </a:solidFill>
                <a:latin typeface="Helvetica"/>
              </a:rPr>
              <a:t>Cảm</a:t>
            </a:r>
            <a:r>
              <a:rPr sz="44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sz="4400" b="1" i="0" dirty="0" err="1">
                <a:solidFill>
                  <a:srgbClr val="0F1C3F"/>
                </a:solidFill>
                <a:latin typeface="Helvetica"/>
              </a:rPr>
              <a:t>ơn</a:t>
            </a:r>
            <a:r>
              <a:rPr sz="44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sz="4400" b="1" i="0" dirty="0" err="1">
                <a:solidFill>
                  <a:srgbClr val="0F1C3F"/>
                </a:solidFill>
                <a:latin typeface="Helvetica"/>
              </a:rPr>
              <a:t>cô</a:t>
            </a:r>
            <a:r>
              <a:rPr sz="44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sz="4400" b="1" i="0" dirty="0" err="1">
                <a:solidFill>
                  <a:srgbClr val="0F1C3F"/>
                </a:solidFill>
                <a:latin typeface="Helvetica"/>
              </a:rPr>
              <a:t>và</a:t>
            </a:r>
            <a:r>
              <a:rPr sz="44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sz="4400" b="1" i="0" dirty="0" err="1">
                <a:solidFill>
                  <a:srgbClr val="0F1C3F"/>
                </a:solidFill>
                <a:latin typeface="Helvetica"/>
              </a:rPr>
              <a:t>các</a:t>
            </a:r>
            <a:r>
              <a:rPr sz="44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sz="4400" b="1" i="0" dirty="0" err="1">
                <a:solidFill>
                  <a:srgbClr val="0F1C3F"/>
                </a:solidFill>
                <a:latin typeface="Helvetica"/>
              </a:rPr>
              <a:t>bạn</a:t>
            </a:r>
            <a:r>
              <a:rPr lang="en-US" sz="44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400" b="1" i="0" dirty="0" err="1">
                <a:solidFill>
                  <a:srgbClr val="0F1C3F"/>
                </a:solidFill>
                <a:latin typeface="Helvetica"/>
              </a:rPr>
              <a:t>đã</a:t>
            </a:r>
            <a:r>
              <a:rPr lang="en-US" sz="44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400" b="1" i="0" dirty="0" err="1">
                <a:solidFill>
                  <a:srgbClr val="0F1C3F"/>
                </a:solidFill>
                <a:latin typeface="Helvetica"/>
              </a:rPr>
              <a:t>theo</a:t>
            </a:r>
            <a:r>
              <a:rPr lang="en-US" sz="4400" b="1" i="0" dirty="0">
                <a:solidFill>
                  <a:srgbClr val="0F1C3F"/>
                </a:solidFill>
                <a:latin typeface="Helvetica"/>
              </a:rPr>
              <a:t> </a:t>
            </a:r>
            <a:r>
              <a:rPr lang="en-US" sz="4400" b="1" i="0" dirty="0" err="1">
                <a:solidFill>
                  <a:srgbClr val="0F1C3F"/>
                </a:solidFill>
                <a:latin typeface="Helvetica"/>
              </a:rPr>
              <a:t>dõi</a:t>
            </a:r>
            <a:endParaRPr sz="4400" b="1" i="0" dirty="0">
              <a:solidFill>
                <a:srgbClr val="0F1C3F"/>
              </a:solidFill>
              <a:latin typeface="Helvetica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9601200" cy="51001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lang="en-US" sz="2800" b="0" i="0" dirty="0">
                <a:solidFill>
                  <a:srgbClr val="1E6FE8"/>
                </a:solidFill>
                <a:latin typeface="Helvetica"/>
              </a:rPr>
              <a:t>Xin </a:t>
            </a:r>
            <a:r>
              <a:rPr lang="en-US" sz="2800" b="0" i="0" dirty="0" err="1">
                <a:solidFill>
                  <a:srgbClr val="1E6FE8"/>
                </a:solidFill>
                <a:latin typeface="Helvetica"/>
              </a:rPr>
              <a:t>mời</a:t>
            </a:r>
            <a:r>
              <a:rPr lang="en-US" sz="2800" b="0" i="0" dirty="0">
                <a:solidFill>
                  <a:srgbClr val="1E6FE8"/>
                </a:solidFill>
                <a:latin typeface="Helvetica"/>
              </a:rPr>
              <a:t> </a:t>
            </a:r>
            <a:r>
              <a:rPr lang="en-US" sz="2800" b="0" i="0" dirty="0" err="1">
                <a:solidFill>
                  <a:srgbClr val="1E6FE8"/>
                </a:solidFill>
                <a:latin typeface="Helvetica"/>
              </a:rPr>
              <a:t>câu</a:t>
            </a:r>
            <a:r>
              <a:rPr lang="en-US" sz="2800" b="0" i="0" dirty="0">
                <a:solidFill>
                  <a:srgbClr val="1E6FE8"/>
                </a:solidFill>
                <a:latin typeface="Helvetica"/>
              </a:rPr>
              <a:t> </a:t>
            </a:r>
            <a:r>
              <a:rPr lang="en-US" sz="2800" dirty="0" err="1">
                <a:solidFill>
                  <a:srgbClr val="1E6FE8"/>
                </a:solidFill>
                <a:latin typeface="Helvetica"/>
              </a:rPr>
              <a:t>h</a:t>
            </a:r>
            <a:r>
              <a:rPr sz="2800" b="0" i="0" dirty="0" err="1">
                <a:solidFill>
                  <a:srgbClr val="1E6FE8"/>
                </a:solidFill>
                <a:latin typeface="Helvetica"/>
              </a:rPr>
              <a:t>ỏi</a:t>
            </a:r>
            <a:r>
              <a:rPr sz="2800" b="0" i="0" dirty="0">
                <a:solidFill>
                  <a:srgbClr val="1E6FE8"/>
                </a:solidFill>
                <a:latin typeface="Helvetica"/>
              </a:rPr>
              <a:t> </a:t>
            </a:r>
            <a:r>
              <a:rPr lang="en-US" sz="2800" dirty="0" err="1">
                <a:solidFill>
                  <a:srgbClr val="1E6FE8"/>
                </a:solidFill>
                <a:latin typeface="Helvetica"/>
              </a:rPr>
              <a:t>và</a:t>
            </a:r>
            <a:r>
              <a:rPr lang="en-US" sz="2800" dirty="0">
                <a:solidFill>
                  <a:srgbClr val="1E6FE8"/>
                </a:solidFill>
                <a:latin typeface="Helvetica"/>
              </a:rPr>
              <a:t> </a:t>
            </a:r>
            <a:r>
              <a:rPr lang="en-US" sz="2800" dirty="0" err="1">
                <a:solidFill>
                  <a:srgbClr val="1E6FE8"/>
                </a:solidFill>
                <a:latin typeface="Helvetica"/>
              </a:rPr>
              <a:t>góp</a:t>
            </a:r>
            <a:r>
              <a:rPr lang="en-US" sz="2800" dirty="0">
                <a:solidFill>
                  <a:srgbClr val="1E6FE8"/>
                </a:solidFill>
                <a:latin typeface="Helvetica"/>
              </a:rPr>
              <a:t> </a:t>
            </a:r>
            <a:r>
              <a:rPr lang="en-US" sz="2800" dirty="0" err="1">
                <a:solidFill>
                  <a:srgbClr val="1E6FE8"/>
                </a:solidFill>
                <a:latin typeface="Helvetica"/>
              </a:rPr>
              <a:t>ý</a:t>
            </a:r>
            <a:r>
              <a:rPr lang="en-US" sz="2800" dirty="0">
                <a:solidFill>
                  <a:srgbClr val="1E6FE8"/>
                </a:solidFill>
                <a:latin typeface="Helvetica"/>
              </a:rPr>
              <a:t>!</a:t>
            </a:r>
            <a:endParaRPr sz="2800" b="0" i="0" dirty="0">
              <a:solidFill>
                <a:srgbClr val="1E6FE8"/>
              </a:solidFill>
              <a:latin typeface="Helvetica"/>
            </a:endParaRPr>
          </a:p>
        </p:txBody>
      </p:sp>
      <p:sp>
        <p:nvSpPr>
          <p:cNvPr id="6" name="!!num"/>
          <p:cNvSpPr txBox="1"/>
          <p:nvPr/>
        </p:nvSpPr>
        <p:spPr>
          <a:xfrm>
            <a:off x="10881360" y="6236208"/>
            <a:ext cx="914400" cy="457200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5B6B82"/>
                </a:solidFill>
                <a:latin typeface="Helvetica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1886</Words>
  <Application>Microsoft Macintosh PowerPoint</Application>
  <PresentationFormat>Widescreen</PresentationFormat>
  <Paragraphs>204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Dao Van Tam</cp:lastModifiedBy>
  <cp:revision>8</cp:revision>
  <dcterms:created xsi:type="dcterms:W3CDTF">2013-01-27T09:14:16Z</dcterms:created>
  <dcterms:modified xsi:type="dcterms:W3CDTF">2026-10-08T16:40:08Z</dcterms:modified>
  <cp:category/>
</cp:coreProperties>
</file>