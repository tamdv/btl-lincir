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2.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7.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notesMasterIdLst>
    <p:notesMasterId r:id="rId19"/>
  </p:notesMasterIdLst>
  <p:sldIdLst>
    <p:sldId id="256" r:id="rId2"/>
    <p:sldId id="273" r:id="rId24"/>
    <p:sldId id="257" r:id="rId3"/>
    <p:sldId id="260" r:id="rId6"/>
    <p:sldId id="262" r:id="rId8"/>
    <p:sldId id="266" r:id="rId12"/>
    <p:sldId id="267" r:id="rId13"/>
    <p:sldId id="259" r:id="rId5"/>
    <p:sldId id="264" r:id="rId10"/>
    <p:sldId id="268" r:id="rId14"/>
    <p:sldId id="265" r:id="rId11"/>
    <p:sldId id="269" r:id="rId15"/>
    <p:sldId id="270" r:id="rId16"/>
    <p:sldId id="271" r:id="rId17"/>
    <p:sldId id="272" r:id="rId18"/>
  </p:sldIdLst>
  <p:sldSz cx="12192000" cy="6858000"/>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p15:clr>
            <a:srgbClr val="A4A3A4"/>
          </p15:clr>
        </p15:guide>
        <p15:guide id="2" pos="2880">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 uri="{FD5EFAAD-0ECE-453E-9831-46B23BE46B34}">
      <p15:chartTrackingRefBased xmlns:p15="http://schemas.microsoft.com/office/powerpoint/2012/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11"/>
    <p:restoredTop sz="94694"/>
  </p:normalViewPr>
  <p:slideViewPr>
    <p:cSldViewPr snapToGrid="0" snapToObjects="1">
      <p:cViewPr>
        <p:scale>
          <a:sx n="95" d="100"/>
          <a:sy n="95" d="100"/>
        </p:scale>
        <p:origin x="1760" y="744"/>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3.xml"/><Relationship Id="rId5" Type="http://schemas.openxmlformats.org/officeDocument/2006/relationships/slide" Target="slides/slide8.xml"/><Relationship Id="rId6" Type="http://schemas.openxmlformats.org/officeDocument/2006/relationships/slide" Target="slides/slide4.xml"/><Relationship Id="rId8" Type="http://schemas.openxmlformats.org/officeDocument/2006/relationships/slide" Target="slides/slide5.xml"/><Relationship Id="rId10" Type="http://schemas.openxmlformats.org/officeDocument/2006/relationships/slide" Target="slides/slide9.xml"/><Relationship Id="rId11" Type="http://schemas.openxmlformats.org/officeDocument/2006/relationships/slide" Target="slides/slide11.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10.xml"/><Relationship Id="rId15" Type="http://schemas.openxmlformats.org/officeDocument/2006/relationships/slide" Target="slides/slide12.xml"/><Relationship Id="rId16" Type="http://schemas.openxmlformats.org/officeDocument/2006/relationships/slide" Target="slides/slide13.xml"/><Relationship Id="rId17" Type="http://schemas.openxmlformats.org/officeDocument/2006/relationships/slide" Target="slides/slide14.xml"/><Relationship Id="rId18" Type="http://schemas.openxmlformats.org/officeDocument/2006/relationships/slide" Target="slides/slide15.xml"/><Relationship Id="rId19" Type="http://schemas.openxmlformats.org/officeDocument/2006/relationships/notesMaster" Target="notesMasters/notesMaster1.xml"/><Relationship Id="rId20" Type="http://schemas.openxmlformats.org/officeDocument/2006/relationships/presProps" Target="presProps.xml"/><Relationship Id="rId21" Type="http://schemas.openxmlformats.org/officeDocument/2006/relationships/viewProps" Target="viewProps.xml"/><Relationship Id="rId22" Type="http://schemas.openxmlformats.org/officeDocument/2006/relationships/theme" Target="theme/theme1.xml"/><Relationship Id="rId23" Type="http://schemas.openxmlformats.org/officeDocument/2006/relationships/tableStyles" Target="tableStyles.xml"/><Relationship Id="rId24" Type="http://schemas.openxmlformats.org/officeDocument/2006/relationships/slide" Target="slides/slide2.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4173242590"/>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1.xml"/></Relationships>
</file>

<file path=ppt/notesSlides/_rels/notesSlide1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1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1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_rels/notesSlide1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2.xml"/></Relationships>
</file>

<file path=ppt/notesSlides/_rels/notesSlide1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3.xml"/></Relationships>
</file>

<file path=ppt/notesSlides/_rels/notesSlide1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4.xml"/></Relationships>
</file>

<file path=ppt/notesSlides/_rels/notesSlide1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5.xml"/></Relationships>
</file>

<file path=ppt/notesSlides/_rels/notesSlide1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[Tâm] Giới thiệu đề tài, giảng viên và 5 thành viên. Đề tài: tái hiện và cải tiến phương pháp LinCIR, chứng minh cải tiến bằng kiểm định thống kê.</a:t>
            </a:r>
          </a:p>
        </p:txBody>
      </p:sp>
      <p:sp>
        <p:nvSpPr>
          <p:cNvPr id="4" name="Slide Number Placeholder 3"/>
          <p:cNvSpPr>
            <a:spLocks noGrp="1"/>
          </p:cNvSpPr>
          <p:nvPr>
            <p:ph type="sldNum" sz="quarter" idx="5"/>
          </p:nvPr>
        </p:nvSpPr>
        <p:spPr/>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[Nou] Truy vấn gồm một ảnh tham chiếu và một câu mô tả thay đổi; hệ thống phải tìm ảnh giữ đặc điểm của ảnh tham chiếu và áp dụng thay đổi. Bộ ba (ảnh tham chiếu, câu, ảnh đích) phải gán nhãn tay nên đắt và nhỏ, vì vậy cần zero-shot: không dùng bộ ba nào khi huấn luyện.</a:t>
            </a:r>
          </a:p>
          <a:p>
            <a:r>
              <a:t>Con số cần nêu: FashionIQ chỉ có 46,6 nghìn bộ ba, CIRR 28,8 nghìn.</a:t>
            </a:r>
          </a:p>
        </p:txBody>
      </p:sp>
      <p:sp>
        <p:nvSpPr>
          <p:cNvPr id="4" name="Slide Number Placeholder 3"/>
          <p:cNvSpPr>
            <a:spLocks noGrp="1"/>
          </p:cNvSpPr>
          <p:nvPr>
            <p:ph type="sldNum" sz="quarter" idx="5"/>
          </p:nvPr>
        </p:nvSpPr>
        <p:spPr/>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[Dũng] Bài toán vẫn là truy xuất có xếp hạng như chương I. R@K là Recall tính trên K kết quả đầu; mAP@K dùng khi có nhiều ảnh đúng. Khác chương I ở chỗ so khớp bằng vector thay vì từ khóa.</a:t>
            </a:r>
          </a:p>
          <a:p>
            <a:r>
              <a:t>Con số cần nêu: R@10 = 26 nghĩa là 26% số truy vấn có ảnh đúng trong 10 kết quả đầu.</a:t>
            </a:r>
          </a:p>
        </p:txBody>
      </p:sp>
      <p:sp>
        <p:nvSpPr>
          <p:cNvPr id="4" name="Slide Number Placeholder 3"/>
          <p:cNvSpPr>
            <a:spLocks noGrp="1"/>
          </p:cNvSpPr>
          <p:nvPr>
            <p:ph type="sldNum" sz="quarter" idx="5"/>
          </p:nvPr>
        </p:nvSpPr>
        <p:spPr/>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[Nou] Ảnh tham chiếu được chuyển thành một token giả [$] và ghép vào câu “a photo of [$] that …”; bộ mã hóa văn bản tạo vector truy vấn để tìm ảnh. Chỉ cần huấn luyện mạng chiếu φ.</a:t>
            </a:r>
          </a:p>
        </p:txBody>
      </p:sp>
      <p:sp>
        <p:nvSpPr>
          <p:cNvPr id="4" name="Slide Number Placeholder 3"/>
          <p:cNvSpPr>
            <a:spLocks noGrp="1"/>
          </p:cNvSpPr>
          <p:nvPr>
            <p:ph type="sldNum" sz="quarter" idx="5"/>
          </p:nvPr>
        </p:nvSpPr>
        <p:spPr/>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[Trung] Khác Pic2Word và SEARLE (cần ảnh, câu mẫu cố định), LinCIR huấn luyện φ chỉ bằng văn bản: che các từ khóa của câu bằng [$] và yêu cầu câu đã che có cùng vector với câu gốc.</a:t>
            </a:r>
          </a:p>
        </p:txBody>
      </p:sp>
      <p:sp>
        <p:nvSpPr>
          <p:cNvPr id="4" name="Slide Number Placeholder 3"/>
          <p:cNvSpPr>
            <a:spLocks noGrp="1"/>
          </p:cNvSpPr>
          <p:nvPr>
            <p:ph type="sldNum" sz="quarter" idx="5"/>
          </p:nvPr>
        </p:nvSpPr>
        <p:spPr/>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[Tâm] Mã nguồn gốc không chạy với thư viện hiện tại. Nhóm viết lại phần mã hóa văn bản, sửa 4 lỗi và kiểm chứng kết quả trùng khớp với mô hình gốc.</a:t>
            </a:r>
          </a:p>
          <a:p>
            <a:r>
              <a:t>Con số cần nêu: Sai lệch 0,00 so với CLIP gốc.</a:t>
            </a:r>
          </a:p>
        </p:txBody>
      </p:sp>
      <p:sp>
        <p:nvSpPr>
          <p:cNvPr id="4" name="Slide Number Placeholder 3"/>
          <p:cNvSpPr>
            <a:spLocks noGrp="1"/>
          </p:cNvSpPr>
          <p:nvPr>
            <p:ph type="sldNum" sz="quarter" idx="5"/>
          </p:nvPr>
        </p:nvSpPr>
        <p:spPr/>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[Tùng] Nhóm đánh giá lại checkpoint chính thức bằng mã đã chuyển đổi; kết quả khớp bài báo, xác nhận quy trình đánh giá đúng.</a:t>
            </a:r>
          </a:p>
          <a:p>
            <a:r>
              <a:t>Con số cần nêu: Lệch lớn nhất 0,77 điểm phần trăm.</a:t>
            </a:r>
          </a:p>
        </p:txBody>
      </p:sp>
      <p:sp>
        <p:nvSpPr>
          <p:cNvPr id="4" name="Slide Number Placeholder 3"/>
          <p:cNvSpPr>
            <a:spLocks noGrp="1"/>
          </p:cNvSpPr>
          <p:nvPr>
            <p:ph type="sldNum" sz="quarter" idx="5"/>
          </p:nvPr>
        </p:nvSpPr>
        <p:spPr/>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[Trung] Cải tiến A sửa hàm mất mát vừa trình bày: thêm hàm mất mát đối sánh để mỗi câu phân biệt với 511 câu khác. Kết quả: không tốt hơn trên FashionIQ và kém hơn trên CIRCO; nguyên nhân trình bày ở slide 13.</a:t>
            </a:r>
          </a:p>
          <a:p>
            <a:r>
              <a:t>Con số cần nêu: CIRCO mAP@5 giảm từ 10,47 xuống 8,02, tức giảm khoảng 23%.</a:t>
            </a:r>
          </a:p>
        </p:txBody>
      </p:sp>
      <p:sp>
        <p:nvSpPr>
          <p:cNvPr id="4" name="Slide Number Placeholder 3"/>
          <p:cNvSpPr>
            <a:spLocks noGrp="1"/>
          </p:cNvSpPr>
          <p:nvPr>
            <p:ph type="sldNum" sz="quarter" idx="5"/>
          </p:nvPr>
        </p:nvSpPr>
        <p:spPr/>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[Dũng] Vector ảnh và vector văn bản của CLIP nằm ở hai vùng tách biệt; LinCIR thêm nhiễu u·ε không có hướng để φ chịu được độ lệch này. Cải tiến B cộng vào nhiễu vector Δ chỉ từ vùng văn bản sang vùng ảnh, để φ được huấn luyện gần với điều kiện khi suy luận.</a:t>
            </a:r>
          </a:p>
          <a:p>
            <a:r>
              <a:t>Con số cần nêu: Δ tính trên 5.000 cặp COCO, độc lập với dữ liệu đánh giá.</a:t>
            </a:r>
          </a:p>
        </p:txBody>
      </p:sp>
      <p:sp>
        <p:nvSpPr>
          <p:cNvPr id="4" name="Slide Number Placeholder 3"/>
          <p:cNvSpPr>
            <a:spLocks noGrp="1"/>
          </p:cNvSpPr>
          <p:nvPr>
            <p:ph type="sldNum" sz="quarter" idx="5"/>
          </p:nvPr>
        </p:nvSpPr>
        <p:spPr/>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[Tâm] Mọi biến thể dùng cùng dữ liệu, cùng 5.000 bước, cùng siêu tham số và chạy 3 seed; chỉ khác đúng thành phần cải tiến. Nhóm khắc phục nghẽn nạp dữ liệu để kịp chạy trong hạn mức GPU.</a:t>
            </a:r>
          </a:p>
          <a:p>
            <a:r>
              <a:t>Con số cần nêu: Tốc độ tăng 3,1 lần: 2,0 giờ mỗi lần chạy thay vì 6,2 giờ.</a:t>
            </a:r>
          </a:p>
        </p:txBody>
      </p:sp>
      <p:sp>
        <p:nvSpPr>
          <p:cNvPr id="4" name="Slide Number Placeholder 3"/>
          <p:cNvSpPr>
            <a:spLocks noGrp="1"/>
          </p:cNvSpPr>
          <p:nvPr>
            <p:ph type="sldNum" sz="quarter" idx="5"/>
          </p:nvPr>
        </p:nvSpPr>
        <p:spPr/>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[Tùng] B cao nhất ở mọi cột và tốt hơn baseline có ý nghĩa thống kê; A và A+B kém hơn trên CIRCO.</a:t>
            </a:r>
          </a:p>
          <a:p>
            <a:r>
              <a:t>Con số cần nêu: B tăng 0,60 điểm R@10 (thêm khoảng 6 truy vấn đúng trên 1.000), p = 0,006.</a:t>
            </a:r>
          </a:p>
        </p:txBody>
      </p:sp>
      <p:sp>
        <p:nvSpPr>
          <p:cNvPr id="4" name="Slide Number Placeholder 3"/>
          <p:cNvSpPr>
            <a:spLocks noGrp="1"/>
          </p:cNvSpPr>
          <p:nvPr>
            <p:ph type="sldNum" sz="quarter" idx="5"/>
          </p:nvPr>
        </p:nvSpPr>
        <p:spPr/>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[Dũng] Đo độ tương đồng giữa đầu ra của φ khi nhận ảnh và khi nhận văn bản của cùng một cặp. Thứ tự độ tương đồng trùng với thứ tự kết quả CIRCO.</a:t>
            </a:r>
          </a:p>
          <a:p>
            <a:r>
              <a:t>Con số cần nêu: B 0,84, baseline 0,80, A 0,64.</a:t>
            </a:r>
          </a:p>
        </p:txBody>
      </p:sp>
      <p:sp>
        <p:nvSpPr>
          <p:cNvPr id="4" name="Slide Number Placeholder 3"/>
          <p:cNvSpPr>
            <a:spLocks noGrp="1"/>
          </p:cNvSpPr>
          <p:nvPr>
            <p:ph type="sldNum" sz="quarter" idx="5"/>
          </p:nvPr>
        </p:nvSpPr>
        <p:spPr/>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[Tùng] Chất lượng truy xuất phụ thuộc chủ yếu vào việc φ xử lý ảnh nhất quán với văn bản. B cải thiện điều này nên tốt hơn; A làm giảm nên kém hơn. Hạn chế chính: huấn luyện 5.000 bước và chưa quét siêu tham số.</a:t>
            </a:r>
          </a:p>
          <a:p>
            <a:r>
              <a:t>Con số cần nêu: B chỉ huấn luyện 5.000 bước nhưng vượt checkpoint chính thức 20.000 bước.</a:t>
            </a:r>
          </a:p>
        </p:txBody>
      </p:sp>
      <p:sp>
        <p:nvSpPr>
          <p:cNvPr id="4" name="Slide Number Placeholder 3"/>
          <p:cNvSpPr>
            <a:spLocks noGrp="1"/>
          </p:cNvSpPr>
          <p:nvPr>
            <p:ph type="sldNum" sz="quarter" idx="5"/>
          </p:nvPr>
        </p:nvSpPr>
        <p:spPr/>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idx="2"/>
          </p:nvPr>
        </p:nvSpPr>
        <p:spPr/>
      </p:sp>
      <p:sp>
        <p:nvSpPr>
          <p:cNvPr id="3" name="Notes Placeholder 2"/>
          <p:cNvSpPr>
            <a:spLocks noGrp="1"/>
          </p:cNvSpPr>
          <p:nvPr>
            <p:ph type="body" sz="quarter" idx="3"/>
          </p:nvPr>
        </p:nvSpPr>
        <p:spPr/>
        <p:txBody>
          <a:bodyPr/>
          <a:lstStyle/>
          <a:p>
            <a:r>
              <a:t>[Tâm] Cảm ơn cô và các bạn; mời đặt câu hỏi.</a:t>
            </a:r>
          </a:p>
          <a:p>
            <a:r>
              <a:t>Chuyển câu hỏi: phương pháp, cải tiến A → Trung; tái hiện, bảng kết quả → Tùng; độ đo, kiểm định, cải tiến B, cơ chế → Dũng; bài toán, lý thuyết, ví dụ định tính → Nou; mã nguồn, Kaggle, thiết lập → Tâm.</a:t>
            </a:r>
          </a:p>
        </p:txBody>
      </p:sp>
      <p:sp>
        <p:nvSpPr>
          <p:cNvPr id="4" name="Slide Number Placeholder 3"/>
          <p:cNvSpPr>
            <a:spLocks noGrp="1"/>
          </p:cNvSpPr>
          <p:nvPr>
            <p:ph type="sldNum" sz="quarter" idx="5"/>
          </p:nvPr>
        </p:nvSpPr>
        <p:spPr/>
      </p:sp>
    </p:spTree>
  </p:cSld>
  <p:clrMapOvr>
    <a:masterClrMapping/>
  </p:clrMapOvr>
</p:notes>
</file>

<file path=ppt/notesSlides/notesSlide1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3" name="Notes Placeholder 2"/>
          <p:cNvSpPr>
            <a:spLocks noGrp="1"/>
          </p:cNvSpPr>
          <p:nvPr>
            <p:ph type="body" sz="quarter" idx="3"/>
          </p:nvPr>
        </p:nvSpPr>
        <p:spPr/>
        <p:txBody>
          <a:bodyPr/>
          <a:lstStyle/>
          <a:p>
            <a:r>
              <a:t>[Tâm] Bài báo LinCIR (NAVER, CVPR 2024): bộ ba CIR gán nhãn tay đắt và nhỏ; Pic2Word, SEARLE cần ảnh khi huấn luyện và chỉ học câu mẫu cố định. LinCIR học mạng chiếu φ chỉ từ văn bản bằng Self-Masking Projection, thêm nhiễu để φ dùng được cho vector ảnh; tốt nhất trên 4 benchmark, huấn luyện nhanh hơn. Mã công khai nên nhóm dựng lại mã, tái hiện, chạy baseline, A, B, A+B trên Kaggle, kiểm định và phân tích. Nêu trước kết luận: B tốt hơn có ý nghĩa thống kê, A làm giảm hiệu năng.</a:t>
            </a:r>
          </a:p>
          <a:p>
            <a:r>
              <a:t>Con số cần nêu: Nhanh hơn Pic2Word 6 lần, SEARLE 8,4 lần; kết quả nhóm: B tăng FashionIQ R@10 từ 25,90 lên 26,50, p = 0,006.</a:t>
            </a: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a:t>Click to edit Master title style</a:t>
            </a:r>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a:t>Click to edit Master subtitle style</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a:t>Click to edit Master title style</a:t>
            </a:r>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a:t>Click to edit Master title style</a:t>
            </a:r>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7" name="Date Placeholder 6"/>
          <p:cNvSpPr>
            <a:spLocks noGrp="1"/>
          </p:cNvSpPr>
          <p:nvPr>
            <p:ph type="dt" sz="half" idx="10"/>
          </p:nvPr>
        </p:nvSpPr>
        <p:spPr/>
        <p:txBody>
          <a:bodyPr/>
          <a:lstStyle/>
          <a:p>
            <a:fld id="{5BCAD085-E8A6-8845-BD4E-CB4CCA059FC4}" type="datetimeFigureOut">
              <a:rPr lang="en-US" smtClean="0"/>
              <a:t>10/8/26</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Date Placeholder 2"/>
          <p:cNvSpPr>
            <a:spLocks noGrp="1"/>
          </p:cNvSpPr>
          <p:nvPr>
            <p:ph type="dt" sz="half" idx="10"/>
          </p:nvPr>
        </p:nvSpPr>
        <p:spPr/>
        <p:txBody>
          <a:bodyPr/>
          <a:lstStyle/>
          <a:p>
            <a:fld id="{5BCAD085-E8A6-8845-BD4E-CB4CCA059FC4}" type="datetimeFigureOut">
              <a:rPr lang="en-US" smtClean="0"/>
              <a:t>10/8/26</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10/8/26</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a:t>Click to edit Master title style</a:t>
            </a:r>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a:t>Click to edit Master title style</a:t>
            </a:r>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10/8/26</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a:t>Click to edit Master title style</a:t>
            </a:r>
          </a:p>
        </p:txBody>
      </p:sp>
      <p:sp>
        <p:nvSpPr>
          <p:cNvPr id="3" name="Vertical Text Placeholder 2"/>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a:t>Click to edit Master title style</a:t>
            </a:r>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10"/>
          </p:nvPr>
        </p:nvSpPr>
        <p:spPr/>
        <p:txBody>
          <a:bodyPr/>
          <a:lstStyle/>
          <a:p>
            <a:fld id="{5BCAD085-E8A6-8845-BD4E-CB4CCA059FC4}" type="datetimeFigureOut">
              <a:rPr lang="en-US" smtClean="0"/>
              <a:t>10/8/26</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a:t>Click to edit Master title style</a:t>
            </a:r>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10/8/26</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xml"/><Relationship Id="rId3" Type="http://schemas.openxmlformats.org/officeDocument/2006/relationships/image" Target="../media/image1.pn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8.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2.xml"/><Relationship Id="rId3" Type="http://schemas.openxmlformats.org/officeDocument/2006/relationships/image" Target="../media/image1.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5.xml"/><Relationship Id="rId3" Type="http://schemas.openxmlformats.org/officeDocument/2006/relationships/image" Target="../media/image2.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7.xml"/><Relationship Id="rId3" Type="http://schemas.openxmlformats.org/officeDocument/2006/relationships/image" Target="../media/image3.png"/></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1.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4.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3.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0.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4.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5.xml"/><Relationship Id="rId3" Type="http://schemas.openxmlformats.org/officeDocument/2006/relationships/image" Target="../media/image4.png"/><Relationship Id="rId4" Type="http://schemas.openxmlformats.org/officeDocument/2006/relationships/image" Target="../media/image5.png"/></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6.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7.xml"/><Relationship Id="rId2" Type="http://schemas.openxmlformats.org/officeDocument/2006/relationships/notesSlide" Target="../notesSlides/notesSlide17.xml"/></Relationships>
</file>

<file path=ppt/slides/slide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rb"/>
          <p:cNvSpPr/>
          <p:nvPr/>
        </p:nvSpPr>
        <p:spPr>
          <a:xfrm>
            <a:off x="6949440" y="-1086770"/>
            <a:ext cx="6766560" cy="676656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ot"/>
          <p:cNvSpPr/>
          <p:nvPr/>
        </p:nvSpPr>
        <p:spPr>
          <a:xfrm>
            <a:off x="7630509" y="5454098"/>
            <a:ext cx="822960" cy="82296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txBox="1"/>
          <p:nvPr/>
        </p:nvSpPr>
        <p:spPr>
          <a:xfrm>
            <a:off x="731519" y="640080"/>
            <a:ext cx="6766560" cy="457200"/>
          </a:xfrm>
          <a:prstGeom prst="rect">
            <a:avLst/>
          </a:prstGeom>
          <a:noFill/>
        </p:spPr>
        <p:txBody>
          <a:bodyPr wrap="square" lIns="45720" tIns="27432" rIns="45720" bIns="27432" anchor="t">
            <a:spAutoFit/>
          </a:bodyPr>
          <a:lstStyle/>
          <a:p>
            <a:pPr algn="l">
              <a:lnSpc>
                <a:spcPct val="110000"/>
              </a:lnSpc>
            </a:pPr>
            <a:r>
              <a:rPr sz="2000" b="1" i="0" dirty="0">
                <a:solidFill>
                  <a:srgbClr val="1E6FE8"/>
                </a:solidFill>
                <a:latin typeface="Helvetica"/>
              </a:rPr>
              <a:t>TÌM KIẾM VÀ TRUY XUẤT THÔNG TIN · NHÓM 8</a:t>
            </a:r>
          </a:p>
        </p:txBody>
      </p:sp>
      <p:sp>
        <p:nvSpPr>
          <p:cNvPr id="5" name="TextBox 4"/>
          <p:cNvSpPr txBox="1"/>
          <p:nvPr/>
        </p:nvSpPr>
        <p:spPr>
          <a:xfrm>
            <a:off x="731519" y="1229449"/>
            <a:ext cx="9116674" cy="2739853"/>
          </a:xfrm>
          <a:prstGeom prst="rect">
            <a:avLst/>
          </a:prstGeom>
          <a:noFill/>
        </p:spPr>
        <p:txBody>
          <a:bodyPr wrap="square" lIns="45720" tIns="27432" rIns="45720" bIns="27432" anchor="t">
            <a:spAutoFit/>
          </a:bodyPr>
          <a:lstStyle/>
          <a:p>
            <a:pPr algn="l">
              <a:lnSpc>
                <a:spcPct val="105000"/>
              </a:lnSpc>
            </a:pPr>
            <a:r>
              <a:rPr lang="en-US" sz="4000" b="1" i="0" dirty="0" err="1">
                <a:solidFill>
                  <a:srgbClr val="0F1C3F"/>
                </a:solidFill>
                <a:latin typeface="Helvetica"/>
              </a:rPr>
              <a:t>Huấn</a:t>
            </a:r>
            <a:r>
              <a:rPr lang="en-US" sz="4000" b="1" i="0" dirty="0">
                <a:solidFill>
                  <a:srgbClr val="0F1C3F"/>
                </a:solidFill>
                <a:latin typeface="Helvetica"/>
              </a:rPr>
              <a:t> </a:t>
            </a:r>
            <a:r>
              <a:rPr lang="en-US" sz="4000" b="1" i="0" dirty="0" err="1">
                <a:solidFill>
                  <a:srgbClr val="0F1C3F"/>
                </a:solidFill>
                <a:latin typeface="Helvetica"/>
              </a:rPr>
              <a:t>luyện</a:t>
            </a:r>
            <a:r>
              <a:rPr lang="en-US" sz="4000" b="1" i="0" dirty="0">
                <a:solidFill>
                  <a:srgbClr val="0F1C3F"/>
                </a:solidFill>
                <a:latin typeface="Helvetica"/>
              </a:rPr>
              <a:t> </a:t>
            </a:r>
            <a:r>
              <a:rPr lang="en-US" sz="4000" b="1" i="0" dirty="0" err="1">
                <a:solidFill>
                  <a:srgbClr val="0F1C3F"/>
                </a:solidFill>
                <a:latin typeface="Helvetica"/>
              </a:rPr>
              <a:t>hiệu</a:t>
            </a:r>
            <a:r>
              <a:rPr lang="en-US" sz="4000" b="1" i="0" dirty="0">
                <a:solidFill>
                  <a:srgbClr val="0F1C3F"/>
                </a:solidFill>
                <a:latin typeface="Helvetica"/>
              </a:rPr>
              <a:t> </a:t>
            </a:r>
            <a:r>
              <a:rPr lang="en-US" sz="4000" b="1" i="0" dirty="0" err="1">
                <a:solidFill>
                  <a:srgbClr val="0F1C3F"/>
                </a:solidFill>
                <a:latin typeface="Helvetica"/>
              </a:rPr>
              <a:t>quả</a:t>
            </a:r>
            <a:br>
              <a:rPr lang="en-US" sz="4000" b="1" i="0" dirty="0">
                <a:solidFill>
                  <a:srgbClr val="0F1C3F"/>
                </a:solidFill>
                <a:latin typeface="Helvetica"/>
              </a:rPr>
            </a:br>
            <a:r>
              <a:rPr lang="en-US" sz="4000" b="1" i="0" dirty="0" err="1">
                <a:solidFill>
                  <a:srgbClr val="0F1C3F"/>
                </a:solidFill>
                <a:latin typeface="Helvetica"/>
              </a:rPr>
              <a:t>chỉ</a:t>
            </a:r>
            <a:r>
              <a:rPr lang="en-US" sz="4000" b="1" i="0" dirty="0">
                <a:solidFill>
                  <a:srgbClr val="0F1C3F"/>
                </a:solidFill>
                <a:latin typeface="Helvetica"/>
              </a:rPr>
              <a:t> </a:t>
            </a:r>
            <a:r>
              <a:rPr lang="en-US" sz="4000" b="1" i="0" dirty="0" err="1">
                <a:solidFill>
                  <a:srgbClr val="0F1C3F"/>
                </a:solidFill>
                <a:latin typeface="Helvetica"/>
              </a:rPr>
              <a:t>bằng</a:t>
            </a:r>
            <a:r>
              <a:rPr lang="en-US" sz="4000" b="1" i="0" dirty="0">
                <a:solidFill>
                  <a:srgbClr val="0F1C3F"/>
                </a:solidFill>
                <a:latin typeface="Helvetica"/>
              </a:rPr>
              <a:t> </a:t>
            </a:r>
            <a:r>
              <a:rPr lang="en-US" sz="4000" b="1" i="0" dirty="0" err="1">
                <a:solidFill>
                  <a:srgbClr val="0F1C3F"/>
                </a:solidFill>
                <a:latin typeface="Helvetica"/>
              </a:rPr>
              <a:t>văn</a:t>
            </a:r>
            <a:r>
              <a:rPr lang="en-US" sz="4000" b="1" i="0" dirty="0">
                <a:solidFill>
                  <a:srgbClr val="0F1C3F"/>
                </a:solidFill>
                <a:latin typeface="Helvetica"/>
              </a:rPr>
              <a:t> </a:t>
            </a:r>
            <a:r>
              <a:rPr lang="en-US" sz="4000" b="1" i="0" dirty="0" err="1">
                <a:solidFill>
                  <a:srgbClr val="0F1C3F"/>
                </a:solidFill>
                <a:latin typeface="Helvetica"/>
              </a:rPr>
              <a:t>bản</a:t>
            </a:r>
            <a:br>
              <a:rPr lang="en-US" sz="4000" b="1" dirty="0">
                <a:solidFill>
                  <a:srgbClr val="0F1C3F"/>
                </a:solidFill>
                <a:latin typeface="Helvetica"/>
              </a:rPr>
            </a:br>
            <a:r>
              <a:rPr lang="en-US" sz="4000" b="1" i="0" dirty="0" err="1">
                <a:solidFill>
                  <a:srgbClr val="0F1C3F"/>
                </a:solidFill>
                <a:latin typeface="Helvetica"/>
              </a:rPr>
              <a:t>cho</a:t>
            </a:r>
            <a:r>
              <a:rPr lang="en-US" sz="4000" b="1" i="0" dirty="0">
                <a:solidFill>
                  <a:srgbClr val="0F1C3F"/>
                </a:solidFill>
                <a:latin typeface="Helvetica"/>
              </a:rPr>
              <a:t> </a:t>
            </a:r>
            <a:r>
              <a:rPr lang="en-US" sz="4000" b="1" i="0" dirty="0" err="1">
                <a:solidFill>
                  <a:srgbClr val="0F1C3F"/>
                </a:solidFill>
                <a:latin typeface="Helvetica"/>
              </a:rPr>
              <a:t>truy</a:t>
            </a:r>
            <a:r>
              <a:rPr lang="en-US" sz="4000" b="1" i="0" dirty="0">
                <a:solidFill>
                  <a:srgbClr val="0F1C3F"/>
                </a:solidFill>
                <a:latin typeface="Helvetica"/>
              </a:rPr>
              <a:t> </a:t>
            </a:r>
            <a:r>
              <a:rPr lang="en-US" sz="4000" b="1" i="0" dirty="0" err="1">
                <a:solidFill>
                  <a:srgbClr val="0F1C3F"/>
                </a:solidFill>
                <a:latin typeface="Helvetica"/>
              </a:rPr>
              <a:t>xuất</a:t>
            </a:r>
            <a:r>
              <a:rPr lang="en-US" sz="4000" b="1" i="0" dirty="0">
                <a:solidFill>
                  <a:srgbClr val="0F1C3F"/>
                </a:solidFill>
                <a:latin typeface="Helvetica"/>
              </a:rPr>
              <a:t> </a:t>
            </a:r>
            <a:r>
              <a:rPr lang="en-US" sz="4000" b="1" i="0" dirty="0" err="1">
                <a:solidFill>
                  <a:srgbClr val="0F1C3F"/>
                </a:solidFill>
                <a:latin typeface="Helvetica"/>
              </a:rPr>
              <a:t>ảnh</a:t>
            </a:r>
            <a:r>
              <a:rPr lang="en-US" sz="4000" b="1" i="0" dirty="0">
                <a:solidFill>
                  <a:srgbClr val="0F1C3F"/>
                </a:solidFill>
                <a:latin typeface="Helvetica"/>
              </a:rPr>
              <a:t> </a:t>
            </a:r>
            <a:r>
              <a:rPr lang="en-US" sz="4000" b="1" i="0" dirty="0" err="1">
                <a:solidFill>
                  <a:srgbClr val="0F1C3F"/>
                </a:solidFill>
                <a:latin typeface="Helvetica"/>
              </a:rPr>
              <a:t>kết</a:t>
            </a:r>
            <a:r>
              <a:rPr lang="en-US" sz="4000" b="1" i="0" dirty="0">
                <a:solidFill>
                  <a:srgbClr val="0F1C3F"/>
                </a:solidFill>
                <a:latin typeface="Helvetica"/>
              </a:rPr>
              <a:t> </a:t>
            </a:r>
            <a:r>
              <a:rPr lang="en-US" sz="4000" b="1" i="0" dirty="0" err="1">
                <a:solidFill>
                  <a:srgbClr val="0F1C3F"/>
                </a:solidFill>
                <a:latin typeface="Helvetica"/>
              </a:rPr>
              <a:t>hợp</a:t>
            </a:r>
            <a:r>
              <a:rPr lang="en-US" sz="4000" b="1" i="0" dirty="0">
                <a:solidFill>
                  <a:srgbClr val="0F1C3F"/>
                </a:solidFill>
                <a:latin typeface="Helvetica"/>
              </a:rPr>
              <a:t> Zero-shot</a:t>
            </a:r>
            <a:endParaRPr sz="4000" b="1" i="0" dirty="0">
              <a:solidFill>
                <a:srgbClr val="0F1C3F"/>
              </a:solidFill>
              <a:latin typeface="Helvetica"/>
            </a:endParaRPr>
          </a:p>
          <a:p>
            <a:pPr algn="l">
              <a:lnSpc>
                <a:spcPct val="200000"/>
              </a:lnSpc>
            </a:pPr>
            <a:r>
              <a:rPr sz="2800" b="0" i="1" dirty="0">
                <a:solidFill>
                  <a:srgbClr val="144FB0"/>
                </a:solidFill>
                <a:latin typeface="Helvetica"/>
              </a:rPr>
              <a:t>Tái </a:t>
            </a:r>
            <a:r>
              <a:rPr sz="2800" b="0" i="1" dirty="0" err="1">
                <a:solidFill>
                  <a:srgbClr val="144FB0"/>
                </a:solidFill>
                <a:latin typeface="Helvetica"/>
              </a:rPr>
              <a:t>hiện</a:t>
            </a:r>
            <a:r>
              <a:rPr sz="2800" b="0" i="1" dirty="0">
                <a:solidFill>
                  <a:srgbClr val="144FB0"/>
                </a:solidFill>
                <a:latin typeface="Helvetica"/>
              </a:rPr>
              <a:t> </a:t>
            </a:r>
            <a:r>
              <a:rPr sz="2800" b="0" i="1" dirty="0" err="1">
                <a:solidFill>
                  <a:srgbClr val="144FB0"/>
                </a:solidFill>
                <a:latin typeface="Helvetica"/>
              </a:rPr>
              <a:t>và</a:t>
            </a:r>
            <a:r>
              <a:rPr sz="2800" b="0" i="1" dirty="0">
                <a:solidFill>
                  <a:srgbClr val="144FB0"/>
                </a:solidFill>
                <a:latin typeface="Helvetica"/>
              </a:rPr>
              <a:t> </a:t>
            </a:r>
            <a:r>
              <a:rPr sz="2800" b="0" i="1" dirty="0" err="1">
                <a:solidFill>
                  <a:srgbClr val="144FB0"/>
                </a:solidFill>
                <a:latin typeface="Helvetica"/>
              </a:rPr>
              <a:t>cải</a:t>
            </a:r>
            <a:r>
              <a:rPr sz="2800" b="0" i="1" dirty="0">
                <a:solidFill>
                  <a:srgbClr val="144FB0"/>
                </a:solidFill>
                <a:latin typeface="Helvetica"/>
              </a:rPr>
              <a:t> </a:t>
            </a:r>
            <a:r>
              <a:rPr sz="2800" b="0" i="1" dirty="0" err="1">
                <a:solidFill>
                  <a:srgbClr val="144FB0"/>
                </a:solidFill>
                <a:latin typeface="Helvetica"/>
              </a:rPr>
              <a:t>tiến</a:t>
            </a:r>
            <a:r>
              <a:rPr sz="2800" b="0" i="1" dirty="0">
                <a:solidFill>
                  <a:srgbClr val="144FB0"/>
                </a:solidFill>
                <a:latin typeface="Helvetica"/>
              </a:rPr>
              <a:t> </a:t>
            </a:r>
            <a:r>
              <a:rPr sz="2800" b="0" i="1" dirty="0" err="1">
                <a:solidFill>
                  <a:srgbClr val="144FB0"/>
                </a:solidFill>
                <a:latin typeface="Helvetica"/>
              </a:rPr>
              <a:t>LinCIR</a:t>
            </a:r>
            <a:r>
              <a:rPr sz="2800" b="0" i="1" dirty="0">
                <a:solidFill>
                  <a:srgbClr val="144FB0"/>
                </a:solidFill>
                <a:latin typeface="Helvetica"/>
              </a:rPr>
              <a:t> (CVPR 2024)</a:t>
            </a:r>
          </a:p>
        </p:txBody>
      </p:sp>
      <p:sp>
        <p:nvSpPr>
          <p:cNvPr id="6" name="TextBox 5"/>
          <p:cNvSpPr txBox="1"/>
          <p:nvPr/>
        </p:nvSpPr>
        <p:spPr>
          <a:xfrm>
            <a:off x="731519" y="5349240"/>
            <a:ext cx="6949440" cy="1737360"/>
          </a:xfrm>
          <a:prstGeom prst="rect">
            <a:avLst/>
          </a:prstGeom>
          <a:noFill/>
        </p:spPr>
        <p:txBody>
          <a:bodyPr wrap="square" lIns="45720" tIns="27432" rIns="45720" bIns="27432" anchor="t">
            <a:spAutoFit/>
          </a:bodyPr>
          <a:lstStyle/>
          <a:p>
            <a:pPr algn="l">
              <a:lnSpc>
                <a:spcPct val="110000"/>
              </a:lnSpc>
            </a:pPr>
            <a:r>
              <a:rPr sz="2000" b="0" i="0" dirty="0" err="1">
                <a:solidFill>
                  <a:srgbClr val="5B6B82"/>
                </a:solidFill>
                <a:latin typeface="Helvetica"/>
              </a:rPr>
              <a:t>Giảng</a:t>
            </a:r>
            <a:r>
              <a:rPr sz="2000" b="0" i="0" dirty="0">
                <a:solidFill>
                  <a:srgbClr val="5B6B82"/>
                </a:solidFill>
                <a:latin typeface="Helvetica"/>
              </a:rPr>
              <a:t> </a:t>
            </a:r>
            <a:r>
              <a:rPr sz="2000" b="0" i="0" dirty="0" err="1">
                <a:solidFill>
                  <a:srgbClr val="5B6B82"/>
                </a:solidFill>
                <a:latin typeface="Helvetica"/>
              </a:rPr>
              <a:t>viên</a:t>
            </a:r>
            <a:r>
              <a:rPr sz="2000" b="0" i="0" dirty="0">
                <a:solidFill>
                  <a:srgbClr val="5B6B82"/>
                </a:solidFill>
                <a:latin typeface="Helvetica"/>
              </a:rPr>
              <a:t>: TS. Đào Thị Thuý Quỳnh · </a:t>
            </a:r>
            <a:r>
              <a:rPr sz="2000" b="0" i="0" dirty="0" err="1">
                <a:solidFill>
                  <a:srgbClr val="5B6B82"/>
                </a:solidFill>
                <a:latin typeface="Helvetica"/>
              </a:rPr>
              <a:t>Lớp</a:t>
            </a:r>
            <a:r>
              <a:rPr sz="2000" b="0" i="0" dirty="0">
                <a:solidFill>
                  <a:srgbClr val="5B6B82"/>
                </a:solidFill>
                <a:latin typeface="Helvetica"/>
              </a:rPr>
              <a:t> M25CQHT02-B</a:t>
            </a:r>
          </a:p>
          <a:p>
            <a:pPr algn="l">
              <a:lnSpc>
                <a:spcPct val="110000"/>
              </a:lnSpc>
            </a:pPr>
            <a:r>
              <a:rPr sz="2000" b="0" i="0" dirty="0">
                <a:solidFill>
                  <a:srgbClr val="5B6B82"/>
                </a:solidFill>
                <a:latin typeface="Helvetica"/>
              </a:rPr>
              <a:t>Đào Văn Tâm · Lâm Thành Trung · Nguyễn Xuân Tùng</a:t>
            </a:r>
          </a:p>
          <a:p>
            <a:pPr algn="l">
              <a:lnSpc>
                <a:spcPct val="110000"/>
              </a:lnSpc>
            </a:pPr>
            <a:r>
              <a:rPr sz="2000" b="0" i="0" dirty="0">
                <a:solidFill>
                  <a:srgbClr val="5B6B82"/>
                </a:solidFill>
                <a:latin typeface="Helvetica"/>
              </a:rPr>
              <a:t>Trần Quang Đức Dũng · </a:t>
            </a:r>
            <a:r>
              <a:rPr sz="2000" b="0" i="0" dirty="0" err="1">
                <a:solidFill>
                  <a:srgbClr val="5B6B82"/>
                </a:solidFill>
                <a:latin typeface="Helvetica"/>
              </a:rPr>
              <a:t>Mekdala</a:t>
            </a:r>
            <a:r>
              <a:rPr sz="2000" b="0" i="0" dirty="0">
                <a:solidFill>
                  <a:srgbClr val="5B6B82"/>
                </a:solidFill>
                <a:latin typeface="Helvetica"/>
              </a:rPr>
              <a:t> Nounou</a:t>
            </a:r>
          </a:p>
        </p:txBody>
      </p:sp>
      <p:pic>
        <p:nvPicPr>
          <p:cNvPr id="7" name="Picture 6" descr="cir_example_slide.png"/>
          <p:cNvPicPr>
            <a:picLocks noChangeAspect="1"/>
          </p:cNvPicPr>
          <p:nvPr/>
        </p:nvPicPr>
        <p:blipFill>
          <a:blip r:embed="rId3"/>
          <a:stretch>
            <a:fillRect/>
          </a:stretch>
        </p:blipFill>
        <p:spPr>
          <a:xfrm>
            <a:off x="7680960" y="639783"/>
            <a:ext cx="4206240" cy="1495552"/>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FFFFF"/>
        </a:solidFill>
        <a:effectLst/>
      </p:bgPr>
    </p:bg>
    <p:spTree>
      <p:nvGrpSpPr>
        <p:cNvPr id="1" name=""/>
        <p:cNvGrpSpPr/>
        <p:nvPr/>
      </p:nvGrpSpPr>
      <p:grpSpPr/>
      <p:sp>
        <p:nvSpPr>
          <p:cNvPr id="2" name="!!orb"/>
          <p:cNvSpPr/>
          <p:nvPr/>
        </p:nvSpPr>
        <p:spPr>
          <a:xfrm>
            <a:off x="-1645920" y="4206240"/>
            <a:ext cx="3657600" cy="365760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dot"/>
          <p:cNvSpPr/>
          <p:nvPr/>
        </p:nvSpPr>
        <p:spPr>
          <a:xfrm>
            <a:off x="54864" y="310896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4" name="!!title"/>
          <p:cNvSpPr txBox="1"/>
          <p:nvPr/>
        </p:nvSpPr>
        <p:spPr>
          <a:xfrm>
            <a:off x="548640" y="347472"/>
            <a:ext cx="10424160" cy="1143000"/>
          </a:xfrm>
          <a:prstGeom prst="rect">
            <a:avLst/>
          </a:prstGeom>
          <a:noFill/>
        </p:spPr>
        <p:txBody>
          <a:bodyPr wrap="square" anchor="ctr" lIns="45720" rIns="45720" tIns="27432" bIns="27432">
            <a:spAutoFit/>
          </a:bodyPr>
          <a:lstStyle/>
          <a:p>
            <a:pPr algn="l">
              <a:lnSpc>
                <a:spcPct val="110000"/>
              </a:lnSpc>
            </a:pPr>
            <a:r>
              <a:rPr sz="3200" b="1" i="0">
                <a:solidFill>
                  <a:srgbClr val="0F1C3F"/>
                </a:solidFill>
                <a:latin typeface="Helvetica"/>
              </a:rPr>
              <a:t>Bài báo LinCIR: huấn luyện truy xuất ảnh kết hợp chỉ bằng văn bản</a:t>
            </a:r>
          </a:p>
        </p:txBody>
      </p:sp>
      <p:sp>
        <p:nvSpPr>
          <p:cNvPr id="5" name="!!num"/>
          <p:cNvSpPr txBox="1"/>
          <p:nvPr/>
        </p:nvSpPr>
        <p:spPr>
          <a:xfrm>
            <a:off x="10881360" y="6236208"/>
            <a:ext cx="914400" cy="457200"/>
          </a:xfrm>
          <a:prstGeom prst="rect">
            <a:avLst/>
          </a:prstGeom>
          <a:noFill/>
        </p:spPr>
        <p:txBody>
          <a:bodyPr wrap="square" anchor="t" lIns="45720" rIns="45720" tIns="27432" bIns="27432">
            <a:spAutoFit/>
          </a:bodyPr>
          <a:lstStyle/>
          <a:p>
            <a:pPr algn="r">
              <a:lnSpc>
                <a:spcPct val="110000"/>
              </a:lnSpc>
            </a:pPr>
            <a:r>
              <a:rPr sz="2000" b="0" i="0">
                <a:solidFill>
                  <a:srgbClr val="5B6B82"/>
                </a:solidFill>
                <a:latin typeface="Helvetica"/>
              </a:rPr>
              <a:t>2</a:t>
            </a:r>
          </a:p>
        </p:txBody>
      </p:sp>
      <p:sp>
        <p:nvSpPr>
          <p:cNvPr id="6" name="Rounded Rectangle 5"/>
          <p:cNvSpPr/>
          <p:nvPr/>
        </p:nvSpPr>
        <p:spPr>
          <a:xfrm>
            <a:off x="548640" y="1737360"/>
            <a:ext cx="3520440" cy="352044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777240" y="1901952"/>
            <a:ext cx="306324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Vấn đề</a:t>
            </a:r>
          </a:p>
        </p:txBody>
      </p:sp>
      <p:sp>
        <p:nvSpPr>
          <p:cNvPr id="8" name="TextBox 7"/>
          <p:cNvSpPr txBox="1"/>
          <p:nvPr/>
        </p:nvSpPr>
        <p:spPr>
          <a:xfrm>
            <a:off x="777240" y="2468880"/>
            <a:ext cx="3063240" cy="233172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000" b="0" i="0">
                <a:solidFill>
                  <a:srgbClr val="0F1C3F"/>
                </a:solidFill>
                <a:latin typeface="Helvetica"/>
              </a:rPr>
              <a:t>Bộ ba ảnh – câu – ảnh đích phải gán nhãn tay: đắt và ít</a:t>
            </a:r>
          </a:p>
          <a:p>
            <a:pPr marL="292608" indent="-292608">
              <a:lnSpc>
                <a:spcPct val="108000"/>
              </a:lnSpc>
              <a:spcAft>
                <a:spcPts val="600"/>
              </a:spcAft>
              <a:buClr>
                <a:srgbClr val="1E6FE8"/>
              </a:buClr>
              <a:buFont typeface="Helvetica"/>
              <a:buChar char="•"/>
            </a:pPr>
            <a:r>
              <a:rPr sz="2000" b="0" i="0">
                <a:solidFill>
                  <a:srgbClr val="0F1C3F"/>
                </a:solidFill>
                <a:latin typeface="Helvetica"/>
              </a:rPr>
              <a:t>Pic2Word, SEARLE cần ảnh khi huấn luyện, chỉ học câu mẫu cố định</a:t>
            </a:r>
          </a:p>
        </p:txBody>
      </p:sp>
      <p:sp>
        <p:nvSpPr>
          <p:cNvPr id="9" name="Rounded Rectangle 8"/>
          <p:cNvSpPr/>
          <p:nvPr/>
        </p:nvSpPr>
        <p:spPr>
          <a:xfrm>
            <a:off x="4343400" y="1737360"/>
            <a:ext cx="3520440" cy="352044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4572000" y="1901952"/>
            <a:ext cx="306324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Ý tưởng LinCIR</a:t>
            </a:r>
          </a:p>
        </p:txBody>
      </p:sp>
      <p:sp>
        <p:nvSpPr>
          <p:cNvPr id="11" name="TextBox 10"/>
          <p:cNvSpPr txBox="1"/>
          <p:nvPr/>
        </p:nvSpPr>
        <p:spPr>
          <a:xfrm>
            <a:off x="4572000" y="2468880"/>
            <a:ext cx="3063240" cy="233172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000" b="0" i="0">
                <a:solidFill>
                  <a:srgbClr val="0F1C3F"/>
                </a:solidFill>
                <a:latin typeface="Helvetica"/>
              </a:rPr>
              <a:t>Self-Masking Projection: học φ chỉ từ văn bản, không cần ảnh</a:t>
            </a:r>
          </a:p>
          <a:p>
            <a:pPr marL="292608" indent="-292608">
              <a:lnSpc>
                <a:spcPct val="108000"/>
              </a:lnSpc>
              <a:spcAft>
                <a:spcPts val="600"/>
              </a:spcAft>
              <a:buClr>
                <a:srgbClr val="1E6FE8"/>
              </a:buClr>
              <a:buFont typeface="Helvetica"/>
              <a:buChar char="•"/>
            </a:pPr>
            <a:r>
              <a:rPr sz="2000" b="0" i="0">
                <a:solidFill>
                  <a:srgbClr val="0F1C3F"/>
                </a:solidFill>
                <a:latin typeface="Helvetica"/>
              </a:rPr>
              <a:t>Thêm nhiễu khi huấn luyện để φ dùng được cho vector ảnh</a:t>
            </a:r>
          </a:p>
        </p:txBody>
      </p:sp>
      <p:sp>
        <p:nvSpPr>
          <p:cNvPr id="12" name="Rounded Rectangle 11"/>
          <p:cNvSpPr/>
          <p:nvPr/>
        </p:nvSpPr>
        <p:spPr>
          <a:xfrm>
            <a:off x="8138160" y="1737360"/>
            <a:ext cx="3520440" cy="352044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8366760" y="1901952"/>
            <a:ext cx="3063240" cy="502920"/>
          </a:xfrm>
          <a:prstGeom prst="rect">
            <a:avLst/>
          </a:prstGeom>
          <a:noFill/>
        </p:spPr>
        <p:txBody>
          <a:bodyPr wrap="square" anchor="t" lIns="45720" rIns="45720" tIns="27432" bIns="27432">
            <a:spAutoFit/>
          </a:bodyPr>
          <a:lstStyle/>
          <a:p>
            <a:pPr algn="l">
              <a:lnSpc>
                <a:spcPct val="110000"/>
              </a:lnSpc>
            </a:pPr>
            <a:r>
              <a:rPr sz="2200" b="1" i="0">
                <a:solidFill>
                  <a:srgbClr val="144FB0"/>
                </a:solidFill>
                <a:latin typeface="Helvetica"/>
              </a:rPr>
              <a:t>Kết quả bài báo</a:t>
            </a:r>
          </a:p>
        </p:txBody>
      </p:sp>
      <p:sp>
        <p:nvSpPr>
          <p:cNvPr id="14" name="TextBox 13"/>
          <p:cNvSpPr txBox="1"/>
          <p:nvPr/>
        </p:nvSpPr>
        <p:spPr>
          <a:xfrm>
            <a:off x="8366760" y="2468880"/>
            <a:ext cx="3063240" cy="233172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000" b="0" i="0">
                <a:solidFill>
                  <a:srgbClr val="0F1C3F"/>
                </a:solidFill>
                <a:latin typeface="Helvetica"/>
              </a:rPr>
              <a:t>Tốt nhất trên 4 bộ đánh giá</a:t>
            </a:r>
          </a:p>
          <a:p>
            <a:pPr marL="292608" indent="-292608">
              <a:lnSpc>
                <a:spcPct val="108000"/>
              </a:lnSpc>
              <a:spcAft>
                <a:spcPts val="600"/>
              </a:spcAft>
              <a:buClr>
                <a:srgbClr val="1E6FE8"/>
              </a:buClr>
              <a:buFont typeface="Helvetica"/>
              <a:buChar char="•"/>
            </a:pPr>
            <a:r>
              <a:rPr sz="2000" b="0" i="0">
                <a:solidFill>
                  <a:srgbClr val="0F1C3F"/>
                </a:solidFill>
                <a:latin typeface="Helvetica"/>
              </a:rPr>
              <a:t>Huấn luyện nhanh hơn Pic2Word 6 lần, SEARLE 8,4 lần</a:t>
            </a:r>
          </a:p>
          <a:p>
            <a:pPr marL="292608" indent="-292608">
              <a:lnSpc>
                <a:spcPct val="108000"/>
              </a:lnSpc>
              <a:spcAft>
                <a:spcPts val="600"/>
              </a:spcAft>
              <a:buClr>
                <a:srgbClr val="1E6FE8"/>
              </a:buClr>
              <a:buFont typeface="Helvetica"/>
              <a:buChar char="•"/>
            </a:pPr>
            <a:r>
              <a:rPr sz="2000" b="0" i="0">
                <a:solidFill>
                  <a:srgbClr val="0F1C3F"/>
                </a:solidFill>
                <a:latin typeface="Helvetica"/>
              </a:rPr>
              <a:t>Vượt cả phương pháp có giám sát (FashionIQ)</a:t>
            </a:r>
          </a:p>
        </p:txBody>
      </p:sp>
      <p:sp>
        <p:nvSpPr>
          <p:cNvPr id="15" name="TextBox 14"/>
          <p:cNvSpPr txBox="1"/>
          <p:nvPr/>
        </p:nvSpPr>
        <p:spPr>
          <a:xfrm>
            <a:off x="548640" y="5394960"/>
            <a:ext cx="11064240" cy="914400"/>
          </a:xfrm>
          <a:prstGeom prst="rect">
            <a:avLst/>
          </a:prstGeom>
          <a:noFill/>
        </p:spPr>
        <p:txBody>
          <a:bodyPr wrap="square" anchor="t" lIns="45720" rIns="45720" tIns="27432" bIns="27432">
            <a:spAutoFit/>
          </a:bodyPr>
          <a:lstStyle/>
          <a:p>
            <a:pPr algn="l">
              <a:lnSpc>
                <a:spcPct val="110000"/>
              </a:lnSpc>
            </a:pPr>
            <a:r>
              <a:rPr sz="2000" b="0" i="0">
                <a:solidFill>
                  <a:srgbClr val="5B6B82"/>
                </a:solidFill>
                <a:latin typeface="Helvetica"/>
              </a:rPr>
              <a:t>Gu et al. (NAVER), CVPR 2024, mã nguồn công khai. </a:t>
            </a:r>
            <a:r>
              <a:rPr sz="2000" b="1" i="0">
                <a:solidFill>
                  <a:srgbClr val="144FB0"/>
                </a:solidFill>
                <a:latin typeface="Helvetica"/>
              </a:rPr>
              <a:t>Nhóm dựng lại mã, tái hiện kết quả, chạy baseline, A, B, A+B trên Kaggle, kiểm định và phân tích nguyên nhân</a:t>
            </a:r>
          </a:p>
        </p:txBody>
      </p:sp>
    </p:spTree>
  </p:cSld>
  <p:clrMapOvr>
    <a:masterClrMapping/>
  </p:clrMapOvr>
  <mc:AlternateContent xmlns:mc="http://schemas.openxmlformats.org/markup-compatibility/2006">
    <mc:Choice xmlns:p159="http://schemas.microsoft.com/office/powerpoint/2015/09/main" xmlns:p14="http://schemas.microsoft.com/office/powerpoint/2010/main" Requires="p159">
      <p:transition spd="slow" p14:dur="1200">
        <p159:morph option="byObject"/>
      </p:transition>
    </mc:Choice>
    <mc:Fallback>
      <p:transition spd="slow">
        <p:fade/>
      </p:transition>
    </mc:Fallback>
  </mc:AlternateContent>
</p:sld>
</file>

<file path=ppt/slides/slide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rb"/>
          <p:cNvSpPr/>
          <p:nvPr/>
        </p:nvSpPr>
        <p:spPr>
          <a:xfrm>
            <a:off x="9692640" y="-2194560"/>
            <a:ext cx="4206240" cy="420624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ot"/>
          <p:cNvSpPr/>
          <p:nvPr/>
        </p:nvSpPr>
        <p:spPr>
          <a:xfrm>
            <a:off x="11201400" y="50292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txBox="1"/>
          <p:nvPr/>
        </p:nvSpPr>
        <p:spPr>
          <a:xfrm>
            <a:off x="548640" y="347472"/>
            <a:ext cx="10424160" cy="1143000"/>
          </a:xfrm>
          <a:prstGeom prst="rect">
            <a:avLst/>
          </a:prstGeom>
          <a:noFill/>
        </p:spPr>
        <p:txBody>
          <a:bodyPr wrap="square" lIns="45720" tIns="27432" rIns="45720" bIns="27432" anchor="ctr">
            <a:spAutoFit/>
          </a:bodyPr>
          <a:lstStyle/>
          <a:p>
            <a:pPr algn="l">
              <a:lnSpc>
                <a:spcPct val="110000"/>
              </a:lnSpc>
            </a:pPr>
            <a:r>
              <a:rPr sz="3200" b="1" i="0">
                <a:solidFill>
                  <a:srgbClr val="0F1C3F"/>
                </a:solidFill>
                <a:latin typeface="Helvetica"/>
              </a:rPr>
              <a:t>Truy vấn gồm một ảnh tham chiếu và một câu mô tả thay đổi</a:t>
            </a:r>
          </a:p>
        </p:txBody>
      </p:sp>
      <p:sp>
        <p:nvSpPr>
          <p:cNvPr id="5" name="!!num"/>
          <p:cNvSpPr txBox="1"/>
          <p:nvPr/>
        </p:nvSpPr>
        <p:spPr>
          <a:xfrm>
            <a:off x="10881360" y="6236208"/>
            <a:ext cx="914400" cy="457200"/>
          </a:xfrm>
          <a:prstGeom prst="rect">
            <a:avLst/>
          </a:prstGeom>
          <a:noFill/>
        </p:spPr>
        <p:txBody>
          <a:bodyPr wrap="square" lIns="45720" tIns="27432" rIns="45720" bIns="27432" anchor="t">
            <a:spAutoFit/>
          </a:bodyPr>
          <a:lstStyle/>
          <a:p>
            <a:pPr algn="r">
              <a:lnSpc>
                <a:spcPct val="110000"/>
              </a:lnSpc>
            </a:pPr>
            <a:r>
              <a:rPr sz="2000" b="0" i="0">
                <a:solidFill>
                  <a:srgbClr val="5B6B82"/>
                </a:solidFill>
                <a:latin typeface="Helvetica"/>
              </a:rPr>
              <a:t>3</a:t>
            </a:r>
          </a:p>
        </p:txBody>
      </p:sp>
      <p:pic>
        <p:nvPicPr>
          <p:cNvPr id="6" name="Picture 5" descr="cir_example_slide.png"/>
          <p:cNvPicPr>
            <a:picLocks noChangeAspect="1"/>
          </p:cNvPicPr>
          <p:nvPr/>
        </p:nvPicPr>
        <p:blipFill>
          <a:blip r:embed="rId3"/>
          <a:stretch>
            <a:fillRect/>
          </a:stretch>
        </p:blipFill>
        <p:spPr>
          <a:xfrm>
            <a:off x="548640" y="1691640"/>
            <a:ext cx="7498079" cy="2665984"/>
          </a:xfrm>
          <a:prstGeom prst="rect">
            <a:avLst/>
          </a:prstGeom>
        </p:spPr>
      </p:pic>
      <p:sp>
        <p:nvSpPr>
          <p:cNvPr id="7" name="Rounded Rectangle 6"/>
          <p:cNvSpPr/>
          <p:nvPr/>
        </p:nvSpPr>
        <p:spPr>
          <a:xfrm>
            <a:off x="8412480" y="1737360"/>
            <a:ext cx="3200400" cy="420624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641080" y="1901952"/>
            <a:ext cx="2743200" cy="502920"/>
          </a:xfrm>
          <a:prstGeom prst="rect">
            <a:avLst/>
          </a:prstGeom>
          <a:noFill/>
        </p:spPr>
        <p:txBody>
          <a:bodyPr wrap="square" lIns="45720" tIns="27432" rIns="45720" bIns="27432" anchor="t">
            <a:spAutoFit/>
          </a:bodyPr>
          <a:lstStyle/>
          <a:p>
            <a:pPr algn="l">
              <a:lnSpc>
                <a:spcPct val="110000"/>
              </a:lnSpc>
            </a:pPr>
            <a:r>
              <a:rPr sz="2200" b="1" i="0">
                <a:solidFill>
                  <a:srgbClr val="144FB0"/>
                </a:solidFill>
                <a:latin typeface="Helvetica"/>
              </a:rPr>
              <a:t>CIR</a:t>
            </a:r>
          </a:p>
        </p:txBody>
      </p:sp>
      <p:sp>
        <p:nvSpPr>
          <p:cNvPr id="9" name="TextBox 8"/>
          <p:cNvSpPr txBox="1"/>
          <p:nvPr/>
        </p:nvSpPr>
        <p:spPr>
          <a:xfrm>
            <a:off x="8641080" y="2468880"/>
            <a:ext cx="2743200" cy="3337559"/>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Giữ các đặc điểm của ảnh tham chiếu</a:t>
            </a:r>
          </a:p>
          <a:p>
            <a:pPr marL="292608" indent="-292608">
              <a:lnSpc>
                <a:spcPct val="108000"/>
              </a:lnSpc>
              <a:spcAft>
                <a:spcPts val="600"/>
              </a:spcAft>
              <a:buClr>
                <a:srgbClr val="1E6FE8"/>
              </a:buClr>
              <a:buFont typeface="Helvetica"/>
              <a:buChar char="•"/>
            </a:pPr>
            <a:r>
              <a:rPr sz="2100" b="0" i="0">
                <a:solidFill>
                  <a:srgbClr val="0F1C3F"/>
                </a:solidFill>
                <a:latin typeface="Helvetica"/>
              </a:rPr>
              <a:t>Thay đổi đúng như câu mô tả</a:t>
            </a:r>
          </a:p>
          <a:p>
            <a:pPr marL="292608" indent="-292608">
              <a:lnSpc>
                <a:spcPct val="108000"/>
              </a:lnSpc>
              <a:spcAft>
                <a:spcPts val="600"/>
              </a:spcAft>
              <a:buClr>
                <a:srgbClr val="1E6FE8"/>
              </a:buClr>
              <a:buFont typeface="Helvetica"/>
              <a:buChar char="•"/>
            </a:pPr>
            <a:r>
              <a:rPr sz="2100" b="0" i="0">
                <a:solidFill>
                  <a:srgbClr val="0F1C3F"/>
                </a:solidFill>
                <a:latin typeface="Helvetica"/>
              </a:rPr>
              <a:t>Trả về danh sách ảnh xếp hạng, đo bằng R@K và mAP@K</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rb"/>
          <p:cNvSpPr/>
          <p:nvPr/>
        </p:nvSpPr>
        <p:spPr>
          <a:xfrm>
            <a:off x="9692640" y="-2194560"/>
            <a:ext cx="4206240" cy="420624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ot"/>
          <p:cNvSpPr/>
          <p:nvPr/>
        </p:nvSpPr>
        <p:spPr>
          <a:xfrm>
            <a:off x="11201400" y="50292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txBox="1"/>
          <p:nvPr/>
        </p:nvSpPr>
        <p:spPr>
          <a:xfrm>
            <a:off x="548640" y="347472"/>
            <a:ext cx="10424160" cy="1143000"/>
          </a:xfrm>
          <a:prstGeom prst="rect">
            <a:avLst/>
          </a:prstGeom>
          <a:noFill/>
        </p:spPr>
        <p:txBody>
          <a:bodyPr wrap="square" lIns="45720" tIns="27432" rIns="45720" bIns="27432" anchor="ctr">
            <a:spAutoFit/>
          </a:bodyPr>
          <a:lstStyle/>
          <a:p>
            <a:pPr algn="l">
              <a:lnSpc>
                <a:spcPct val="110000"/>
              </a:lnSpc>
            </a:pPr>
            <a:r>
              <a:rPr sz="3200" b="1" i="0">
                <a:solidFill>
                  <a:srgbClr val="0F1C3F"/>
                </a:solidFill>
                <a:latin typeface="Helvetica"/>
              </a:rPr>
              <a:t>Ảnh được biến thành một “từ giả” [$] trong câu truy vấn</a:t>
            </a:r>
          </a:p>
        </p:txBody>
      </p:sp>
      <p:sp>
        <p:nvSpPr>
          <p:cNvPr id="5" name="!!num"/>
          <p:cNvSpPr txBox="1"/>
          <p:nvPr/>
        </p:nvSpPr>
        <p:spPr>
          <a:xfrm>
            <a:off x="10881360" y="6236208"/>
            <a:ext cx="914400" cy="457200"/>
          </a:xfrm>
          <a:prstGeom prst="rect">
            <a:avLst/>
          </a:prstGeom>
          <a:noFill/>
        </p:spPr>
        <p:txBody>
          <a:bodyPr wrap="square" lIns="45720" tIns="27432" rIns="45720" bIns="27432" anchor="t">
            <a:spAutoFit/>
          </a:bodyPr>
          <a:lstStyle/>
          <a:p>
            <a:pPr algn="r">
              <a:lnSpc>
                <a:spcPct val="110000"/>
              </a:lnSpc>
            </a:pPr>
            <a:r>
              <a:rPr sz="2000" b="0" i="0">
                <a:solidFill>
                  <a:srgbClr val="5B6B82"/>
                </a:solidFill>
                <a:latin typeface="Helvetica"/>
              </a:rPr>
              <a:t>4</a:t>
            </a:r>
          </a:p>
        </p:txBody>
      </p:sp>
      <p:pic>
        <p:nvPicPr>
          <p:cNvPr id="6" name="Picture 5" descr="lincir_infer_slide.png"/>
          <p:cNvPicPr>
            <a:picLocks noChangeAspect="1"/>
          </p:cNvPicPr>
          <p:nvPr/>
        </p:nvPicPr>
        <p:blipFill>
          <a:blip r:embed="rId3"/>
          <a:stretch>
            <a:fillRect/>
          </a:stretch>
        </p:blipFill>
        <p:spPr>
          <a:xfrm>
            <a:off x="548640" y="1828800"/>
            <a:ext cx="11064240" cy="3512236"/>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rb"/>
          <p:cNvSpPr/>
          <p:nvPr/>
        </p:nvSpPr>
        <p:spPr>
          <a:xfrm>
            <a:off x="9966960" y="4389120"/>
            <a:ext cx="3474720" cy="347472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ot"/>
          <p:cNvSpPr/>
          <p:nvPr/>
        </p:nvSpPr>
        <p:spPr>
          <a:xfrm>
            <a:off x="11704320" y="384048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txBox="1"/>
          <p:nvPr/>
        </p:nvSpPr>
        <p:spPr>
          <a:xfrm>
            <a:off x="548640" y="347472"/>
            <a:ext cx="10424160" cy="1143000"/>
          </a:xfrm>
          <a:prstGeom prst="rect">
            <a:avLst/>
          </a:prstGeom>
          <a:noFill/>
        </p:spPr>
        <p:txBody>
          <a:bodyPr wrap="square" lIns="45720" tIns="27432" rIns="45720" bIns="27432" anchor="ctr">
            <a:spAutoFit/>
          </a:bodyPr>
          <a:lstStyle/>
          <a:p>
            <a:pPr algn="l">
              <a:lnSpc>
                <a:spcPct val="110000"/>
              </a:lnSpc>
            </a:pPr>
            <a:r>
              <a:rPr sz="3200" b="1" i="0">
                <a:solidFill>
                  <a:srgbClr val="0F1C3F"/>
                </a:solidFill>
                <a:latin typeface="Helvetica"/>
              </a:rPr>
              <a:t>LinCIR học từ giả chỉ bằng văn bản nhờ Self-Masking Projection</a:t>
            </a:r>
          </a:p>
        </p:txBody>
      </p:sp>
      <p:sp>
        <p:nvSpPr>
          <p:cNvPr id="5" name="!!num"/>
          <p:cNvSpPr txBox="1"/>
          <p:nvPr/>
        </p:nvSpPr>
        <p:spPr>
          <a:xfrm>
            <a:off x="10881360" y="6236208"/>
            <a:ext cx="914400" cy="457200"/>
          </a:xfrm>
          <a:prstGeom prst="rect">
            <a:avLst/>
          </a:prstGeom>
          <a:noFill/>
        </p:spPr>
        <p:txBody>
          <a:bodyPr wrap="square" lIns="45720" tIns="27432" rIns="45720" bIns="27432" anchor="t">
            <a:spAutoFit/>
          </a:bodyPr>
          <a:lstStyle/>
          <a:p>
            <a:pPr algn="r">
              <a:lnSpc>
                <a:spcPct val="110000"/>
              </a:lnSpc>
            </a:pPr>
            <a:r>
              <a:rPr sz="2000" b="0" i="0">
                <a:solidFill>
                  <a:srgbClr val="5B6B82"/>
                </a:solidFill>
                <a:latin typeface="Helvetica"/>
              </a:rPr>
              <a:t>5</a:t>
            </a:r>
          </a:p>
        </p:txBody>
      </p:sp>
      <p:pic>
        <p:nvPicPr>
          <p:cNvPr id="6" name="Picture 5" descr="lincir_train_slide.png"/>
          <p:cNvPicPr>
            <a:picLocks noChangeAspect="1"/>
          </p:cNvPicPr>
          <p:nvPr/>
        </p:nvPicPr>
        <p:blipFill>
          <a:blip r:embed="rId3"/>
          <a:stretch>
            <a:fillRect/>
          </a:stretch>
        </p:blipFill>
        <p:spPr>
          <a:xfrm>
            <a:off x="1097280" y="1600200"/>
            <a:ext cx="9966960" cy="4705404"/>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6.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rb"/>
          <p:cNvSpPr/>
          <p:nvPr/>
        </p:nvSpPr>
        <p:spPr>
          <a:xfrm>
            <a:off x="10058400" y="-2103120"/>
            <a:ext cx="4023360" cy="402336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ot"/>
          <p:cNvSpPr/>
          <p:nvPr/>
        </p:nvSpPr>
        <p:spPr>
          <a:xfrm>
            <a:off x="11247120" y="50292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txBox="1"/>
          <p:nvPr/>
        </p:nvSpPr>
        <p:spPr>
          <a:xfrm>
            <a:off x="548640" y="347472"/>
            <a:ext cx="10424160" cy="1143000"/>
          </a:xfrm>
          <a:prstGeom prst="rect">
            <a:avLst/>
          </a:prstGeom>
          <a:noFill/>
        </p:spPr>
        <p:txBody>
          <a:bodyPr wrap="square" lIns="45720" tIns="27432" rIns="45720" bIns="27432" anchor="ctr">
            <a:spAutoFit/>
          </a:bodyPr>
          <a:lstStyle/>
          <a:p>
            <a:pPr algn="l">
              <a:lnSpc>
                <a:spcPct val="110000"/>
              </a:lnSpc>
            </a:pPr>
            <a:r>
              <a:rPr sz="3200" b="1" i="0">
                <a:solidFill>
                  <a:srgbClr val="0F1C3F"/>
                </a:solidFill>
                <a:latin typeface="Helvetica"/>
              </a:rPr>
              <a:t>Cải tiến A: thêm InfoNCE để từ giả phân biệt được các câu</a:t>
            </a:r>
          </a:p>
        </p:txBody>
      </p:sp>
      <p:sp>
        <p:nvSpPr>
          <p:cNvPr id="5" name="!!num"/>
          <p:cNvSpPr txBox="1"/>
          <p:nvPr/>
        </p:nvSpPr>
        <p:spPr>
          <a:xfrm>
            <a:off x="10881360" y="6236208"/>
            <a:ext cx="914400" cy="457200"/>
          </a:xfrm>
          <a:prstGeom prst="rect">
            <a:avLst/>
          </a:prstGeom>
          <a:noFill/>
        </p:spPr>
        <p:txBody>
          <a:bodyPr wrap="square" lIns="45720" tIns="27432" rIns="45720" bIns="27432" anchor="t">
            <a:spAutoFit/>
          </a:bodyPr>
          <a:lstStyle/>
          <a:p>
            <a:pPr algn="r">
              <a:lnSpc>
                <a:spcPct val="110000"/>
              </a:lnSpc>
            </a:pPr>
            <a:r>
              <a:rPr sz="2000" b="0" i="0">
                <a:solidFill>
                  <a:srgbClr val="5B6B82"/>
                </a:solidFill>
                <a:latin typeface="Helvetica"/>
              </a:rPr>
              <a:t>6</a:t>
            </a:r>
          </a:p>
        </p:txBody>
      </p:sp>
      <p:sp>
        <p:nvSpPr>
          <p:cNvPr id="6" name="Rounded Rectangle 5"/>
          <p:cNvSpPr/>
          <p:nvPr/>
        </p:nvSpPr>
        <p:spPr>
          <a:xfrm>
            <a:off x="548640" y="1737360"/>
            <a:ext cx="5577840" cy="201168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901952"/>
            <a:ext cx="5120640" cy="502920"/>
          </a:xfrm>
          <a:prstGeom prst="rect">
            <a:avLst/>
          </a:prstGeom>
          <a:noFill/>
        </p:spPr>
        <p:txBody>
          <a:bodyPr wrap="square" lIns="45720" tIns="27432" rIns="45720" bIns="27432" anchor="t">
            <a:spAutoFit/>
          </a:bodyPr>
          <a:lstStyle/>
          <a:p>
            <a:pPr algn="l">
              <a:lnSpc>
                <a:spcPct val="110000"/>
              </a:lnSpc>
            </a:pPr>
            <a:r>
              <a:rPr sz="2200" b="1" i="0">
                <a:solidFill>
                  <a:srgbClr val="144FB0"/>
                </a:solidFill>
                <a:latin typeface="Helvetica"/>
              </a:rPr>
              <a:t>Vấn đề</a:t>
            </a:r>
          </a:p>
        </p:txBody>
      </p:sp>
      <p:sp>
        <p:nvSpPr>
          <p:cNvPr id="8" name="TextBox 7"/>
          <p:cNvSpPr txBox="1"/>
          <p:nvPr/>
        </p:nvSpPr>
        <p:spPr>
          <a:xfrm>
            <a:off x="777240" y="2468880"/>
            <a:ext cx="5120640" cy="114300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MSE không phạt khi câu đã che gần cả các câu khác</a:t>
            </a:r>
          </a:p>
          <a:p>
            <a:pPr marL="292608" indent="-292608">
              <a:lnSpc>
                <a:spcPct val="108000"/>
              </a:lnSpc>
              <a:spcAft>
                <a:spcPts val="600"/>
              </a:spcAft>
              <a:buClr>
                <a:srgbClr val="1E6FE8"/>
              </a:buClr>
              <a:buFont typeface="Helvetica"/>
              <a:buChar char="•"/>
            </a:pPr>
            <a:r>
              <a:rPr sz="2100" b="0" i="0">
                <a:solidFill>
                  <a:srgbClr val="0F1C3F"/>
                </a:solidFill>
                <a:latin typeface="Helvetica"/>
              </a:rPr>
              <a:t>Nhưng đánh giá là bài toán xếp hạng</a:t>
            </a:r>
          </a:p>
        </p:txBody>
      </p:sp>
      <p:sp>
        <p:nvSpPr>
          <p:cNvPr id="9" name="Rounded Rectangle 8"/>
          <p:cNvSpPr/>
          <p:nvPr/>
        </p:nvSpPr>
        <p:spPr>
          <a:xfrm>
            <a:off x="548640" y="3931920"/>
            <a:ext cx="5577840" cy="2011680"/>
          </a:xfrm>
          <a:prstGeom prst="roundRect">
            <a:avLst>
              <a:gd name="adj" fmla="val 8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096511"/>
            <a:ext cx="5120640" cy="502920"/>
          </a:xfrm>
          <a:prstGeom prst="rect">
            <a:avLst/>
          </a:prstGeom>
          <a:noFill/>
        </p:spPr>
        <p:txBody>
          <a:bodyPr wrap="square" lIns="45720" tIns="27432" rIns="45720" bIns="27432" anchor="t">
            <a:spAutoFit/>
          </a:bodyPr>
          <a:lstStyle/>
          <a:p>
            <a:pPr algn="l">
              <a:lnSpc>
                <a:spcPct val="110000"/>
              </a:lnSpc>
            </a:pPr>
            <a:r>
              <a:rPr sz="2200" b="1" i="0">
                <a:solidFill>
                  <a:srgbClr val="144FB0"/>
                </a:solidFill>
                <a:latin typeface="Helvetica"/>
              </a:rPr>
              <a:t>Giải pháp</a:t>
            </a:r>
          </a:p>
        </p:txBody>
      </p:sp>
      <p:sp>
        <p:nvSpPr>
          <p:cNvPr id="11" name="TextBox 10"/>
          <p:cNvSpPr txBox="1"/>
          <p:nvPr/>
        </p:nvSpPr>
        <p:spPr>
          <a:xfrm>
            <a:off x="777240" y="4663440"/>
            <a:ext cx="5120640" cy="114300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1" i="0">
                <a:solidFill>
                  <a:srgbClr val="0F1C3F"/>
                </a:solidFill>
                <a:latin typeface="Helvetica"/>
              </a:rPr>
              <a:t>L = L_SMP + 0,5 · InfoNCE</a:t>
            </a:r>
          </a:p>
          <a:p>
            <a:pPr marL="292608" indent="-292608">
              <a:lnSpc>
                <a:spcPct val="108000"/>
              </a:lnSpc>
              <a:spcAft>
                <a:spcPts val="600"/>
              </a:spcAft>
              <a:buClr>
                <a:srgbClr val="1E6FE8"/>
              </a:buClr>
              <a:buFont typeface="Helvetica"/>
              <a:buChar char="•"/>
            </a:pPr>
            <a:r>
              <a:rPr sz="2100" b="0" i="0">
                <a:solidFill>
                  <a:srgbClr val="0F1C3F"/>
                </a:solidFill>
                <a:latin typeface="Helvetica"/>
              </a:rPr>
              <a:t>InfoNCE kéo về câu gốc, đẩy xa 511 câu khác (τ = 0,07)</a:t>
            </a:r>
          </a:p>
        </p:txBody>
      </p:sp>
      <p:sp>
        <p:nvSpPr>
          <p:cNvPr id="12" name="TextBox 11"/>
          <p:cNvSpPr txBox="1"/>
          <p:nvPr/>
        </p:nvSpPr>
        <p:spPr>
          <a:xfrm>
            <a:off x="6675120" y="1828800"/>
            <a:ext cx="4754880" cy="868680"/>
          </a:xfrm>
          <a:prstGeom prst="rect">
            <a:avLst/>
          </a:prstGeom>
          <a:noFill/>
        </p:spPr>
        <p:txBody>
          <a:bodyPr wrap="square" lIns="45720" tIns="27432" rIns="45720" bIns="27432" anchor="t">
            <a:spAutoFit/>
          </a:bodyPr>
          <a:lstStyle/>
          <a:p>
            <a:pPr algn="l">
              <a:lnSpc>
                <a:spcPct val="110000"/>
              </a:lnSpc>
            </a:pPr>
            <a:r>
              <a:rPr sz="4800" b="1" i="0">
                <a:solidFill>
                  <a:srgbClr val="1E6FE8"/>
                </a:solidFill>
                <a:latin typeface="Helvetica"/>
              </a:rPr>
              <a:t>+2%</a:t>
            </a:r>
          </a:p>
        </p:txBody>
      </p:sp>
      <p:sp>
        <p:nvSpPr>
          <p:cNvPr id="13" name="TextBox 12"/>
          <p:cNvSpPr txBox="1"/>
          <p:nvPr/>
        </p:nvSpPr>
        <p:spPr>
          <a:xfrm>
            <a:off x="6675120" y="2697480"/>
            <a:ext cx="4754880" cy="777240"/>
          </a:xfrm>
          <a:prstGeom prst="rect">
            <a:avLst/>
          </a:prstGeom>
          <a:noFill/>
        </p:spPr>
        <p:txBody>
          <a:bodyPr wrap="square" lIns="45720" tIns="27432" rIns="45720" bIns="27432" anchor="t">
            <a:spAutoFit/>
          </a:bodyPr>
          <a:lstStyle/>
          <a:p>
            <a:pPr algn="l">
              <a:lnSpc>
                <a:spcPct val="110000"/>
              </a:lnSpc>
            </a:pPr>
            <a:r>
              <a:rPr sz="2000" b="0" i="0">
                <a:solidFill>
                  <a:srgbClr val="5B6B82"/>
                </a:solidFill>
                <a:latin typeface="Helvetica"/>
              </a:rPr>
              <a:t>thời gian mỗi bước tăng 2% (1,474 so với 1,448 giây)</a:t>
            </a:r>
          </a:p>
        </p:txBody>
      </p:sp>
      <p:sp>
        <p:nvSpPr>
          <p:cNvPr id="14" name="TextBox 13"/>
          <p:cNvSpPr txBox="1"/>
          <p:nvPr/>
        </p:nvSpPr>
        <p:spPr>
          <a:xfrm>
            <a:off x="6675120" y="3931920"/>
            <a:ext cx="4754880" cy="868680"/>
          </a:xfrm>
          <a:prstGeom prst="rect">
            <a:avLst/>
          </a:prstGeom>
          <a:noFill/>
        </p:spPr>
        <p:txBody>
          <a:bodyPr wrap="square" lIns="45720" tIns="27432" rIns="45720" bIns="27432" anchor="t">
            <a:spAutoFit/>
          </a:bodyPr>
          <a:lstStyle/>
          <a:p>
            <a:pPr algn="l">
              <a:lnSpc>
                <a:spcPct val="110000"/>
              </a:lnSpc>
            </a:pPr>
            <a:r>
              <a:rPr sz="4800" b="1" i="0">
                <a:solidFill>
                  <a:srgbClr val="1E6FE8"/>
                </a:solidFill>
                <a:latin typeface="Helvetica"/>
              </a:rPr>
              <a:t>25,54</a:t>
            </a:r>
          </a:p>
        </p:txBody>
      </p:sp>
      <p:sp>
        <p:nvSpPr>
          <p:cNvPr id="15" name="TextBox 14"/>
          <p:cNvSpPr txBox="1"/>
          <p:nvPr/>
        </p:nvSpPr>
        <p:spPr>
          <a:xfrm>
            <a:off x="6675120" y="4800600"/>
            <a:ext cx="4754880" cy="777240"/>
          </a:xfrm>
          <a:prstGeom prst="rect">
            <a:avLst/>
          </a:prstGeom>
          <a:noFill/>
        </p:spPr>
        <p:txBody>
          <a:bodyPr wrap="square" lIns="45720" tIns="27432" rIns="45720" bIns="27432" anchor="t">
            <a:spAutoFit/>
          </a:bodyPr>
          <a:lstStyle/>
          <a:p>
            <a:pPr algn="l">
              <a:lnSpc>
                <a:spcPct val="110000"/>
              </a:lnSpc>
            </a:pPr>
            <a:r>
              <a:rPr sz="2000" b="0" i="0">
                <a:solidFill>
                  <a:srgbClr val="5B6B82"/>
                </a:solidFill>
                <a:latin typeface="Helvetica"/>
              </a:rPr>
              <a:t>FashionIQ R@10 trung bình của A, thấp hơn baseline 25,90</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7.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rb"/>
          <p:cNvSpPr/>
          <p:nvPr/>
        </p:nvSpPr>
        <p:spPr>
          <a:xfrm>
            <a:off x="-1828800" y="4114800"/>
            <a:ext cx="3840480" cy="384048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ot"/>
          <p:cNvSpPr/>
          <p:nvPr/>
        </p:nvSpPr>
        <p:spPr>
          <a:xfrm>
            <a:off x="54864" y="603504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txBox="1"/>
          <p:nvPr/>
        </p:nvSpPr>
        <p:spPr>
          <a:xfrm>
            <a:off x="548640" y="347472"/>
            <a:ext cx="10424160" cy="1143000"/>
          </a:xfrm>
          <a:prstGeom prst="rect">
            <a:avLst/>
          </a:prstGeom>
          <a:noFill/>
        </p:spPr>
        <p:txBody>
          <a:bodyPr wrap="square" lIns="45720" tIns="27432" rIns="45720" bIns="27432" anchor="ctr">
            <a:spAutoFit/>
          </a:bodyPr>
          <a:lstStyle/>
          <a:p>
            <a:pPr algn="l">
              <a:lnSpc>
                <a:spcPct val="110000"/>
              </a:lnSpc>
            </a:pPr>
            <a:r>
              <a:rPr sz="3200" b="1" i="0">
                <a:solidFill>
                  <a:srgbClr val="0F1C3F"/>
                </a:solidFill>
                <a:latin typeface="Helvetica"/>
              </a:rPr>
              <a:t>Cải tiến B: dịch nhiễu theo hướng của modality gap</a:t>
            </a:r>
          </a:p>
        </p:txBody>
      </p:sp>
      <p:sp>
        <p:nvSpPr>
          <p:cNvPr id="5" name="!!num"/>
          <p:cNvSpPr txBox="1"/>
          <p:nvPr/>
        </p:nvSpPr>
        <p:spPr>
          <a:xfrm>
            <a:off x="10881360" y="6236208"/>
            <a:ext cx="914400" cy="457200"/>
          </a:xfrm>
          <a:prstGeom prst="rect">
            <a:avLst/>
          </a:prstGeom>
          <a:noFill/>
        </p:spPr>
        <p:txBody>
          <a:bodyPr wrap="square" lIns="45720" tIns="27432" rIns="45720" bIns="27432" anchor="t">
            <a:spAutoFit/>
          </a:bodyPr>
          <a:lstStyle/>
          <a:p>
            <a:pPr algn="r">
              <a:lnSpc>
                <a:spcPct val="110000"/>
              </a:lnSpc>
            </a:pPr>
            <a:r>
              <a:rPr sz="2000" b="0" i="0">
                <a:solidFill>
                  <a:srgbClr val="5B6B82"/>
                </a:solidFill>
                <a:latin typeface="Helvetica"/>
              </a:rPr>
              <a:t>7</a:t>
            </a:r>
          </a:p>
        </p:txBody>
      </p:sp>
      <p:sp>
        <p:nvSpPr>
          <p:cNvPr id="6" name="Rounded Rectangle 5"/>
          <p:cNvSpPr/>
          <p:nvPr/>
        </p:nvSpPr>
        <p:spPr>
          <a:xfrm>
            <a:off x="548640" y="1737360"/>
            <a:ext cx="5577840" cy="201168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901952"/>
            <a:ext cx="5120640" cy="502920"/>
          </a:xfrm>
          <a:prstGeom prst="rect">
            <a:avLst/>
          </a:prstGeom>
          <a:noFill/>
        </p:spPr>
        <p:txBody>
          <a:bodyPr wrap="square" lIns="45720" tIns="27432" rIns="45720" bIns="27432" anchor="t">
            <a:spAutoFit/>
          </a:bodyPr>
          <a:lstStyle/>
          <a:p>
            <a:pPr algn="l">
              <a:lnSpc>
                <a:spcPct val="110000"/>
              </a:lnSpc>
            </a:pPr>
            <a:r>
              <a:rPr sz="2200" b="1" i="0">
                <a:solidFill>
                  <a:srgbClr val="144FB0"/>
                </a:solidFill>
                <a:latin typeface="Helvetica"/>
              </a:rPr>
              <a:t>Nhiễu của LinCIR</a:t>
            </a:r>
          </a:p>
        </p:txBody>
      </p:sp>
      <p:sp>
        <p:nvSpPr>
          <p:cNvPr id="8" name="TextBox 7"/>
          <p:cNvSpPr txBox="1"/>
          <p:nvPr/>
        </p:nvSpPr>
        <p:spPr>
          <a:xfrm>
            <a:off x="777240" y="2468880"/>
            <a:ext cx="5120640" cy="114300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Nhiễu đều theo mọi hướng</a:t>
            </a:r>
          </a:p>
          <a:p>
            <a:pPr marL="292608" indent="-292608">
              <a:lnSpc>
                <a:spcPct val="108000"/>
              </a:lnSpc>
              <a:spcAft>
                <a:spcPts val="600"/>
              </a:spcAft>
              <a:buClr>
                <a:srgbClr val="1E6FE8"/>
              </a:buClr>
              <a:buFont typeface="Helvetica"/>
              <a:buChar char="•"/>
            </a:pPr>
            <a:r>
              <a:rPr sz="2100" b="0" i="0">
                <a:solidFill>
                  <a:srgbClr val="0F1C3F"/>
                </a:solidFill>
                <a:latin typeface="Helvetica"/>
              </a:rPr>
              <a:t>Không dịch về phía vùng ảnh</a:t>
            </a:r>
          </a:p>
        </p:txBody>
      </p:sp>
      <p:sp>
        <p:nvSpPr>
          <p:cNvPr id="9" name="Rounded Rectangle 8"/>
          <p:cNvSpPr/>
          <p:nvPr/>
        </p:nvSpPr>
        <p:spPr>
          <a:xfrm>
            <a:off x="548640" y="3931920"/>
            <a:ext cx="5577840" cy="2011680"/>
          </a:xfrm>
          <a:prstGeom prst="roundRect">
            <a:avLst>
              <a:gd name="adj" fmla="val 8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777240" y="4096511"/>
            <a:ext cx="5120640" cy="502920"/>
          </a:xfrm>
          <a:prstGeom prst="rect">
            <a:avLst/>
          </a:prstGeom>
          <a:noFill/>
        </p:spPr>
        <p:txBody>
          <a:bodyPr wrap="square" lIns="45720" tIns="27432" rIns="45720" bIns="27432" anchor="t">
            <a:spAutoFit/>
          </a:bodyPr>
          <a:lstStyle/>
          <a:p>
            <a:pPr algn="l">
              <a:lnSpc>
                <a:spcPct val="110000"/>
              </a:lnSpc>
            </a:pPr>
            <a:r>
              <a:rPr sz="2200" b="1" i="0">
                <a:solidFill>
                  <a:srgbClr val="144FB0"/>
                </a:solidFill>
                <a:latin typeface="Helvetica"/>
              </a:rPr>
              <a:t>Nhiễu có hướng</a:t>
            </a:r>
          </a:p>
        </p:txBody>
      </p:sp>
      <p:sp>
        <p:nvSpPr>
          <p:cNvPr id="11" name="TextBox 10"/>
          <p:cNvSpPr txBox="1"/>
          <p:nvPr/>
        </p:nvSpPr>
        <p:spPr>
          <a:xfrm>
            <a:off x="777240" y="4663440"/>
            <a:ext cx="5120640" cy="114300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1" i="0">
                <a:solidFill>
                  <a:srgbClr val="0F1C3F"/>
                </a:solidFill>
                <a:latin typeface="Helvetica"/>
              </a:rPr>
              <a:t>n = 0,5 · Δ + u · ε</a:t>
            </a:r>
          </a:p>
          <a:p>
            <a:pPr marL="292608" indent="-292608">
              <a:lnSpc>
                <a:spcPct val="108000"/>
              </a:lnSpc>
              <a:spcAft>
                <a:spcPts val="600"/>
              </a:spcAft>
              <a:buClr>
                <a:srgbClr val="1E6FE8"/>
              </a:buClr>
              <a:buFont typeface="Helvetica"/>
              <a:buChar char="•"/>
            </a:pPr>
            <a:r>
              <a:rPr sz="2100" b="0" i="0">
                <a:solidFill>
                  <a:srgbClr val="0F1C3F"/>
                </a:solidFill>
                <a:latin typeface="Helvetica"/>
              </a:rPr>
              <a:t>Δ = tâm ảnh − tâm văn bản</a:t>
            </a:r>
          </a:p>
        </p:txBody>
      </p:sp>
      <p:sp>
        <p:nvSpPr>
          <p:cNvPr id="12" name="TextBox 11"/>
          <p:cNvSpPr txBox="1"/>
          <p:nvPr/>
        </p:nvSpPr>
        <p:spPr>
          <a:xfrm>
            <a:off x="6675120" y="1828800"/>
            <a:ext cx="4754880" cy="868680"/>
          </a:xfrm>
          <a:prstGeom prst="rect">
            <a:avLst/>
          </a:prstGeom>
          <a:noFill/>
        </p:spPr>
        <p:txBody>
          <a:bodyPr wrap="square" lIns="45720" tIns="27432" rIns="45720" bIns="27432" anchor="t">
            <a:spAutoFit/>
          </a:bodyPr>
          <a:lstStyle/>
          <a:p>
            <a:pPr algn="l">
              <a:lnSpc>
                <a:spcPct val="110000"/>
              </a:lnSpc>
            </a:pPr>
            <a:r>
              <a:rPr sz="4800" b="1" i="0">
                <a:solidFill>
                  <a:srgbClr val="1E6FE8"/>
                </a:solidFill>
                <a:latin typeface="Helvetica"/>
              </a:rPr>
              <a:t>13,87</a:t>
            </a:r>
          </a:p>
        </p:txBody>
      </p:sp>
      <p:sp>
        <p:nvSpPr>
          <p:cNvPr id="13" name="TextBox 12"/>
          <p:cNvSpPr txBox="1"/>
          <p:nvPr/>
        </p:nvSpPr>
        <p:spPr>
          <a:xfrm>
            <a:off x="6675120" y="2697480"/>
            <a:ext cx="4754880" cy="777240"/>
          </a:xfrm>
          <a:prstGeom prst="rect">
            <a:avLst/>
          </a:prstGeom>
          <a:noFill/>
        </p:spPr>
        <p:txBody>
          <a:bodyPr wrap="square" lIns="45720" tIns="27432" rIns="45720" bIns="27432" anchor="t">
            <a:spAutoFit/>
          </a:bodyPr>
          <a:lstStyle/>
          <a:p>
            <a:pPr algn="l">
              <a:lnSpc>
                <a:spcPct val="110000"/>
              </a:lnSpc>
            </a:pPr>
            <a:r>
              <a:rPr sz="2000" b="0" i="0">
                <a:solidFill>
                  <a:srgbClr val="5B6B82"/>
                </a:solidFill>
                <a:latin typeface="Helvetica"/>
              </a:rPr>
              <a:t>độ lớn của Δ, tính trên 5.000 cặp ảnh – chú thích COCO</a:t>
            </a:r>
          </a:p>
        </p:txBody>
      </p:sp>
      <p:sp>
        <p:nvSpPr>
          <p:cNvPr id="14" name="TextBox 13"/>
          <p:cNvSpPr txBox="1"/>
          <p:nvPr/>
        </p:nvSpPr>
        <p:spPr>
          <a:xfrm>
            <a:off x="6675120" y="3931920"/>
            <a:ext cx="4754880" cy="868680"/>
          </a:xfrm>
          <a:prstGeom prst="rect">
            <a:avLst/>
          </a:prstGeom>
          <a:noFill/>
        </p:spPr>
        <p:txBody>
          <a:bodyPr wrap="square" lIns="45720" tIns="27432" rIns="45720" bIns="27432" anchor="t">
            <a:spAutoFit/>
          </a:bodyPr>
          <a:lstStyle/>
          <a:p>
            <a:pPr algn="l">
              <a:lnSpc>
                <a:spcPct val="110000"/>
              </a:lnSpc>
            </a:pPr>
            <a:r>
              <a:rPr sz="4800" b="1" i="0">
                <a:solidFill>
                  <a:srgbClr val="1E6FE8"/>
                </a:solidFill>
                <a:latin typeface="Helvetica"/>
              </a:rPr>
              <a:t>COCO val</a:t>
            </a:r>
          </a:p>
        </p:txBody>
      </p:sp>
      <p:sp>
        <p:nvSpPr>
          <p:cNvPr id="15" name="TextBox 14"/>
          <p:cNvSpPr txBox="1"/>
          <p:nvPr/>
        </p:nvSpPr>
        <p:spPr>
          <a:xfrm>
            <a:off x="6675120" y="4800600"/>
            <a:ext cx="4754880" cy="777240"/>
          </a:xfrm>
          <a:prstGeom prst="rect">
            <a:avLst/>
          </a:prstGeom>
          <a:noFill/>
        </p:spPr>
        <p:txBody>
          <a:bodyPr wrap="square" lIns="45720" tIns="27432" rIns="45720" bIns="27432" anchor="t">
            <a:spAutoFit/>
          </a:bodyPr>
          <a:lstStyle/>
          <a:p>
            <a:pPr algn="l">
              <a:lnSpc>
                <a:spcPct val="110000"/>
              </a:lnSpc>
            </a:pPr>
            <a:r>
              <a:rPr sz="2000" b="0" i="0">
                <a:solidFill>
                  <a:srgbClr val="5B6B82"/>
                </a:solidFill>
                <a:latin typeface="Helvetica"/>
              </a:rPr>
              <a:t>tập ảnh khác hẳn ảnh dùng để đánh giá (FashionIQ, CIRCO)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8.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rb"/>
          <p:cNvSpPr/>
          <p:nvPr/>
        </p:nvSpPr>
        <p:spPr>
          <a:xfrm>
            <a:off x="9966960" y="4206240"/>
            <a:ext cx="3657600" cy="365760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ot"/>
          <p:cNvSpPr/>
          <p:nvPr/>
        </p:nvSpPr>
        <p:spPr>
          <a:xfrm>
            <a:off x="11704320" y="329184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txBox="1"/>
          <p:nvPr/>
        </p:nvSpPr>
        <p:spPr>
          <a:xfrm>
            <a:off x="548640" y="347472"/>
            <a:ext cx="10424160" cy="1143000"/>
          </a:xfrm>
          <a:prstGeom prst="rect">
            <a:avLst/>
          </a:prstGeom>
          <a:noFill/>
        </p:spPr>
        <p:txBody>
          <a:bodyPr wrap="square" lIns="45720" tIns="27432" rIns="45720" bIns="27432" anchor="ctr">
            <a:spAutoFit/>
          </a:bodyPr>
          <a:lstStyle/>
          <a:p>
            <a:pPr algn="l">
              <a:lnSpc>
                <a:spcPct val="110000"/>
              </a:lnSpc>
            </a:pPr>
            <a:r>
              <a:rPr sz="3200" b="1" i="0">
                <a:solidFill>
                  <a:srgbClr val="0F1C3F"/>
                </a:solidFill>
                <a:latin typeface="Helvetica"/>
              </a:rPr>
              <a:t>CIR là truy xuất có xếp hạng, đo bằng R@K và mAP@K</a:t>
            </a:r>
          </a:p>
        </p:txBody>
      </p:sp>
      <p:sp>
        <p:nvSpPr>
          <p:cNvPr id="5" name="!!num"/>
          <p:cNvSpPr txBox="1"/>
          <p:nvPr/>
        </p:nvSpPr>
        <p:spPr>
          <a:xfrm>
            <a:off x="10881360" y="6236208"/>
            <a:ext cx="914400" cy="457200"/>
          </a:xfrm>
          <a:prstGeom prst="rect">
            <a:avLst/>
          </a:prstGeom>
          <a:noFill/>
        </p:spPr>
        <p:txBody>
          <a:bodyPr wrap="square" lIns="45720" tIns="27432" rIns="45720" bIns="27432" anchor="t">
            <a:spAutoFit/>
          </a:bodyPr>
          <a:lstStyle/>
          <a:p>
            <a:pPr algn="r">
              <a:lnSpc>
                <a:spcPct val="110000"/>
              </a:lnSpc>
            </a:pPr>
            <a:r>
              <a:rPr sz="2000" b="0" i="0">
                <a:solidFill>
                  <a:srgbClr val="5B6B82"/>
                </a:solidFill>
                <a:latin typeface="Helvetica"/>
              </a:rPr>
              <a:t>8</a:t>
            </a:r>
          </a:p>
        </p:txBody>
      </p:sp>
      <p:sp>
        <p:nvSpPr>
          <p:cNvPr id="6" name="Rounded Rectangle 5"/>
          <p:cNvSpPr/>
          <p:nvPr/>
        </p:nvSpPr>
        <p:spPr>
          <a:xfrm>
            <a:off x="548640" y="1737360"/>
            <a:ext cx="3566160" cy="352044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901952"/>
            <a:ext cx="3108960" cy="502920"/>
          </a:xfrm>
          <a:prstGeom prst="rect">
            <a:avLst/>
          </a:prstGeom>
          <a:noFill/>
        </p:spPr>
        <p:txBody>
          <a:bodyPr wrap="square" lIns="45720" tIns="27432" rIns="45720" bIns="27432" anchor="t">
            <a:spAutoFit/>
          </a:bodyPr>
          <a:lstStyle/>
          <a:p>
            <a:pPr algn="l">
              <a:lnSpc>
                <a:spcPct val="110000"/>
              </a:lnSpc>
            </a:pPr>
            <a:r>
              <a:rPr sz="2200" b="1" i="0">
                <a:solidFill>
                  <a:srgbClr val="144FB0"/>
                </a:solidFill>
                <a:latin typeface="Helvetica"/>
              </a:rPr>
              <a:t>Chương I</a:t>
            </a:r>
          </a:p>
        </p:txBody>
      </p:sp>
      <p:sp>
        <p:nvSpPr>
          <p:cNvPr id="8" name="TextBox 7"/>
          <p:cNvSpPr txBox="1"/>
          <p:nvPr/>
        </p:nvSpPr>
        <p:spPr>
          <a:xfrm>
            <a:off x="777240" y="2468880"/>
            <a:ext cx="3108960" cy="242316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Nhu cầu › truy vấn › danh sách xếp hạng</a:t>
            </a:r>
          </a:p>
          <a:p>
            <a:pPr marL="292608" indent="-292608">
              <a:lnSpc>
                <a:spcPct val="108000"/>
              </a:lnSpc>
              <a:spcAft>
                <a:spcPts val="600"/>
              </a:spcAft>
              <a:buClr>
                <a:srgbClr val="1E6FE8"/>
              </a:buClr>
              <a:buFont typeface="Helvetica"/>
              <a:buChar char="•"/>
            </a:pPr>
            <a:r>
              <a:rPr sz="2100" b="0" i="0">
                <a:solidFill>
                  <a:srgbClr val="0F1C3F"/>
                </a:solidFill>
                <a:latin typeface="Helvetica"/>
              </a:rPr>
              <a:t>Đánh giá: Precision, Recall</a:t>
            </a:r>
          </a:p>
          <a:p>
            <a:pPr marL="292608" indent="-292608">
              <a:lnSpc>
                <a:spcPct val="108000"/>
              </a:lnSpc>
              <a:spcAft>
                <a:spcPts val="600"/>
              </a:spcAft>
              <a:buClr>
                <a:srgbClr val="1E6FE8"/>
              </a:buClr>
              <a:buFont typeface="Helvetica"/>
              <a:buChar char="•"/>
            </a:pPr>
            <a:r>
              <a:rPr sz="2100" b="0" i="0">
                <a:solidFill>
                  <a:srgbClr val="0F1C3F"/>
                </a:solidFill>
                <a:latin typeface="Helvetica"/>
              </a:rPr>
              <a:t>Boolean, chỉ mục ngược: khớp từ chính xác</a:t>
            </a:r>
          </a:p>
        </p:txBody>
      </p:sp>
      <p:sp>
        <p:nvSpPr>
          <p:cNvPr id="9" name="Rounded Rectangle 8"/>
          <p:cNvSpPr/>
          <p:nvPr/>
        </p:nvSpPr>
        <p:spPr>
          <a:xfrm>
            <a:off x="4343400" y="1737360"/>
            <a:ext cx="3566160" cy="352044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1901952"/>
            <a:ext cx="3108960" cy="502920"/>
          </a:xfrm>
          <a:prstGeom prst="rect">
            <a:avLst/>
          </a:prstGeom>
          <a:noFill/>
        </p:spPr>
        <p:txBody>
          <a:bodyPr wrap="square" lIns="45720" tIns="27432" rIns="45720" bIns="27432" anchor="t">
            <a:spAutoFit/>
          </a:bodyPr>
          <a:lstStyle/>
          <a:p>
            <a:pPr algn="l">
              <a:lnSpc>
                <a:spcPct val="110000"/>
              </a:lnSpc>
            </a:pPr>
            <a:r>
              <a:rPr sz="2200" b="1" i="0">
                <a:solidFill>
                  <a:srgbClr val="144FB0"/>
                </a:solidFill>
                <a:latin typeface="Helvetica"/>
              </a:rPr>
              <a:t>Độ đo của CIR</a:t>
            </a:r>
          </a:p>
        </p:txBody>
      </p:sp>
      <p:sp>
        <p:nvSpPr>
          <p:cNvPr id="11" name="TextBox 10"/>
          <p:cNvSpPr txBox="1"/>
          <p:nvPr/>
        </p:nvSpPr>
        <p:spPr>
          <a:xfrm>
            <a:off x="4572000" y="2468880"/>
            <a:ext cx="3108960" cy="242316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R@K: tỉ lệ truy vấn có ảnh đích trong K kết quả đầu</a:t>
            </a:r>
          </a:p>
          <a:p>
            <a:pPr marL="292608" indent="-292608">
              <a:lnSpc>
                <a:spcPct val="108000"/>
              </a:lnSpc>
              <a:spcAft>
                <a:spcPts val="600"/>
              </a:spcAft>
              <a:buClr>
                <a:srgbClr val="1E6FE8"/>
              </a:buClr>
              <a:buFont typeface="Helvetica"/>
              <a:buChar char="•"/>
            </a:pPr>
            <a:r>
              <a:rPr sz="2100" b="0" i="0">
                <a:solidFill>
                  <a:srgbClr val="0F1C3F"/>
                </a:solidFill>
                <a:latin typeface="Helvetica"/>
              </a:rPr>
              <a:t>mAP@K: có nhiều ảnh đúng, thưởng ảnh đúng xếp cao</a:t>
            </a:r>
          </a:p>
        </p:txBody>
      </p:sp>
      <p:sp>
        <p:nvSpPr>
          <p:cNvPr id="12" name="Rounded Rectangle 11"/>
          <p:cNvSpPr/>
          <p:nvPr/>
        </p:nvSpPr>
        <p:spPr>
          <a:xfrm>
            <a:off x="8138160" y="1737360"/>
            <a:ext cx="3566160" cy="3520440"/>
          </a:xfrm>
          <a:prstGeom prst="roundRect">
            <a:avLst>
              <a:gd name="adj" fmla="val 8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66760" y="1901952"/>
            <a:ext cx="3108960" cy="502920"/>
          </a:xfrm>
          <a:prstGeom prst="rect">
            <a:avLst/>
          </a:prstGeom>
          <a:noFill/>
        </p:spPr>
        <p:txBody>
          <a:bodyPr wrap="square" lIns="45720" tIns="27432" rIns="45720" bIns="27432" anchor="t">
            <a:spAutoFit/>
          </a:bodyPr>
          <a:lstStyle/>
          <a:p>
            <a:pPr algn="l">
              <a:lnSpc>
                <a:spcPct val="110000"/>
              </a:lnSpc>
            </a:pPr>
            <a:r>
              <a:rPr sz="2200" b="1" i="0">
                <a:solidFill>
                  <a:srgbClr val="144FB0"/>
                </a:solidFill>
                <a:latin typeface="Helvetica"/>
              </a:rPr>
              <a:t>Tìm kiếm vector</a:t>
            </a:r>
          </a:p>
        </p:txBody>
      </p:sp>
      <p:sp>
        <p:nvSpPr>
          <p:cNvPr id="14" name="TextBox 13"/>
          <p:cNvSpPr txBox="1"/>
          <p:nvPr/>
        </p:nvSpPr>
        <p:spPr>
          <a:xfrm>
            <a:off x="8366760" y="2468880"/>
            <a:ext cx="3108960" cy="242316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Ảnh và truy vấn được mã hóa thành vector CLIP</a:t>
            </a:r>
          </a:p>
          <a:p>
            <a:pPr marL="292608" indent="-292608">
              <a:lnSpc>
                <a:spcPct val="108000"/>
              </a:lnSpc>
              <a:spcAft>
                <a:spcPts val="600"/>
              </a:spcAft>
              <a:buClr>
                <a:srgbClr val="1E6FE8"/>
              </a:buClr>
              <a:buFont typeface="Helvetica"/>
              <a:buChar char="•"/>
            </a:pPr>
            <a:r>
              <a:rPr sz="2100" b="0" i="0">
                <a:solidFill>
                  <a:srgbClr val="0F1C3F"/>
                </a:solidFill>
                <a:latin typeface="Helvetica"/>
              </a:rPr>
              <a:t>Xếp hạng ảnh theo độ tương đồng cosine</a:t>
            </a:r>
          </a:p>
        </p:txBody>
      </p:sp>
      <p:sp>
        <p:nvSpPr>
          <p:cNvPr id="15" name="TextBox 14"/>
          <p:cNvSpPr txBox="1"/>
          <p:nvPr/>
        </p:nvSpPr>
        <p:spPr>
          <a:xfrm>
            <a:off x="548640" y="5440680"/>
            <a:ext cx="11064240" cy="548640"/>
          </a:xfrm>
          <a:prstGeom prst="rect">
            <a:avLst/>
          </a:prstGeom>
          <a:noFill/>
        </p:spPr>
        <p:txBody>
          <a:bodyPr wrap="square" lIns="45720" tIns="27432" rIns="45720" bIns="27432" anchor="t">
            <a:spAutoFit/>
          </a:bodyPr>
          <a:lstStyle/>
          <a:p>
            <a:pPr algn="l">
              <a:lnSpc>
                <a:spcPct val="110000"/>
              </a:lnSpc>
            </a:pPr>
            <a:r>
              <a:rPr sz="2200" b="1" i="0">
                <a:solidFill>
                  <a:srgbClr val="144FB0"/>
                </a:solidFill>
                <a:latin typeface="Helvetica"/>
              </a:rPr>
              <a:t>Nhóm báo cáo R@10, R@50 trên FashionIQ và mAP@K trên CIRCO</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9.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rb"/>
          <p:cNvSpPr/>
          <p:nvPr/>
        </p:nvSpPr>
        <p:spPr>
          <a:xfrm>
            <a:off x="-1645920" y="4206240"/>
            <a:ext cx="3657600" cy="365760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ot"/>
          <p:cNvSpPr/>
          <p:nvPr/>
        </p:nvSpPr>
        <p:spPr>
          <a:xfrm>
            <a:off x="54864" y="603504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txBox="1"/>
          <p:nvPr/>
        </p:nvSpPr>
        <p:spPr>
          <a:xfrm>
            <a:off x="548640" y="347472"/>
            <a:ext cx="10424160" cy="1143000"/>
          </a:xfrm>
          <a:prstGeom prst="rect">
            <a:avLst/>
          </a:prstGeom>
          <a:noFill/>
        </p:spPr>
        <p:txBody>
          <a:bodyPr wrap="square" lIns="45720" tIns="27432" rIns="45720" bIns="27432" anchor="ctr">
            <a:spAutoFit/>
          </a:bodyPr>
          <a:lstStyle/>
          <a:p>
            <a:pPr algn="l">
              <a:lnSpc>
                <a:spcPct val="110000"/>
              </a:lnSpc>
            </a:pPr>
            <a:r>
              <a:rPr sz="3200" b="1" i="0">
                <a:solidFill>
                  <a:srgbClr val="0F1C3F"/>
                </a:solidFill>
                <a:latin typeface="Helvetica"/>
              </a:rPr>
              <a:t>Mã nguồn chạy trên môi trường mới với sai lệch bằng 0</a:t>
            </a:r>
          </a:p>
        </p:txBody>
      </p:sp>
      <p:sp>
        <p:nvSpPr>
          <p:cNvPr id="5" name="!!num"/>
          <p:cNvSpPr txBox="1"/>
          <p:nvPr/>
        </p:nvSpPr>
        <p:spPr>
          <a:xfrm>
            <a:off x="10881360" y="6236208"/>
            <a:ext cx="914400" cy="457200"/>
          </a:xfrm>
          <a:prstGeom prst="rect">
            <a:avLst/>
          </a:prstGeom>
          <a:noFill/>
        </p:spPr>
        <p:txBody>
          <a:bodyPr wrap="square" lIns="45720" tIns="27432" rIns="45720" bIns="27432" anchor="t">
            <a:spAutoFit/>
          </a:bodyPr>
          <a:lstStyle/>
          <a:p>
            <a:pPr algn="r">
              <a:lnSpc>
                <a:spcPct val="110000"/>
              </a:lnSpc>
            </a:pPr>
            <a:r>
              <a:rPr sz="2000" b="0" i="0">
                <a:solidFill>
                  <a:srgbClr val="5B6B82"/>
                </a:solidFill>
                <a:latin typeface="Helvetica"/>
              </a:rPr>
              <a:t>9</a:t>
            </a:r>
          </a:p>
        </p:txBody>
      </p:sp>
      <p:sp>
        <p:nvSpPr>
          <p:cNvPr id="6" name="TextBox 5"/>
          <p:cNvSpPr txBox="1"/>
          <p:nvPr/>
        </p:nvSpPr>
        <p:spPr>
          <a:xfrm>
            <a:off x="731520" y="1783080"/>
            <a:ext cx="3291840" cy="868680"/>
          </a:xfrm>
          <a:prstGeom prst="rect">
            <a:avLst/>
          </a:prstGeom>
          <a:noFill/>
        </p:spPr>
        <p:txBody>
          <a:bodyPr wrap="square" lIns="45720" tIns="27432" rIns="45720" bIns="27432" anchor="t">
            <a:spAutoFit/>
          </a:bodyPr>
          <a:lstStyle/>
          <a:p>
            <a:pPr algn="l">
              <a:lnSpc>
                <a:spcPct val="110000"/>
              </a:lnSpc>
            </a:pPr>
            <a:r>
              <a:rPr sz="4800" b="1" i="0">
                <a:solidFill>
                  <a:srgbClr val="1E6FE8"/>
                </a:solidFill>
                <a:latin typeface="Helvetica"/>
              </a:rPr>
              <a:t>0,00</a:t>
            </a:r>
          </a:p>
        </p:txBody>
      </p:sp>
      <p:sp>
        <p:nvSpPr>
          <p:cNvPr id="7" name="TextBox 6"/>
          <p:cNvSpPr txBox="1"/>
          <p:nvPr/>
        </p:nvSpPr>
        <p:spPr>
          <a:xfrm>
            <a:off x="731520" y="2651760"/>
            <a:ext cx="3291840" cy="777240"/>
          </a:xfrm>
          <a:prstGeom prst="rect">
            <a:avLst/>
          </a:prstGeom>
          <a:noFill/>
        </p:spPr>
        <p:txBody>
          <a:bodyPr wrap="square" lIns="45720" tIns="27432" rIns="45720" bIns="27432" anchor="t">
            <a:spAutoFit/>
          </a:bodyPr>
          <a:lstStyle/>
          <a:p>
            <a:pPr algn="l">
              <a:lnSpc>
                <a:spcPct val="110000"/>
              </a:lnSpc>
            </a:pPr>
            <a:r>
              <a:rPr sz="2000" b="0" i="0">
                <a:solidFill>
                  <a:srgbClr val="5B6B82"/>
                </a:solidFill>
                <a:latin typeface="Helvetica"/>
              </a:rPr>
              <a:t>sai lệch giữa encoder viết lại và CLIP gốc</a:t>
            </a:r>
          </a:p>
        </p:txBody>
      </p:sp>
      <p:sp>
        <p:nvSpPr>
          <p:cNvPr id="8" name="TextBox 7"/>
          <p:cNvSpPr txBox="1"/>
          <p:nvPr/>
        </p:nvSpPr>
        <p:spPr>
          <a:xfrm>
            <a:off x="731520" y="3703320"/>
            <a:ext cx="3291840" cy="868680"/>
          </a:xfrm>
          <a:prstGeom prst="rect">
            <a:avLst/>
          </a:prstGeom>
          <a:noFill/>
        </p:spPr>
        <p:txBody>
          <a:bodyPr wrap="square" lIns="45720" tIns="27432" rIns="45720" bIns="27432" anchor="t">
            <a:spAutoFit/>
          </a:bodyPr>
          <a:lstStyle/>
          <a:p>
            <a:pPr algn="l">
              <a:lnSpc>
                <a:spcPct val="110000"/>
              </a:lnSpc>
            </a:pPr>
            <a:r>
              <a:rPr sz="4800" b="1" i="0">
                <a:solidFill>
                  <a:srgbClr val="1E6FE8"/>
                </a:solidFill>
                <a:latin typeface="Helvetica"/>
              </a:rPr>
              <a:t>4</a:t>
            </a:r>
          </a:p>
        </p:txBody>
      </p:sp>
      <p:sp>
        <p:nvSpPr>
          <p:cNvPr id="9" name="TextBox 8"/>
          <p:cNvSpPr txBox="1"/>
          <p:nvPr/>
        </p:nvSpPr>
        <p:spPr>
          <a:xfrm>
            <a:off x="731520" y="4572000"/>
            <a:ext cx="3291840" cy="777240"/>
          </a:xfrm>
          <a:prstGeom prst="rect">
            <a:avLst/>
          </a:prstGeom>
          <a:noFill/>
        </p:spPr>
        <p:txBody>
          <a:bodyPr wrap="square" lIns="45720" tIns="27432" rIns="45720" bIns="27432" anchor="t">
            <a:spAutoFit/>
          </a:bodyPr>
          <a:lstStyle/>
          <a:p>
            <a:pPr algn="l">
              <a:lnSpc>
                <a:spcPct val="110000"/>
              </a:lnSpc>
            </a:pPr>
            <a:r>
              <a:rPr sz="2000" b="0" i="0">
                <a:solidFill>
                  <a:srgbClr val="5B6B82"/>
                </a:solidFill>
                <a:latin typeface="Helvetica"/>
              </a:rPr>
              <a:t>lỗi trong mã gốc đã được sửa</a:t>
            </a:r>
          </a:p>
        </p:txBody>
      </p:sp>
      <p:sp>
        <p:nvSpPr>
          <p:cNvPr id="10" name="Rounded Rectangle 9"/>
          <p:cNvSpPr/>
          <p:nvPr/>
        </p:nvSpPr>
        <p:spPr>
          <a:xfrm>
            <a:off x="4297680" y="1737360"/>
            <a:ext cx="3566160" cy="356616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1" name="TextBox 10"/>
          <p:cNvSpPr txBox="1"/>
          <p:nvPr/>
        </p:nvSpPr>
        <p:spPr>
          <a:xfrm>
            <a:off x="4526280" y="1901952"/>
            <a:ext cx="3108960" cy="502920"/>
          </a:xfrm>
          <a:prstGeom prst="rect">
            <a:avLst/>
          </a:prstGeom>
          <a:noFill/>
        </p:spPr>
        <p:txBody>
          <a:bodyPr wrap="square" lIns="45720" tIns="27432" rIns="45720" bIns="27432" anchor="t">
            <a:spAutoFit/>
          </a:bodyPr>
          <a:lstStyle/>
          <a:p>
            <a:pPr algn="l">
              <a:lnSpc>
                <a:spcPct val="110000"/>
              </a:lnSpc>
            </a:pPr>
            <a:r>
              <a:rPr sz="2200" b="1" i="0">
                <a:solidFill>
                  <a:srgbClr val="144FB0"/>
                </a:solidFill>
                <a:latin typeface="Helvetica"/>
              </a:rPr>
              <a:t>Đã làm</a:t>
            </a:r>
          </a:p>
        </p:txBody>
      </p:sp>
      <p:sp>
        <p:nvSpPr>
          <p:cNvPr id="12" name="TextBox 11"/>
          <p:cNvSpPr txBox="1"/>
          <p:nvPr/>
        </p:nvSpPr>
        <p:spPr>
          <a:xfrm>
            <a:off x="4526280" y="2468880"/>
            <a:ext cx="3108960" cy="269748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Viết lại encoder văn bản cho thư viện mới</a:t>
            </a:r>
          </a:p>
          <a:p>
            <a:pPr marL="292608" indent="-292608">
              <a:lnSpc>
                <a:spcPct val="108000"/>
              </a:lnSpc>
              <a:spcAft>
                <a:spcPts val="600"/>
              </a:spcAft>
              <a:buClr>
                <a:srgbClr val="1E6FE8"/>
              </a:buClr>
              <a:buFont typeface="Helvetica"/>
              <a:buChar char="•"/>
            </a:pPr>
            <a:r>
              <a:rPr sz="2100" b="0" i="0">
                <a:solidFill>
                  <a:srgbClr val="0F1C3F"/>
                </a:solidFill>
                <a:latin typeface="Helvetica"/>
              </a:rPr>
              <a:t>Thay tokenizer; token “$” có mã 259</a:t>
            </a:r>
          </a:p>
          <a:p>
            <a:pPr marL="292608" indent="-292608">
              <a:lnSpc>
                <a:spcPct val="108000"/>
              </a:lnSpc>
              <a:spcAft>
                <a:spcPts val="600"/>
              </a:spcAft>
              <a:buClr>
                <a:srgbClr val="1E6FE8"/>
              </a:buClr>
              <a:buFont typeface="Helvetica"/>
              <a:buChar char="•"/>
            </a:pPr>
            <a:r>
              <a:rPr sz="2100" b="0" i="0">
                <a:solidFill>
                  <a:srgbClr val="0F1C3F"/>
                </a:solidFill>
                <a:latin typeface="Helvetica"/>
              </a:rPr>
              <a:t>Kiểm chứng trên ViT-B/32 và ViT-L/14</a:t>
            </a:r>
          </a:p>
        </p:txBody>
      </p:sp>
      <p:sp>
        <p:nvSpPr>
          <p:cNvPr id="13" name="Rounded Rectangle 12"/>
          <p:cNvSpPr/>
          <p:nvPr/>
        </p:nvSpPr>
        <p:spPr>
          <a:xfrm>
            <a:off x="8092440" y="1737360"/>
            <a:ext cx="3566160" cy="3566160"/>
          </a:xfrm>
          <a:prstGeom prst="roundRect">
            <a:avLst>
              <a:gd name="adj" fmla="val 8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4" name="TextBox 13"/>
          <p:cNvSpPr txBox="1"/>
          <p:nvPr/>
        </p:nvSpPr>
        <p:spPr>
          <a:xfrm>
            <a:off x="8321040" y="1901952"/>
            <a:ext cx="3108960" cy="502920"/>
          </a:xfrm>
          <a:prstGeom prst="rect">
            <a:avLst/>
          </a:prstGeom>
          <a:noFill/>
        </p:spPr>
        <p:txBody>
          <a:bodyPr wrap="square" lIns="45720" tIns="27432" rIns="45720" bIns="27432" anchor="t">
            <a:spAutoFit/>
          </a:bodyPr>
          <a:lstStyle/>
          <a:p>
            <a:pPr algn="l">
              <a:lnSpc>
                <a:spcPct val="110000"/>
              </a:lnSpc>
            </a:pPr>
            <a:r>
              <a:rPr sz="2200" b="1" i="0">
                <a:solidFill>
                  <a:srgbClr val="144FB0"/>
                </a:solidFill>
                <a:latin typeface="Helvetica"/>
              </a:rPr>
              <a:t>Bài báo ≠ mã nguồn</a:t>
            </a:r>
          </a:p>
        </p:txBody>
      </p:sp>
      <p:sp>
        <p:nvSpPr>
          <p:cNvPr id="15" name="TextBox 14"/>
          <p:cNvSpPr txBox="1"/>
          <p:nvPr/>
        </p:nvSpPr>
        <p:spPr>
          <a:xfrm>
            <a:off x="8321040" y="2468880"/>
            <a:ext cx="3108960" cy="269748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Mạng φ trong mã không có LayerNorm</a:t>
            </a:r>
          </a:p>
          <a:p>
            <a:pPr marL="292608" indent="-292608">
              <a:lnSpc>
                <a:spcPct val="108000"/>
              </a:lnSpc>
              <a:spcAft>
                <a:spcPts val="600"/>
              </a:spcAft>
              <a:buClr>
                <a:srgbClr val="1E6FE8"/>
              </a:buClr>
              <a:buFont typeface="Helvetica"/>
              <a:buChar char="•"/>
            </a:pPr>
            <a:r>
              <a:rPr sz="2100" b="0" i="0">
                <a:solidFill>
                  <a:srgbClr val="0F1C3F"/>
                </a:solidFill>
                <a:latin typeface="Helvetica"/>
              </a:rPr>
              <a:t>Dữ liệu có thêm câu prompt Midjourney</a:t>
            </a:r>
          </a:p>
          <a:p>
            <a:pPr marL="292608" indent="-292608">
              <a:lnSpc>
                <a:spcPct val="108000"/>
              </a:lnSpc>
              <a:spcAft>
                <a:spcPts val="600"/>
              </a:spcAft>
              <a:buClr>
                <a:srgbClr val="1E6FE8"/>
              </a:buClr>
              <a:buFont typeface="Helvetica"/>
              <a:buChar char="•"/>
            </a:pPr>
            <a:r>
              <a:rPr sz="2100" b="0" i="0">
                <a:solidFill>
                  <a:srgbClr val="0F1C3F"/>
                </a:solidFill>
                <a:latin typeface="Helvetica"/>
              </a:rPr>
              <a:t>Cụm từ khóa bị che gồm cả từ hạn định</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0.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rb"/>
          <p:cNvSpPr/>
          <p:nvPr/>
        </p:nvSpPr>
        <p:spPr>
          <a:xfrm>
            <a:off x="9966960" y="4389120"/>
            <a:ext cx="3566160" cy="356616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ot"/>
          <p:cNvSpPr/>
          <p:nvPr/>
        </p:nvSpPr>
        <p:spPr>
          <a:xfrm>
            <a:off x="11704320" y="365760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txBox="1"/>
          <p:nvPr/>
        </p:nvSpPr>
        <p:spPr>
          <a:xfrm>
            <a:off x="548640" y="347472"/>
            <a:ext cx="10424160" cy="1143000"/>
          </a:xfrm>
          <a:prstGeom prst="rect">
            <a:avLst/>
          </a:prstGeom>
          <a:noFill/>
        </p:spPr>
        <p:txBody>
          <a:bodyPr wrap="square" lIns="45720" tIns="27432" rIns="45720" bIns="27432" anchor="ctr">
            <a:spAutoFit/>
          </a:bodyPr>
          <a:lstStyle/>
          <a:p>
            <a:pPr algn="l">
              <a:lnSpc>
                <a:spcPct val="110000"/>
              </a:lnSpc>
            </a:pPr>
            <a:r>
              <a:rPr sz="3200" b="1" i="0">
                <a:solidFill>
                  <a:srgbClr val="0F1C3F"/>
                </a:solidFill>
                <a:latin typeface="Helvetica"/>
              </a:rPr>
              <a:t>Mọi biến thể dùng cùng cấu hình, 3 seed và kiểm định theo truy vấn</a:t>
            </a:r>
          </a:p>
        </p:txBody>
      </p:sp>
      <p:sp>
        <p:nvSpPr>
          <p:cNvPr id="5" name="!!num"/>
          <p:cNvSpPr txBox="1"/>
          <p:nvPr/>
        </p:nvSpPr>
        <p:spPr>
          <a:xfrm>
            <a:off x="10881360" y="6236208"/>
            <a:ext cx="914400" cy="457200"/>
          </a:xfrm>
          <a:prstGeom prst="rect">
            <a:avLst/>
          </a:prstGeom>
          <a:noFill/>
        </p:spPr>
        <p:txBody>
          <a:bodyPr wrap="square" lIns="45720" tIns="27432" rIns="45720" bIns="27432" anchor="t">
            <a:spAutoFit/>
          </a:bodyPr>
          <a:lstStyle/>
          <a:p>
            <a:pPr algn="r">
              <a:lnSpc>
                <a:spcPct val="110000"/>
              </a:lnSpc>
            </a:pPr>
            <a:r>
              <a:rPr sz="2000" b="0" i="0">
                <a:solidFill>
                  <a:srgbClr val="5B6B82"/>
                </a:solidFill>
                <a:latin typeface="Helvetica"/>
              </a:rPr>
              <a:t>10</a:t>
            </a:r>
          </a:p>
        </p:txBody>
      </p:sp>
      <p:sp>
        <p:nvSpPr>
          <p:cNvPr id="6" name="Rounded Rectangle 5"/>
          <p:cNvSpPr/>
          <p:nvPr/>
        </p:nvSpPr>
        <p:spPr>
          <a:xfrm>
            <a:off x="548640" y="1737360"/>
            <a:ext cx="3566160" cy="342900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777240" y="1901952"/>
            <a:ext cx="3108960" cy="502920"/>
          </a:xfrm>
          <a:prstGeom prst="rect">
            <a:avLst/>
          </a:prstGeom>
          <a:noFill/>
        </p:spPr>
        <p:txBody>
          <a:bodyPr wrap="square" lIns="45720" tIns="27432" rIns="45720" bIns="27432" anchor="t">
            <a:spAutoFit/>
          </a:bodyPr>
          <a:lstStyle/>
          <a:p>
            <a:pPr algn="l">
              <a:lnSpc>
                <a:spcPct val="110000"/>
              </a:lnSpc>
            </a:pPr>
            <a:r>
              <a:rPr sz="2200" b="1" i="0">
                <a:solidFill>
                  <a:srgbClr val="144FB0"/>
                </a:solidFill>
                <a:latin typeface="Helvetica"/>
              </a:rPr>
              <a:t>Cấu hình</a:t>
            </a:r>
          </a:p>
        </p:txBody>
      </p:sp>
      <p:sp>
        <p:nvSpPr>
          <p:cNvPr id="8" name="TextBox 7"/>
          <p:cNvSpPr txBox="1"/>
          <p:nvPr/>
        </p:nvSpPr>
        <p:spPr>
          <a:xfrm>
            <a:off x="777240" y="2468880"/>
            <a:ext cx="3108960" cy="224028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4 biến thể: baseline, A, B, A+B</a:t>
            </a:r>
          </a:p>
          <a:p>
            <a:pPr marL="292608" indent="-292608">
              <a:lnSpc>
                <a:spcPct val="108000"/>
              </a:lnSpc>
              <a:spcAft>
                <a:spcPts val="600"/>
              </a:spcAft>
              <a:buClr>
                <a:srgbClr val="1E6FE8"/>
              </a:buClr>
              <a:buFont typeface="Helvetica"/>
              <a:buChar char="•"/>
            </a:pPr>
            <a:r>
              <a:rPr sz="2100" b="0" i="0">
                <a:solidFill>
                  <a:srgbClr val="0F1C3F"/>
                </a:solidFill>
                <a:latin typeface="Helvetica"/>
              </a:rPr>
              <a:t>CLIP ViT-L/14, batch 512</a:t>
            </a:r>
          </a:p>
          <a:p>
            <a:pPr marL="292608" indent="-292608">
              <a:lnSpc>
                <a:spcPct val="108000"/>
              </a:lnSpc>
              <a:spcAft>
                <a:spcPts val="600"/>
              </a:spcAft>
              <a:buClr>
                <a:srgbClr val="1E6FE8"/>
              </a:buClr>
              <a:buFont typeface="Helvetica"/>
              <a:buChar char="•"/>
            </a:pPr>
            <a:r>
              <a:rPr sz="2100" b="0" i="0">
                <a:solidFill>
                  <a:srgbClr val="0F1C3F"/>
                </a:solidFill>
                <a:latin typeface="Helvetica"/>
              </a:rPr>
              <a:t>5.000 bước, 3 seed mỗi biến thể</a:t>
            </a:r>
          </a:p>
        </p:txBody>
      </p:sp>
      <p:sp>
        <p:nvSpPr>
          <p:cNvPr id="9" name="Rounded Rectangle 8"/>
          <p:cNvSpPr/>
          <p:nvPr/>
        </p:nvSpPr>
        <p:spPr>
          <a:xfrm>
            <a:off x="4343400" y="1737360"/>
            <a:ext cx="3566160" cy="342900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0" name="TextBox 9"/>
          <p:cNvSpPr txBox="1"/>
          <p:nvPr/>
        </p:nvSpPr>
        <p:spPr>
          <a:xfrm>
            <a:off x="4572000" y="1901952"/>
            <a:ext cx="3108960" cy="502920"/>
          </a:xfrm>
          <a:prstGeom prst="rect">
            <a:avLst/>
          </a:prstGeom>
          <a:noFill/>
        </p:spPr>
        <p:txBody>
          <a:bodyPr wrap="square" lIns="45720" tIns="27432" rIns="45720" bIns="27432" anchor="t">
            <a:spAutoFit/>
          </a:bodyPr>
          <a:lstStyle/>
          <a:p>
            <a:pPr algn="l">
              <a:lnSpc>
                <a:spcPct val="110000"/>
              </a:lnSpc>
            </a:pPr>
            <a:r>
              <a:rPr sz="2200" b="1" i="0">
                <a:solidFill>
                  <a:srgbClr val="144FB0"/>
                </a:solidFill>
                <a:latin typeface="Helvetica"/>
              </a:rPr>
              <a:t>Đánh giá</a:t>
            </a:r>
          </a:p>
        </p:txBody>
      </p:sp>
      <p:sp>
        <p:nvSpPr>
          <p:cNvPr id="11" name="TextBox 10"/>
          <p:cNvSpPr txBox="1"/>
          <p:nvPr/>
        </p:nvSpPr>
        <p:spPr>
          <a:xfrm>
            <a:off x="4572000" y="2468880"/>
            <a:ext cx="3108960" cy="224028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FashionIQ val (3 nhóm sản phẩm)</a:t>
            </a:r>
          </a:p>
          <a:p>
            <a:pPr marL="292608" indent="-292608">
              <a:lnSpc>
                <a:spcPct val="108000"/>
              </a:lnSpc>
              <a:spcAft>
                <a:spcPts val="600"/>
              </a:spcAft>
              <a:buClr>
                <a:srgbClr val="1E6FE8"/>
              </a:buClr>
              <a:buFont typeface="Helvetica"/>
              <a:buChar char="•"/>
            </a:pPr>
            <a:r>
              <a:rPr sz="2100" b="0" i="0">
                <a:solidFill>
                  <a:srgbClr val="0F1C3F"/>
                </a:solidFill>
                <a:latin typeface="Helvetica"/>
              </a:rPr>
              <a:t>CIRCO val (220 truy vấn)</a:t>
            </a:r>
          </a:p>
          <a:p>
            <a:pPr marL="292608" indent="-292608">
              <a:lnSpc>
                <a:spcPct val="108000"/>
              </a:lnSpc>
              <a:spcAft>
                <a:spcPts val="600"/>
              </a:spcAft>
              <a:buClr>
                <a:srgbClr val="1E6FE8"/>
              </a:buClr>
              <a:buFont typeface="Helvetica"/>
              <a:buChar char="•"/>
            </a:pPr>
            <a:r>
              <a:rPr sz="2100" b="0" i="0">
                <a:solidFill>
                  <a:srgbClr val="0F1C3F"/>
                </a:solidFill>
                <a:latin typeface="Helvetica"/>
              </a:rPr>
              <a:t>Kiểm định bootstrap và Wilcoxon theo từng truy vấn</a:t>
            </a:r>
          </a:p>
        </p:txBody>
      </p:sp>
      <p:sp>
        <p:nvSpPr>
          <p:cNvPr id="12" name="Rounded Rectangle 11"/>
          <p:cNvSpPr/>
          <p:nvPr/>
        </p:nvSpPr>
        <p:spPr>
          <a:xfrm>
            <a:off x="8138160" y="1737360"/>
            <a:ext cx="3566160" cy="3429000"/>
          </a:xfrm>
          <a:prstGeom prst="roundRect">
            <a:avLst>
              <a:gd name="adj" fmla="val 8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13" name="TextBox 12"/>
          <p:cNvSpPr txBox="1"/>
          <p:nvPr/>
        </p:nvSpPr>
        <p:spPr>
          <a:xfrm>
            <a:off x="8366760" y="1901952"/>
            <a:ext cx="3108960" cy="502920"/>
          </a:xfrm>
          <a:prstGeom prst="rect">
            <a:avLst/>
          </a:prstGeom>
          <a:noFill/>
        </p:spPr>
        <p:txBody>
          <a:bodyPr wrap="square" lIns="45720" tIns="27432" rIns="45720" bIns="27432" anchor="t">
            <a:spAutoFit/>
          </a:bodyPr>
          <a:lstStyle/>
          <a:p>
            <a:pPr algn="l">
              <a:lnSpc>
                <a:spcPct val="110000"/>
              </a:lnSpc>
            </a:pPr>
            <a:r>
              <a:rPr sz="2200" b="1" i="0">
                <a:solidFill>
                  <a:srgbClr val="144FB0"/>
                </a:solidFill>
                <a:latin typeface="Helvetica"/>
              </a:rPr>
              <a:t>Vận hành Kaggle</a:t>
            </a:r>
          </a:p>
        </p:txBody>
      </p:sp>
      <p:sp>
        <p:nvSpPr>
          <p:cNvPr id="14" name="TextBox 13"/>
          <p:cNvSpPr txBox="1"/>
          <p:nvPr/>
        </p:nvSpPr>
        <p:spPr>
          <a:xfrm>
            <a:off x="8366760" y="2468880"/>
            <a:ext cx="3108960" cy="224028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2 GPU T4, mỗi GPU một lần chạy</a:t>
            </a:r>
          </a:p>
          <a:p>
            <a:pPr marL="292608" indent="-292608">
              <a:lnSpc>
                <a:spcPct val="108000"/>
              </a:lnSpc>
              <a:spcAft>
                <a:spcPts val="600"/>
              </a:spcAft>
              <a:buClr>
                <a:srgbClr val="1E6FE8"/>
              </a:buClr>
              <a:buFont typeface="Helvetica"/>
              <a:buChar char="•"/>
            </a:pPr>
            <a:r>
              <a:rPr sz="2100" b="0" i="0">
                <a:solidFill>
                  <a:srgbClr val="0F1C3F"/>
                </a:solidFill>
                <a:latin typeface="Helvetica"/>
              </a:rPr>
              <a:t>Không vượt 12 giờ mỗi phiên</a:t>
            </a:r>
          </a:p>
          <a:p>
            <a:pPr marL="292608" indent="-292608">
              <a:lnSpc>
                <a:spcPct val="108000"/>
              </a:lnSpc>
              <a:spcAft>
                <a:spcPts val="600"/>
              </a:spcAft>
              <a:buClr>
                <a:srgbClr val="1E6FE8"/>
              </a:buClr>
              <a:buFont typeface="Helvetica"/>
              <a:buChar char="•"/>
            </a:pPr>
            <a:r>
              <a:rPr sz="2100" b="0" i="0">
                <a:solidFill>
                  <a:srgbClr val="0F1C3F"/>
                </a:solidFill>
                <a:latin typeface="Helvetica"/>
              </a:rPr>
              <a:t>Nạp dữ liệu nhanh gấp 3,1 lần</a:t>
            </a:r>
          </a:p>
        </p:txBody>
      </p:sp>
      <p:sp>
        <p:nvSpPr>
          <p:cNvPr id="15" name="TextBox 14"/>
          <p:cNvSpPr txBox="1"/>
          <p:nvPr/>
        </p:nvSpPr>
        <p:spPr>
          <a:xfrm>
            <a:off x="548640" y="5349240"/>
            <a:ext cx="11064240" cy="822960"/>
          </a:xfrm>
          <a:prstGeom prst="rect">
            <a:avLst/>
          </a:prstGeom>
          <a:noFill/>
        </p:spPr>
        <p:txBody>
          <a:bodyPr wrap="square" lIns="45720" tIns="27432" rIns="45720" bIns="27432" anchor="t">
            <a:spAutoFit/>
          </a:bodyPr>
          <a:lstStyle/>
          <a:p>
            <a:pPr algn="l">
              <a:lnSpc>
                <a:spcPct val="110000"/>
              </a:lnSpc>
            </a:pPr>
            <a:r>
              <a:rPr sz="2200" b="1" i="0">
                <a:solidFill>
                  <a:srgbClr val="144FB0"/>
                </a:solidFill>
                <a:latin typeface="Helvetica"/>
              </a:rPr>
              <a:t>Các biến thể chỉ khác đúng thành phần cải tiến</a:t>
            </a:r>
            <a:r>
              <a:rPr sz="2200" b="0" i="0">
                <a:solidFill>
                  <a:srgbClr val="0F1C3F"/>
                </a:solidFill>
                <a:latin typeface="Helvetica"/>
              </a:rPr>
              <a:t>, nên chênh lệch kết quả là do cải tiến, không do cấu hình</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1.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rb"/>
          <p:cNvSpPr/>
          <p:nvPr/>
        </p:nvSpPr>
        <p:spPr>
          <a:xfrm>
            <a:off x="9875520" y="4480560"/>
            <a:ext cx="3474720" cy="347472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ot"/>
          <p:cNvSpPr/>
          <p:nvPr/>
        </p:nvSpPr>
        <p:spPr>
          <a:xfrm>
            <a:off x="11704320" y="310896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txBox="1"/>
          <p:nvPr/>
        </p:nvSpPr>
        <p:spPr>
          <a:xfrm>
            <a:off x="548640" y="347472"/>
            <a:ext cx="10424160" cy="1143000"/>
          </a:xfrm>
          <a:prstGeom prst="rect">
            <a:avLst/>
          </a:prstGeom>
          <a:noFill/>
        </p:spPr>
        <p:txBody>
          <a:bodyPr wrap="square" lIns="45720" tIns="27432" rIns="45720" bIns="27432" anchor="ctr">
            <a:spAutoFit/>
          </a:bodyPr>
          <a:lstStyle/>
          <a:p>
            <a:pPr algn="l">
              <a:lnSpc>
                <a:spcPct val="110000"/>
              </a:lnSpc>
            </a:pPr>
            <a:r>
              <a:rPr sz="3200" b="1" i="0">
                <a:solidFill>
                  <a:srgbClr val="0F1C3F"/>
                </a:solidFill>
                <a:latin typeface="Helvetica"/>
              </a:rPr>
              <a:t>Checkpoint chính thức tái hiện khớp bài báo, lệch tối đa 0,77 điểm</a:t>
            </a:r>
          </a:p>
        </p:txBody>
      </p:sp>
      <p:sp>
        <p:nvSpPr>
          <p:cNvPr id="5" name="!!num"/>
          <p:cNvSpPr txBox="1"/>
          <p:nvPr/>
        </p:nvSpPr>
        <p:spPr>
          <a:xfrm>
            <a:off x="10881360" y="6236208"/>
            <a:ext cx="914400" cy="457200"/>
          </a:xfrm>
          <a:prstGeom prst="rect">
            <a:avLst/>
          </a:prstGeom>
          <a:noFill/>
        </p:spPr>
        <p:txBody>
          <a:bodyPr wrap="square" lIns="45720" tIns="27432" rIns="45720" bIns="27432" anchor="t">
            <a:spAutoFit/>
          </a:bodyPr>
          <a:lstStyle/>
          <a:p>
            <a:pPr algn="r">
              <a:lnSpc>
                <a:spcPct val="110000"/>
              </a:lnSpc>
            </a:pPr>
            <a:r>
              <a:rPr sz="2000" b="0" i="0">
                <a:solidFill>
                  <a:srgbClr val="5B6B82"/>
                </a:solidFill>
                <a:latin typeface="Helvetica"/>
              </a:rPr>
              <a:t>11</a:t>
            </a:r>
          </a:p>
        </p:txBody>
      </p:sp>
      <p:graphicFrame>
        <p:nvGraphicFramePr>
          <p:cNvPr id="6" name="Table 5"/>
          <p:cNvGraphicFramePr>
            <a:graphicFrameLocks noGrp="1"/>
          </p:cNvGraphicFramePr>
          <p:nvPr/>
        </p:nvGraphicFramePr>
        <p:xfrm>
          <a:off x="548640" y="1783080"/>
          <a:ext cx="11064240" cy="1597152"/>
        </p:xfrm>
        <a:graphic>
          <a:graphicData uri="http://schemas.openxmlformats.org/drawingml/2006/table">
            <a:tbl>
              <a:tblPr firstRow="1" bandRow="1">
                <a:tableStyleId>{5C22544A-7EE6-4342-B048-85BDC9FD1C3A}</a:tableStyleId>
              </a:tblPr>
              <a:tblGrid>
                <a:gridCol w="1920240">
                  <a:extLst>
                    <a:ext uri="{9D8B030D-6E8A-4147-A177-3AD203B41FA5}">
                      <a16:colId xmlns:a16="http://schemas.microsoft.com/office/drawing/2014/main" val="20000"/>
                    </a:ext>
                  </a:extLst>
                </a:gridCol>
                <a:gridCol w="1143000">
                  <a:extLst>
                    <a:ext uri="{9D8B030D-6E8A-4147-A177-3AD203B41FA5}">
                      <a16:colId xmlns:a16="http://schemas.microsoft.com/office/drawing/2014/main" val="20001"/>
                    </a:ext>
                  </a:extLst>
                </a:gridCol>
                <a:gridCol w="1143000">
                  <a:extLst>
                    <a:ext uri="{9D8B030D-6E8A-4147-A177-3AD203B41FA5}">
                      <a16:colId xmlns:a16="http://schemas.microsoft.com/office/drawing/2014/main" val="20002"/>
                    </a:ext>
                  </a:extLst>
                </a:gridCol>
                <a:gridCol w="1143000">
                  <a:extLst>
                    <a:ext uri="{9D8B030D-6E8A-4147-A177-3AD203B41FA5}">
                      <a16:colId xmlns:a16="http://schemas.microsoft.com/office/drawing/2014/main" val="20003"/>
                    </a:ext>
                  </a:extLst>
                </a:gridCol>
                <a:gridCol w="1143000">
                  <a:extLst>
                    <a:ext uri="{9D8B030D-6E8A-4147-A177-3AD203B41FA5}">
                      <a16:colId xmlns:a16="http://schemas.microsoft.com/office/drawing/2014/main" val="20004"/>
                    </a:ext>
                  </a:extLst>
                </a:gridCol>
                <a:gridCol w="1143000">
                  <a:extLst>
                    <a:ext uri="{9D8B030D-6E8A-4147-A177-3AD203B41FA5}">
                      <a16:colId xmlns:a16="http://schemas.microsoft.com/office/drawing/2014/main" val="20005"/>
                    </a:ext>
                  </a:extLst>
                </a:gridCol>
                <a:gridCol w="1143000">
                  <a:extLst>
                    <a:ext uri="{9D8B030D-6E8A-4147-A177-3AD203B41FA5}">
                      <a16:colId xmlns:a16="http://schemas.microsoft.com/office/drawing/2014/main" val="20006"/>
                    </a:ext>
                  </a:extLst>
                </a:gridCol>
                <a:gridCol w="1143000">
                  <a:extLst>
                    <a:ext uri="{9D8B030D-6E8A-4147-A177-3AD203B41FA5}">
                      <a16:colId xmlns:a16="http://schemas.microsoft.com/office/drawing/2014/main" val="20007"/>
                    </a:ext>
                  </a:extLst>
                </a:gridCol>
                <a:gridCol w="1143000">
                  <a:extLst>
                    <a:ext uri="{9D8B030D-6E8A-4147-A177-3AD203B41FA5}">
                      <a16:colId xmlns:a16="http://schemas.microsoft.com/office/drawing/2014/main" val="20008"/>
                    </a:ext>
                  </a:extLst>
                </a:gridCol>
              </a:tblGrid>
              <a:tr h="457200">
                <a:tc>
                  <a:txBody>
                    <a:bodyPr/>
                    <a:lstStyle/>
                    <a:p>
                      <a:pPr algn="l"/>
                      <a:r>
                        <a:rPr sz="2000" b="1" i="0">
                          <a:solidFill>
                            <a:srgbClr val="FFFFFF"/>
                          </a:solidFill>
                          <a:latin typeface="Helvetica"/>
                        </a:rPr>
                        <a:t>FashionIQ val</a:t>
                      </a:r>
                    </a:p>
                  </a:txBody>
                  <a:tcPr marL="73152" marR="73152" marT="36576" marB="36576" anchor="ctr">
                    <a:solidFill>
                      <a:srgbClr val="1E6FE8"/>
                    </a:solidFill>
                  </a:tcPr>
                </a:tc>
                <a:tc>
                  <a:txBody>
                    <a:bodyPr/>
                    <a:lstStyle/>
                    <a:p>
                      <a:pPr algn="ctr"/>
                      <a:r>
                        <a:rPr sz="2000" b="1" i="0">
                          <a:solidFill>
                            <a:srgbClr val="FFFFFF"/>
                          </a:solidFill>
                          <a:latin typeface="Helvetica"/>
                        </a:rPr>
                        <a:t>Dress R@10</a:t>
                      </a:r>
                    </a:p>
                  </a:txBody>
                  <a:tcPr marL="73152" marR="73152" marT="36576" marB="36576" anchor="ctr">
                    <a:solidFill>
                      <a:srgbClr val="1E6FE8"/>
                    </a:solidFill>
                  </a:tcPr>
                </a:tc>
                <a:tc>
                  <a:txBody>
                    <a:bodyPr/>
                    <a:lstStyle/>
                    <a:p>
                      <a:pPr algn="ctr"/>
                      <a:r>
                        <a:rPr sz="2000" b="1" i="0">
                          <a:solidFill>
                            <a:srgbClr val="FFFFFF"/>
                          </a:solidFill>
                          <a:latin typeface="Helvetica"/>
                        </a:rPr>
                        <a:t>Dress R@50</a:t>
                      </a:r>
                    </a:p>
                  </a:txBody>
                  <a:tcPr marL="73152" marR="73152" marT="36576" marB="36576" anchor="ctr">
                    <a:solidFill>
                      <a:srgbClr val="1E6FE8"/>
                    </a:solidFill>
                  </a:tcPr>
                </a:tc>
                <a:tc>
                  <a:txBody>
                    <a:bodyPr/>
                    <a:lstStyle/>
                    <a:p>
                      <a:pPr algn="ctr"/>
                      <a:r>
                        <a:rPr sz="2000" b="1" i="0">
                          <a:solidFill>
                            <a:srgbClr val="FFFFFF"/>
                          </a:solidFill>
                          <a:latin typeface="Helvetica"/>
                        </a:rPr>
                        <a:t>Shirt R@10</a:t>
                      </a:r>
                    </a:p>
                  </a:txBody>
                  <a:tcPr marL="73152" marR="73152" marT="36576" marB="36576" anchor="ctr">
                    <a:solidFill>
                      <a:srgbClr val="1E6FE8"/>
                    </a:solidFill>
                  </a:tcPr>
                </a:tc>
                <a:tc>
                  <a:txBody>
                    <a:bodyPr/>
                    <a:lstStyle/>
                    <a:p>
                      <a:pPr algn="ctr"/>
                      <a:r>
                        <a:rPr sz="2000" b="1" i="0">
                          <a:solidFill>
                            <a:srgbClr val="FFFFFF"/>
                          </a:solidFill>
                          <a:latin typeface="Helvetica"/>
                        </a:rPr>
                        <a:t>Shirt R@50</a:t>
                      </a:r>
                    </a:p>
                  </a:txBody>
                  <a:tcPr marL="73152" marR="73152" marT="36576" marB="36576" anchor="ctr">
                    <a:solidFill>
                      <a:srgbClr val="1E6FE8"/>
                    </a:solidFill>
                  </a:tcPr>
                </a:tc>
                <a:tc>
                  <a:txBody>
                    <a:bodyPr/>
                    <a:lstStyle/>
                    <a:p>
                      <a:pPr algn="ctr"/>
                      <a:r>
                        <a:rPr sz="2000" b="1" i="0">
                          <a:solidFill>
                            <a:srgbClr val="FFFFFF"/>
                          </a:solidFill>
                          <a:latin typeface="Helvetica"/>
                        </a:rPr>
                        <a:t>Toptee R@10</a:t>
                      </a:r>
                    </a:p>
                  </a:txBody>
                  <a:tcPr marL="73152" marR="73152" marT="36576" marB="36576" anchor="ctr">
                    <a:solidFill>
                      <a:srgbClr val="1E6FE8"/>
                    </a:solidFill>
                  </a:tcPr>
                </a:tc>
                <a:tc>
                  <a:txBody>
                    <a:bodyPr/>
                    <a:lstStyle/>
                    <a:p>
                      <a:pPr algn="ctr"/>
                      <a:r>
                        <a:rPr sz="2000" b="1" i="0">
                          <a:solidFill>
                            <a:srgbClr val="FFFFFF"/>
                          </a:solidFill>
                          <a:latin typeface="Helvetica"/>
                        </a:rPr>
                        <a:t>Toptee R@50</a:t>
                      </a:r>
                    </a:p>
                  </a:txBody>
                  <a:tcPr marL="73152" marR="73152" marT="36576" marB="36576" anchor="ctr">
                    <a:solidFill>
                      <a:srgbClr val="1E6FE8"/>
                    </a:solidFill>
                  </a:tcPr>
                </a:tc>
                <a:tc>
                  <a:txBody>
                    <a:bodyPr/>
                    <a:lstStyle/>
                    <a:p>
                      <a:pPr algn="ctr"/>
                      <a:r>
                        <a:rPr sz="2000" b="1" i="0">
                          <a:solidFill>
                            <a:srgbClr val="FFFFFF"/>
                          </a:solidFill>
                          <a:latin typeface="Helvetica"/>
                        </a:rPr>
                        <a:t>TB R@10</a:t>
                      </a:r>
                    </a:p>
                  </a:txBody>
                  <a:tcPr marL="73152" marR="73152" marT="36576" marB="36576" anchor="ctr">
                    <a:solidFill>
                      <a:srgbClr val="1E6FE8"/>
                    </a:solidFill>
                  </a:tcPr>
                </a:tc>
                <a:tc>
                  <a:txBody>
                    <a:bodyPr/>
                    <a:lstStyle/>
                    <a:p>
                      <a:pPr algn="ctr"/>
                      <a:r>
                        <a:rPr sz="2000" b="1" i="0">
                          <a:solidFill>
                            <a:srgbClr val="FFFFFF"/>
                          </a:solidFill>
                          <a:latin typeface="Helvetica"/>
                        </a:rPr>
                        <a:t>TB R@50</a:t>
                      </a:r>
                    </a:p>
                  </a:txBody>
                  <a:tcPr marL="73152" marR="73152" marT="36576" marB="36576" anchor="ctr">
                    <a:solidFill>
                      <a:srgbClr val="1E6FE8"/>
                    </a:solidFill>
                  </a:tcPr>
                </a:tc>
                <a:extLst>
                  <a:ext uri="{0D108BD9-81ED-4DB2-BD59-A6C34878D82A}">
                    <a16:rowId xmlns:a16="http://schemas.microsoft.com/office/drawing/2014/main" val="10000"/>
                  </a:ext>
                </a:extLst>
              </a:tr>
              <a:tr h="457200">
                <a:tc>
                  <a:txBody>
                    <a:bodyPr/>
                    <a:lstStyle/>
                    <a:p>
                      <a:pPr algn="l"/>
                      <a:r>
                        <a:rPr sz="2000" b="0" i="0">
                          <a:solidFill>
                            <a:srgbClr val="0F1C3F"/>
                          </a:solidFill>
                          <a:latin typeface="Helvetica"/>
                        </a:rPr>
                        <a:t>Bài báo</a:t>
                      </a:r>
                    </a:p>
                  </a:txBody>
                  <a:tcPr marL="73152" marR="73152" marT="36576" marB="36576" anchor="ctr">
                    <a:solidFill>
                      <a:srgbClr val="FFFFFF"/>
                    </a:solidFill>
                  </a:tcPr>
                </a:tc>
                <a:tc>
                  <a:txBody>
                    <a:bodyPr/>
                    <a:lstStyle/>
                    <a:p>
                      <a:pPr algn="ctr"/>
                      <a:r>
                        <a:rPr sz="2000" b="0" i="0">
                          <a:solidFill>
                            <a:srgbClr val="0F1C3F"/>
                          </a:solidFill>
                          <a:latin typeface="Helvetica"/>
                        </a:rPr>
                        <a:t>20,92</a:t>
                      </a:r>
                    </a:p>
                  </a:txBody>
                  <a:tcPr marL="73152" marR="73152" marT="36576" marB="36576" anchor="ctr">
                    <a:solidFill>
                      <a:srgbClr val="FFFFFF"/>
                    </a:solidFill>
                  </a:tcPr>
                </a:tc>
                <a:tc>
                  <a:txBody>
                    <a:bodyPr/>
                    <a:lstStyle/>
                    <a:p>
                      <a:pPr algn="ctr"/>
                      <a:r>
                        <a:rPr sz="2000" b="0" i="0">
                          <a:solidFill>
                            <a:srgbClr val="0F1C3F"/>
                          </a:solidFill>
                          <a:latin typeface="Helvetica"/>
                        </a:rPr>
                        <a:t>42,44</a:t>
                      </a:r>
                    </a:p>
                  </a:txBody>
                  <a:tcPr marL="73152" marR="73152" marT="36576" marB="36576" anchor="ctr">
                    <a:solidFill>
                      <a:srgbClr val="FFFFFF"/>
                    </a:solidFill>
                  </a:tcPr>
                </a:tc>
                <a:tc>
                  <a:txBody>
                    <a:bodyPr/>
                    <a:lstStyle/>
                    <a:p>
                      <a:pPr algn="ctr"/>
                      <a:r>
                        <a:rPr sz="2000" b="0" i="0">
                          <a:solidFill>
                            <a:srgbClr val="0F1C3F"/>
                          </a:solidFill>
                          <a:latin typeface="Helvetica"/>
                        </a:rPr>
                        <a:t>29,10</a:t>
                      </a:r>
                    </a:p>
                  </a:txBody>
                  <a:tcPr marL="73152" marR="73152" marT="36576" marB="36576" anchor="ctr">
                    <a:solidFill>
                      <a:srgbClr val="FFFFFF"/>
                    </a:solidFill>
                  </a:tcPr>
                </a:tc>
                <a:tc>
                  <a:txBody>
                    <a:bodyPr/>
                    <a:lstStyle/>
                    <a:p>
                      <a:pPr algn="ctr"/>
                      <a:r>
                        <a:rPr sz="2000" b="0" i="0">
                          <a:solidFill>
                            <a:srgbClr val="0F1C3F"/>
                          </a:solidFill>
                          <a:latin typeface="Helvetica"/>
                        </a:rPr>
                        <a:t>46,81</a:t>
                      </a:r>
                    </a:p>
                  </a:txBody>
                  <a:tcPr marL="73152" marR="73152" marT="36576" marB="36576" anchor="ctr">
                    <a:solidFill>
                      <a:srgbClr val="FFFFFF"/>
                    </a:solidFill>
                  </a:tcPr>
                </a:tc>
                <a:tc>
                  <a:txBody>
                    <a:bodyPr/>
                    <a:lstStyle/>
                    <a:p>
                      <a:pPr algn="ctr"/>
                      <a:r>
                        <a:rPr sz="2000" b="0" i="0">
                          <a:solidFill>
                            <a:srgbClr val="0F1C3F"/>
                          </a:solidFill>
                          <a:latin typeface="Helvetica"/>
                        </a:rPr>
                        <a:t>28,81</a:t>
                      </a:r>
                    </a:p>
                  </a:txBody>
                  <a:tcPr marL="73152" marR="73152" marT="36576" marB="36576" anchor="ctr">
                    <a:solidFill>
                      <a:srgbClr val="FFFFFF"/>
                    </a:solidFill>
                  </a:tcPr>
                </a:tc>
                <a:tc>
                  <a:txBody>
                    <a:bodyPr/>
                    <a:lstStyle/>
                    <a:p>
                      <a:pPr algn="ctr"/>
                      <a:r>
                        <a:rPr sz="2000" b="0" i="0">
                          <a:solidFill>
                            <a:srgbClr val="0F1C3F"/>
                          </a:solidFill>
                          <a:latin typeface="Helvetica"/>
                        </a:rPr>
                        <a:t>50,18</a:t>
                      </a:r>
                    </a:p>
                  </a:txBody>
                  <a:tcPr marL="73152" marR="73152" marT="36576" marB="36576" anchor="ctr">
                    <a:solidFill>
                      <a:srgbClr val="FFFFFF"/>
                    </a:solidFill>
                  </a:tcPr>
                </a:tc>
                <a:tc>
                  <a:txBody>
                    <a:bodyPr/>
                    <a:lstStyle/>
                    <a:p>
                      <a:pPr algn="ctr"/>
                      <a:r>
                        <a:rPr sz="2000" b="0" i="0">
                          <a:solidFill>
                            <a:srgbClr val="0F1C3F"/>
                          </a:solidFill>
                          <a:latin typeface="Helvetica"/>
                        </a:rPr>
                        <a:t>26,28</a:t>
                      </a:r>
                    </a:p>
                  </a:txBody>
                  <a:tcPr marL="73152" marR="73152" marT="36576" marB="36576" anchor="ctr">
                    <a:solidFill>
                      <a:srgbClr val="FFFFFF"/>
                    </a:solidFill>
                  </a:tcPr>
                </a:tc>
                <a:tc>
                  <a:txBody>
                    <a:bodyPr/>
                    <a:lstStyle/>
                    <a:p>
                      <a:pPr algn="ctr"/>
                      <a:r>
                        <a:rPr sz="2000" b="0" i="0">
                          <a:solidFill>
                            <a:srgbClr val="0F1C3F"/>
                          </a:solidFill>
                          <a:latin typeface="Helvetica"/>
                        </a:rPr>
                        <a:t>46,49</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pPr algn="l"/>
                      <a:r>
                        <a:rPr sz="2000" b="1" i="0">
                          <a:solidFill>
                            <a:srgbClr val="0F1C3F"/>
                          </a:solidFill>
                          <a:latin typeface="Helvetica"/>
                        </a:rPr>
                        <a:t>Nhóm chạy lại</a:t>
                      </a:r>
                    </a:p>
                  </a:txBody>
                  <a:tcPr marL="73152" marR="73152" marT="36576" marB="36576" anchor="ctr">
                    <a:solidFill>
                      <a:srgbClr val="EAF2FF"/>
                    </a:solidFill>
                  </a:tcPr>
                </a:tc>
                <a:tc>
                  <a:txBody>
                    <a:bodyPr/>
                    <a:lstStyle/>
                    <a:p>
                      <a:pPr algn="ctr"/>
                      <a:r>
                        <a:rPr sz="2000" b="1" i="0">
                          <a:solidFill>
                            <a:srgbClr val="0F1C3F"/>
                          </a:solidFill>
                          <a:latin typeface="Helvetica"/>
                        </a:rPr>
                        <a:t>21,32</a:t>
                      </a:r>
                    </a:p>
                  </a:txBody>
                  <a:tcPr marL="73152" marR="73152" marT="36576" marB="36576" anchor="ctr">
                    <a:solidFill>
                      <a:srgbClr val="EAF2FF"/>
                    </a:solidFill>
                  </a:tcPr>
                </a:tc>
                <a:tc>
                  <a:txBody>
                    <a:bodyPr/>
                    <a:lstStyle/>
                    <a:p>
                      <a:pPr algn="ctr"/>
                      <a:r>
                        <a:rPr sz="2000" b="1" i="0">
                          <a:solidFill>
                            <a:srgbClr val="0F1C3F"/>
                          </a:solidFill>
                          <a:latin typeface="Helvetica"/>
                        </a:rPr>
                        <a:t>42,19</a:t>
                      </a:r>
                    </a:p>
                  </a:txBody>
                  <a:tcPr marL="73152" marR="73152" marT="36576" marB="36576" anchor="ctr">
                    <a:solidFill>
                      <a:srgbClr val="EAF2FF"/>
                    </a:solidFill>
                  </a:tcPr>
                </a:tc>
                <a:tc>
                  <a:txBody>
                    <a:bodyPr/>
                    <a:lstStyle/>
                    <a:p>
                      <a:pPr algn="ctr"/>
                      <a:r>
                        <a:rPr sz="2000" b="1" i="0">
                          <a:solidFill>
                            <a:srgbClr val="0F1C3F"/>
                          </a:solidFill>
                          <a:latin typeface="Helvetica"/>
                        </a:rPr>
                        <a:t>28,70</a:t>
                      </a:r>
                    </a:p>
                  </a:txBody>
                  <a:tcPr marL="73152" marR="73152" marT="36576" marB="36576" anchor="ctr">
                    <a:solidFill>
                      <a:srgbClr val="EAF2FF"/>
                    </a:solidFill>
                  </a:tcPr>
                </a:tc>
                <a:tc>
                  <a:txBody>
                    <a:bodyPr/>
                    <a:lstStyle/>
                    <a:p>
                      <a:pPr algn="ctr"/>
                      <a:r>
                        <a:rPr sz="2000" b="1" i="0">
                          <a:solidFill>
                            <a:srgbClr val="0F1C3F"/>
                          </a:solidFill>
                          <a:latin typeface="Helvetica"/>
                        </a:rPr>
                        <a:t>46,76</a:t>
                      </a:r>
                    </a:p>
                  </a:txBody>
                  <a:tcPr marL="73152" marR="73152" marT="36576" marB="36576" anchor="ctr">
                    <a:solidFill>
                      <a:srgbClr val="EAF2FF"/>
                    </a:solidFill>
                  </a:tcPr>
                </a:tc>
                <a:tc>
                  <a:txBody>
                    <a:bodyPr/>
                    <a:lstStyle/>
                    <a:p>
                      <a:pPr algn="ctr"/>
                      <a:r>
                        <a:rPr sz="2000" b="1" i="0">
                          <a:solidFill>
                            <a:srgbClr val="0F1C3F"/>
                          </a:solidFill>
                          <a:latin typeface="Helvetica"/>
                        </a:rPr>
                        <a:t>29,02</a:t>
                      </a:r>
                    </a:p>
                  </a:txBody>
                  <a:tcPr marL="73152" marR="73152" marT="36576" marB="36576" anchor="ctr">
                    <a:solidFill>
                      <a:srgbClr val="EAF2FF"/>
                    </a:solidFill>
                  </a:tcPr>
                </a:tc>
                <a:tc>
                  <a:txBody>
                    <a:bodyPr/>
                    <a:lstStyle/>
                    <a:p>
                      <a:pPr algn="ctr"/>
                      <a:r>
                        <a:rPr sz="2000" b="1" i="0">
                          <a:solidFill>
                            <a:srgbClr val="0F1C3F"/>
                          </a:solidFill>
                          <a:latin typeface="Helvetica"/>
                        </a:rPr>
                        <a:t>49,41</a:t>
                      </a:r>
                    </a:p>
                  </a:txBody>
                  <a:tcPr marL="73152" marR="73152" marT="36576" marB="36576" anchor="ctr">
                    <a:solidFill>
                      <a:srgbClr val="EAF2FF"/>
                    </a:solidFill>
                  </a:tcPr>
                </a:tc>
                <a:tc>
                  <a:txBody>
                    <a:bodyPr/>
                    <a:lstStyle/>
                    <a:p>
                      <a:pPr algn="ctr"/>
                      <a:r>
                        <a:rPr sz="2000" b="1" i="0">
                          <a:solidFill>
                            <a:srgbClr val="0F1C3F"/>
                          </a:solidFill>
                          <a:latin typeface="Helvetica"/>
                        </a:rPr>
                        <a:t>26,35</a:t>
                      </a:r>
                    </a:p>
                  </a:txBody>
                  <a:tcPr marL="73152" marR="73152" marT="36576" marB="36576" anchor="ctr">
                    <a:solidFill>
                      <a:srgbClr val="EAF2FF"/>
                    </a:solidFill>
                  </a:tcPr>
                </a:tc>
                <a:tc>
                  <a:txBody>
                    <a:bodyPr/>
                    <a:lstStyle/>
                    <a:p>
                      <a:pPr algn="ctr"/>
                      <a:r>
                        <a:rPr sz="2000" b="1" i="0">
                          <a:solidFill>
                            <a:srgbClr val="0F1C3F"/>
                          </a:solidFill>
                          <a:latin typeface="Helvetica"/>
                        </a:rPr>
                        <a:t>46,12</a:t>
                      </a:r>
                    </a:p>
                  </a:txBody>
                  <a:tcPr marL="73152" marR="73152" marT="36576" marB="36576" anchor="ctr">
                    <a:solidFill>
                      <a:srgbClr val="EAF2FF"/>
                    </a:solidFill>
                  </a:tcPr>
                </a:tc>
                <a:extLst>
                  <a:ext uri="{0D108BD9-81ED-4DB2-BD59-A6C34878D82A}">
                    <a16:rowId xmlns:a16="http://schemas.microsoft.com/office/drawing/2014/main" val="10002"/>
                  </a:ext>
                </a:extLst>
              </a:tr>
            </a:tbl>
          </a:graphicData>
        </a:graphic>
      </p:graphicFrame>
      <p:sp>
        <p:nvSpPr>
          <p:cNvPr id="7" name="TextBox 6"/>
          <p:cNvSpPr txBox="1"/>
          <p:nvPr/>
        </p:nvSpPr>
        <p:spPr>
          <a:xfrm>
            <a:off x="731520" y="3840480"/>
            <a:ext cx="3383280" cy="868680"/>
          </a:xfrm>
          <a:prstGeom prst="rect">
            <a:avLst/>
          </a:prstGeom>
          <a:noFill/>
        </p:spPr>
        <p:txBody>
          <a:bodyPr wrap="square" lIns="45720" tIns="27432" rIns="45720" bIns="27432" anchor="t">
            <a:spAutoFit/>
          </a:bodyPr>
          <a:lstStyle/>
          <a:p>
            <a:pPr algn="l">
              <a:lnSpc>
                <a:spcPct val="110000"/>
              </a:lnSpc>
            </a:pPr>
            <a:r>
              <a:rPr sz="4800" b="1" i="0">
                <a:solidFill>
                  <a:srgbClr val="1E6FE8"/>
                </a:solidFill>
                <a:latin typeface="Helvetica"/>
              </a:rPr>
              <a:t>0,77</a:t>
            </a:r>
          </a:p>
        </p:txBody>
      </p:sp>
      <p:sp>
        <p:nvSpPr>
          <p:cNvPr id="8" name="TextBox 7"/>
          <p:cNvSpPr txBox="1"/>
          <p:nvPr/>
        </p:nvSpPr>
        <p:spPr>
          <a:xfrm>
            <a:off x="731520" y="4709160"/>
            <a:ext cx="3383280" cy="777240"/>
          </a:xfrm>
          <a:prstGeom prst="rect">
            <a:avLst/>
          </a:prstGeom>
          <a:noFill/>
        </p:spPr>
        <p:txBody>
          <a:bodyPr wrap="square" lIns="45720" tIns="27432" rIns="45720" bIns="27432" anchor="t">
            <a:spAutoFit/>
          </a:bodyPr>
          <a:lstStyle/>
          <a:p>
            <a:pPr algn="l">
              <a:lnSpc>
                <a:spcPct val="110000"/>
              </a:lnSpc>
            </a:pPr>
            <a:r>
              <a:rPr sz="2000" b="0" i="0">
                <a:solidFill>
                  <a:srgbClr val="5B6B82"/>
                </a:solidFill>
                <a:latin typeface="Helvetica"/>
              </a:rPr>
              <a:t>điểm lệch lớn nhất so với bài báo</a:t>
            </a:r>
          </a:p>
        </p:txBody>
      </p:sp>
      <p:sp>
        <p:nvSpPr>
          <p:cNvPr id="9" name="TextBox 8"/>
          <p:cNvSpPr txBox="1"/>
          <p:nvPr/>
        </p:nvSpPr>
        <p:spPr>
          <a:xfrm>
            <a:off x="4297680" y="3840480"/>
            <a:ext cx="3566160" cy="868680"/>
          </a:xfrm>
          <a:prstGeom prst="rect">
            <a:avLst/>
          </a:prstGeom>
          <a:noFill/>
        </p:spPr>
        <p:txBody>
          <a:bodyPr wrap="square" lIns="45720" tIns="27432" rIns="45720" bIns="27432" anchor="t">
            <a:spAutoFit/>
          </a:bodyPr>
          <a:lstStyle/>
          <a:p>
            <a:pPr algn="l">
              <a:lnSpc>
                <a:spcPct val="110000"/>
              </a:lnSpc>
            </a:pPr>
            <a:r>
              <a:rPr sz="4800" b="1" i="0">
                <a:solidFill>
                  <a:srgbClr val="1E6FE8"/>
                </a:solidFill>
                <a:latin typeface="Helvetica"/>
              </a:rPr>
              <a:t>10,50</a:t>
            </a:r>
          </a:p>
        </p:txBody>
      </p:sp>
      <p:sp>
        <p:nvSpPr>
          <p:cNvPr id="10" name="TextBox 9"/>
          <p:cNvSpPr txBox="1"/>
          <p:nvPr/>
        </p:nvSpPr>
        <p:spPr>
          <a:xfrm>
            <a:off x="4297680" y="4709160"/>
            <a:ext cx="3566160" cy="777240"/>
          </a:xfrm>
          <a:prstGeom prst="rect">
            <a:avLst/>
          </a:prstGeom>
          <a:noFill/>
        </p:spPr>
        <p:txBody>
          <a:bodyPr wrap="square" lIns="45720" tIns="27432" rIns="45720" bIns="27432" anchor="t">
            <a:spAutoFit/>
          </a:bodyPr>
          <a:lstStyle/>
          <a:p>
            <a:pPr algn="l">
              <a:lnSpc>
                <a:spcPct val="110000"/>
              </a:lnSpc>
            </a:pPr>
            <a:r>
              <a:rPr sz="2000" b="0" i="0">
                <a:solidFill>
                  <a:srgbClr val="5B6B82"/>
                </a:solidFill>
                <a:latin typeface="Helvetica"/>
              </a:rPr>
              <a:t>CIRCO val mAP@5 của checkpoint, dùng làm mốc</a:t>
            </a:r>
          </a:p>
        </p:txBody>
      </p:sp>
      <p:sp>
        <p:nvSpPr>
          <p:cNvPr id="11" name="TextBox 10"/>
          <p:cNvSpPr txBox="1"/>
          <p:nvPr/>
        </p:nvSpPr>
        <p:spPr>
          <a:xfrm>
            <a:off x="8046720" y="3840480"/>
            <a:ext cx="3566160" cy="868680"/>
          </a:xfrm>
          <a:prstGeom prst="rect">
            <a:avLst/>
          </a:prstGeom>
          <a:noFill/>
        </p:spPr>
        <p:txBody>
          <a:bodyPr wrap="square" lIns="45720" tIns="27432" rIns="45720" bIns="27432" anchor="t">
            <a:spAutoFit/>
          </a:bodyPr>
          <a:lstStyle/>
          <a:p>
            <a:pPr algn="l">
              <a:lnSpc>
                <a:spcPct val="110000"/>
              </a:lnSpc>
            </a:pPr>
            <a:r>
              <a:rPr sz="4800" b="1" i="0">
                <a:solidFill>
                  <a:srgbClr val="1E6FE8"/>
                </a:solidFill>
                <a:latin typeface="Helvetica"/>
              </a:rPr>
              <a:t>100%</a:t>
            </a:r>
          </a:p>
        </p:txBody>
      </p:sp>
      <p:sp>
        <p:nvSpPr>
          <p:cNvPr id="12" name="TextBox 11"/>
          <p:cNvSpPr txBox="1"/>
          <p:nvPr/>
        </p:nvSpPr>
        <p:spPr>
          <a:xfrm>
            <a:off x="8046720" y="4709160"/>
            <a:ext cx="3566160" cy="777240"/>
          </a:xfrm>
          <a:prstGeom prst="rect">
            <a:avLst/>
          </a:prstGeom>
          <a:noFill/>
        </p:spPr>
        <p:txBody>
          <a:bodyPr wrap="square" lIns="45720" tIns="27432" rIns="45720" bIns="27432" anchor="t">
            <a:spAutoFit/>
          </a:bodyPr>
          <a:lstStyle/>
          <a:p>
            <a:pPr algn="l">
              <a:lnSpc>
                <a:spcPct val="110000"/>
              </a:lnSpc>
            </a:pPr>
            <a:r>
              <a:rPr sz="2000" b="0" i="0">
                <a:solidFill>
                  <a:srgbClr val="5B6B82"/>
                </a:solidFill>
                <a:latin typeface="Helvetica"/>
              </a:rPr>
              <a:t>thứ hạng từng truy vấn giống hệt khi chạy lại</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2.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rb"/>
          <p:cNvSpPr/>
          <p:nvPr/>
        </p:nvSpPr>
        <p:spPr>
          <a:xfrm>
            <a:off x="10241280" y="-2194560"/>
            <a:ext cx="4023360" cy="402336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ot"/>
          <p:cNvSpPr/>
          <p:nvPr/>
        </p:nvSpPr>
        <p:spPr>
          <a:xfrm>
            <a:off x="11247120" y="50292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txBox="1"/>
          <p:nvPr/>
        </p:nvSpPr>
        <p:spPr>
          <a:xfrm>
            <a:off x="548640" y="347472"/>
            <a:ext cx="10424160" cy="1143000"/>
          </a:xfrm>
          <a:prstGeom prst="rect">
            <a:avLst/>
          </a:prstGeom>
          <a:noFill/>
        </p:spPr>
        <p:txBody>
          <a:bodyPr wrap="square" lIns="45720" tIns="27432" rIns="45720" bIns="27432" anchor="ctr">
            <a:spAutoFit/>
          </a:bodyPr>
          <a:lstStyle/>
          <a:p>
            <a:pPr algn="l">
              <a:lnSpc>
                <a:spcPct val="110000"/>
              </a:lnSpc>
            </a:pPr>
            <a:r>
              <a:rPr sz="3200" b="1" i="0">
                <a:solidFill>
                  <a:srgbClr val="0F1C3F"/>
                </a:solidFill>
                <a:latin typeface="Helvetica"/>
              </a:rPr>
              <a:t>Nhiễu có hướng (B) tốt hơn LinCIR, InfoNCE (A) làm giảm hiệu năng</a:t>
            </a:r>
          </a:p>
        </p:txBody>
      </p:sp>
      <p:sp>
        <p:nvSpPr>
          <p:cNvPr id="5" name="!!num"/>
          <p:cNvSpPr txBox="1"/>
          <p:nvPr/>
        </p:nvSpPr>
        <p:spPr>
          <a:xfrm>
            <a:off x="10881360" y="6236208"/>
            <a:ext cx="914400" cy="457200"/>
          </a:xfrm>
          <a:prstGeom prst="rect">
            <a:avLst/>
          </a:prstGeom>
          <a:noFill/>
        </p:spPr>
        <p:txBody>
          <a:bodyPr wrap="square" lIns="45720" tIns="27432" rIns="45720" bIns="27432" anchor="t">
            <a:spAutoFit/>
          </a:bodyPr>
          <a:lstStyle/>
          <a:p>
            <a:pPr algn="r">
              <a:lnSpc>
                <a:spcPct val="110000"/>
              </a:lnSpc>
            </a:pPr>
            <a:r>
              <a:rPr sz="2000" b="0" i="0">
                <a:solidFill>
                  <a:srgbClr val="5B6B82"/>
                </a:solidFill>
                <a:latin typeface="Helvetica"/>
              </a:rPr>
              <a:t>12</a:t>
            </a:r>
          </a:p>
        </p:txBody>
      </p:sp>
      <p:graphicFrame>
        <p:nvGraphicFramePr>
          <p:cNvPr id="6" name="Table 5"/>
          <p:cNvGraphicFramePr>
            <a:graphicFrameLocks noGrp="1"/>
          </p:cNvGraphicFramePr>
          <p:nvPr/>
        </p:nvGraphicFramePr>
        <p:xfrm>
          <a:off x="548640" y="1783080"/>
          <a:ext cx="11064240" cy="2286000"/>
        </p:xfrm>
        <a:graphic>
          <a:graphicData uri="http://schemas.openxmlformats.org/drawingml/2006/table">
            <a:tbl>
              <a:tblPr firstRow="1" bandRow="1">
                <a:tableStyleId>{5C22544A-7EE6-4342-B048-85BDC9FD1C3A}</a:tableStyleId>
              </a:tblPr>
              <a:tblGrid>
                <a:gridCol w="3383280">
                  <a:extLst>
                    <a:ext uri="{9D8B030D-6E8A-4147-A177-3AD203B41FA5}">
                      <a16:colId xmlns:a16="http://schemas.microsoft.com/office/drawing/2014/main" val="20000"/>
                    </a:ext>
                  </a:extLst>
                </a:gridCol>
                <a:gridCol w="2560320">
                  <a:extLst>
                    <a:ext uri="{9D8B030D-6E8A-4147-A177-3AD203B41FA5}">
                      <a16:colId xmlns:a16="http://schemas.microsoft.com/office/drawing/2014/main" val="20001"/>
                    </a:ext>
                  </a:extLst>
                </a:gridCol>
                <a:gridCol w="2560320">
                  <a:extLst>
                    <a:ext uri="{9D8B030D-6E8A-4147-A177-3AD203B41FA5}">
                      <a16:colId xmlns:a16="http://schemas.microsoft.com/office/drawing/2014/main" val="20002"/>
                    </a:ext>
                  </a:extLst>
                </a:gridCol>
                <a:gridCol w="2560320">
                  <a:extLst>
                    <a:ext uri="{9D8B030D-6E8A-4147-A177-3AD203B41FA5}">
                      <a16:colId xmlns:a16="http://schemas.microsoft.com/office/drawing/2014/main" val="20003"/>
                    </a:ext>
                  </a:extLst>
                </a:gridCol>
              </a:tblGrid>
              <a:tr h="457200">
                <a:tc>
                  <a:txBody>
                    <a:bodyPr/>
                    <a:lstStyle/>
                    <a:p>
                      <a:pPr algn="l"/>
                      <a:r>
                        <a:rPr sz="2000" b="1" i="0">
                          <a:solidFill>
                            <a:srgbClr val="FFFFFF"/>
                          </a:solidFill>
                          <a:latin typeface="Helvetica"/>
                        </a:rPr>
                        <a:t>Biến thể</a:t>
                      </a:r>
                    </a:p>
                  </a:txBody>
                  <a:tcPr marL="73152" marR="73152" marT="36576" marB="36576" anchor="ctr">
                    <a:solidFill>
                      <a:srgbClr val="1E6FE8"/>
                    </a:solidFill>
                  </a:tcPr>
                </a:tc>
                <a:tc>
                  <a:txBody>
                    <a:bodyPr/>
                    <a:lstStyle/>
                    <a:p>
                      <a:pPr algn="ctr"/>
                      <a:r>
                        <a:rPr sz="2000" b="1" i="0">
                          <a:solidFill>
                            <a:srgbClr val="FFFFFF"/>
                          </a:solidFill>
                          <a:latin typeface="Helvetica"/>
                        </a:rPr>
                        <a:t>FashionIQ R@10</a:t>
                      </a:r>
                    </a:p>
                  </a:txBody>
                  <a:tcPr marL="73152" marR="73152" marT="36576" marB="36576" anchor="ctr">
                    <a:solidFill>
                      <a:srgbClr val="1E6FE8"/>
                    </a:solidFill>
                  </a:tcPr>
                </a:tc>
                <a:tc>
                  <a:txBody>
                    <a:bodyPr/>
                    <a:lstStyle/>
                    <a:p>
                      <a:pPr algn="ctr"/>
                      <a:r>
                        <a:rPr sz="2000" b="1" i="0">
                          <a:solidFill>
                            <a:srgbClr val="FFFFFF"/>
                          </a:solidFill>
                          <a:latin typeface="Helvetica"/>
                        </a:rPr>
                        <a:t>FashionIQ R@50</a:t>
                      </a:r>
                    </a:p>
                  </a:txBody>
                  <a:tcPr marL="73152" marR="73152" marT="36576" marB="36576" anchor="ctr">
                    <a:solidFill>
                      <a:srgbClr val="1E6FE8"/>
                    </a:solidFill>
                  </a:tcPr>
                </a:tc>
                <a:tc>
                  <a:txBody>
                    <a:bodyPr/>
                    <a:lstStyle/>
                    <a:p>
                      <a:pPr algn="ctr"/>
                      <a:r>
                        <a:rPr sz="2000" b="1" i="0">
                          <a:solidFill>
                            <a:srgbClr val="FFFFFF"/>
                          </a:solidFill>
                          <a:latin typeface="Helvetica"/>
                        </a:rPr>
                        <a:t>CIRCO mAP@5</a:t>
                      </a:r>
                    </a:p>
                  </a:txBody>
                  <a:tcPr marL="73152" marR="73152" marT="36576" marB="36576" anchor="ctr">
                    <a:solidFill>
                      <a:srgbClr val="1E6FE8"/>
                    </a:solidFill>
                  </a:tcPr>
                </a:tc>
                <a:extLst>
                  <a:ext uri="{0D108BD9-81ED-4DB2-BD59-A6C34878D82A}">
                    <a16:rowId xmlns:a16="http://schemas.microsoft.com/office/drawing/2014/main" val="10000"/>
                  </a:ext>
                </a:extLst>
              </a:tr>
              <a:tr h="457200">
                <a:tc>
                  <a:txBody>
                    <a:bodyPr/>
                    <a:lstStyle/>
                    <a:p>
                      <a:pPr algn="l"/>
                      <a:r>
                        <a:rPr sz="2000" b="0" i="0">
                          <a:solidFill>
                            <a:srgbClr val="0F1C3F"/>
                          </a:solidFill>
                          <a:latin typeface="Helvetica"/>
                        </a:rPr>
                        <a:t>Baseline</a:t>
                      </a:r>
                    </a:p>
                  </a:txBody>
                  <a:tcPr marL="73152" marR="73152" marT="36576" marB="36576" anchor="ctr">
                    <a:solidFill>
                      <a:srgbClr val="FFFFFF"/>
                    </a:solidFill>
                  </a:tcPr>
                </a:tc>
                <a:tc>
                  <a:txBody>
                    <a:bodyPr/>
                    <a:lstStyle/>
                    <a:p>
                      <a:pPr algn="ctr"/>
                      <a:r>
                        <a:rPr sz="2000" b="0" i="0">
                          <a:solidFill>
                            <a:srgbClr val="0F1C3F"/>
                          </a:solidFill>
                          <a:latin typeface="Helvetica"/>
                        </a:rPr>
                        <a:t>25,90 ± 0,24</a:t>
                      </a:r>
                    </a:p>
                  </a:txBody>
                  <a:tcPr marL="73152" marR="73152" marT="36576" marB="36576" anchor="ctr">
                    <a:solidFill>
                      <a:srgbClr val="FFFFFF"/>
                    </a:solidFill>
                  </a:tcPr>
                </a:tc>
                <a:tc>
                  <a:txBody>
                    <a:bodyPr/>
                    <a:lstStyle/>
                    <a:p>
                      <a:pPr algn="ctr"/>
                      <a:r>
                        <a:rPr sz="2000" b="0" i="0">
                          <a:solidFill>
                            <a:srgbClr val="0F1C3F"/>
                          </a:solidFill>
                          <a:latin typeface="Helvetica"/>
                        </a:rPr>
                        <a:t>45,53 ± 0,23</a:t>
                      </a:r>
                    </a:p>
                  </a:txBody>
                  <a:tcPr marL="73152" marR="73152" marT="36576" marB="36576" anchor="ctr">
                    <a:solidFill>
                      <a:srgbClr val="FFFFFF"/>
                    </a:solidFill>
                  </a:tcPr>
                </a:tc>
                <a:tc>
                  <a:txBody>
                    <a:bodyPr/>
                    <a:lstStyle/>
                    <a:p>
                      <a:pPr algn="ctr"/>
                      <a:r>
                        <a:rPr sz="2000" b="0" i="0">
                          <a:solidFill>
                            <a:srgbClr val="0F1C3F"/>
                          </a:solidFill>
                          <a:latin typeface="Helvetica"/>
                        </a:rPr>
                        <a:t>10,47 ± 0,10</a:t>
                      </a:r>
                    </a:p>
                  </a:txBody>
                  <a:tcPr marL="73152" marR="73152" marT="36576" marB="36576" anchor="ctr">
                    <a:solidFill>
                      <a:srgbClr val="FFFFFF"/>
                    </a:solidFill>
                  </a:tcPr>
                </a:tc>
                <a:extLst>
                  <a:ext uri="{0D108BD9-81ED-4DB2-BD59-A6C34878D82A}">
                    <a16:rowId xmlns:a16="http://schemas.microsoft.com/office/drawing/2014/main" val="10001"/>
                  </a:ext>
                </a:extLst>
              </a:tr>
              <a:tr h="457200">
                <a:tc>
                  <a:txBody>
                    <a:bodyPr/>
                    <a:lstStyle/>
                    <a:p>
                      <a:pPr algn="l"/>
                      <a:r>
                        <a:rPr sz="2000" b="0" i="0">
                          <a:solidFill>
                            <a:srgbClr val="0F1C3F"/>
                          </a:solidFill>
                          <a:latin typeface="Helvetica"/>
                        </a:rPr>
                        <a:t>A: + InfoNCE</a:t>
                      </a:r>
                    </a:p>
                  </a:txBody>
                  <a:tcPr marL="73152" marR="73152" marT="36576" marB="36576" anchor="ctr">
                    <a:solidFill>
                      <a:srgbClr val="FFFFFF"/>
                    </a:solidFill>
                  </a:tcPr>
                </a:tc>
                <a:tc>
                  <a:txBody>
                    <a:bodyPr/>
                    <a:lstStyle/>
                    <a:p>
                      <a:pPr algn="ctr"/>
                      <a:r>
                        <a:rPr sz="2000" b="0" i="0">
                          <a:solidFill>
                            <a:srgbClr val="0F1C3F"/>
                          </a:solidFill>
                          <a:latin typeface="Helvetica"/>
                        </a:rPr>
                        <a:t>25,54 ± 0,14</a:t>
                      </a:r>
                    </a:p>
                  </a:txBody>
                  <a:tcPr marL="73152" marR="73152" marT="36576" marB="36576" anchor="ctr">
                    <a:solidFill>
                      <a:srgbClr val="FFFFFF"/>
                    </a:solidFill>
                  </a:tcPr>
                </a:tc>
                <a:tc>
                  <a:txBody>
                    <a:bodyPr/>
                    <a:lstStyle/>
                    <a:p>
                      <a:pPr algn="ctr"/>
                      <a:r>
                        <a:rPr sz="2000" b="0" i="0">
                          <a:solidFill>
                            <a:srgbClr val="0F1C3F"/>
                          </a:solidFill>
                          <a:latin typeface="Helvetica"/>
                        </a:rPr>
                        <a:t>45,16 ± 0,21</a:t>
                      </a:r>
                    </a:p>
                  </a:txBody>
                  <a:tcPr marL="73152" marR="73152" marT="36576" marB="36576" anchor="ctr">
                    <a:solidFill>
                      <a:srgbClr val="FFFFFF"/>
                    </a:solidFill>
                  </a:tcPr>
                </a:tc>
                <a:tc>
                  <a:txBody>
                    <a:bodyPr/>
                    <a:lstStyle/>
                    <a:p>
                      <a:pPr algn="ctr"/>
                      <a:r>
                        <a:rPr sz="2000" b="0" i="0">
                          <a:solidFill>
                            <a:srgbClr val="0F1C3F"/>
                          </a:solidFill>
                          <a:latin typeface="Helvetica"/>
                        </a:rPr>
                        <a:t>8,02 ± 0,44</a:t>
                      </a:r>
                    </a:p>
                  </a:txBody>
                  <a:tcPr marL="73152" marR="73152" marT="36576" marB="36576" anchor="ctr">
                    <a:solidFill>
                      <a:srgbClr val="FFFFFF"/>
                    </a:solidFill>
                  </a:tcPr>
                </a:tc>
                <a:extLst>
                  <a:ext uri="{0D108BD9-81ED-4DB2-BD59-A6C34878D82A}">
                    <a16:rowId xmlns:a16="http://schemas.microsoft.com/office/drawing/2014/main" val="10002"/>
                  </a:ext>
                </a:extLst>
              </a:tr>
              <a:tr h="457200">
                <a:tc>
                  <a:txBody>
                    <a:bodyPr/>
                    <a:lstStyle/>
                    <a:p>
                      <a:pPr algn="l"/>
                      <a:r>
                        <a:rPr sz="2000" b="0" i="0">
                          <a:solidFill>
                            <a:srgbClr val="0F1C3F"/>
                          </a:solidFill>
                          <a:latin typeface="Helvetica"/>
                        </a:rPr>
                        <a:t>B: + nhiễu có hướng</a:t>
                      </a:r>
                    </a:p>
                  </a:txBody>
                  <a:tcPr marL="73152" marR="73152" marT="36576" marB="36576" anchor="ctr">
                    <a:solidFill>
                      <a:srgbClr val="FFFFFF"/>
                    </a:solidFill>
                  </a:tcPr>
                </a:tc>
                <a:tc>
                  <a:txBody>
                    <a:bodyPr/>
                    <a:lstStyle/>
                    <a:p>
                      <a:pPr algn="ctr"/>
                      <a:r>
                        <a:rPr sz="2000" b="0" i="0">
                          <a:solidFill>
                            <a:srgbClr val="0F1C3F"/>
                          </a:solidFill>
                          <a:latin typeface="Helvetica"/>
                        </a:rPr>
                        <a:t>26,50 ± 0,04</a:t>
                      </a:r>
                    </a:p>
                  </a:txBody>
                  <a:tcPr marL="73152" marR="73152" marT="36576" marB="36576" anchor="ctr">
                    <a:solidFill>
                      <a:srgbClr val="FFFFFF"/>
                    </a:solidFill>
                  </a:tcPr>
                </a:tc>
                <a:tc>
                  <a:txBody>
                    <a:bodyPr/>
                    <a:lstStyle/>
                    <a:p>
                      <a:pPr algn="ctr"/>
                      <a:r>
                        <a:rPr sz="2000" b="0" i="0">
                          <a:solidFill>
                            <a:srgbClr val="0F1C3F"/>
                          </a:solidFill>
                          <a:latin typeface="Helvetica"/>
                        </a:rPr>
                        <a:t>46,79 ± 0,07</a:t>
                      </a:r>
                    </a:p>
                  </a:txBody>
                  <a:tcPr marL="73152" marR="73152" marT="36576" marB="36576" anchor="ctr">
                    <a:solidFill>
                      <a:srgbClr val="FFFFFF"/>
                    </a:solidFill>
                  </a:tcPr>
                </a:tc>
                <a:tc>
                  <a:txBody>
                    <a:bodyPr/>
                    <a:lstStyle/>
                    <a:p>
                      <a:pPr algn="ctr"/>
                      <a:r>
                        <a:rPr sz="2000" b="0" i="0">
                          <a:solidFill>
                            <a:srgbClr val="0F1C3F"/>
                          </a:solidFill>
                          <a:latin typeface="Helvetica"/>
                        </a:rPr>
                        <a:t>10,94 ± 0,35</a:t>
                      </a:r>
                    </a:p>
                  </a:txBody>
                  <a:tcPr marL="73152" marR="73152" marT="36576" marB="36576" anchor="ctr">
                    <a:solidFill>
                      <a:srgbClr val="FFFFFF"/>
                    </a:solidFill>
                  </a:tcPr>
                </a:tc>
                <a:extLst>
                  <a:ext uri="{0D108BD9-81ED-4DB2-BD59-A6C34878D82A}">
                    <a16:rowId xmlns:a16="http://schemas.microsoft.com/office/drawing/2014/main" val="10003"/>
                  </a:ext>
                </a:extLst>
              </a:tr>
              <a:tr h="457200">
                <a:tc>
                  <a:txBody>
                    <a:bodyPr/>
                    <a:lstStyle/>
                    <a:p>
                      <a:pPr algn="l"/>
                      <a:r>
                        <a:rPr sz="2000" b="0" i="0">
                          <a:solidFill>
                            <a:srgbClr val="0F1C3F"/>
                          </a:solidFill>
                          <a:latin typeface="Helvetica"/>
                        </a:rPr>
                        <a:t>A + B</a:t>
                      </a:r>
                    </a:p>
                  </a:txBody>
                  <a:tcPr marL="73152" marR="73152" marT="36576" marB="36576" anchor="ctr">
                    <a:solidFill>
                      <a:srgbClr val="FFFFFF"/>
                    </a:solidFill>
                  </a:tcPr>
                </a:tc>
                <a:tc>
                  <a:txBody>
                    <a:bodyPr/>
                    <a:lstStyle/>
                    <a:p>
                      <a:pPr algn="ctr"/>
                      <a:r>
                        <a:rPr sz="2000" b="0" i="0">
                          <a:solidFill>
                            <a:srgbClr val="0F1C3F"/>
                          </a:solidFill>
                          <a:latin typeface="Helvetica"/>
                        </a:rPr>
                        <a:t>25,44 ± 0,13</a:t>
                      </a:r>
                    </a:p>
                  </a:txBody>
                  <a:tcPr marL="73152" marR="73152" marT="36576" marB="36576" anchor="ctr">
                    <a:solidFill>
                      <a:srgbClr val="FFFFFF"/>
                    </a:solidFill>
                  </a:tcPr>
                </a:tc>
                <a:tc>
                  <a:txBody>
                    <a:bodyPr/>
                    <a:lstStyle/>
                    <a:p>
                      <a:pPr algn="ctr"/>
                      <a:r>
                        <a:rPr sz="2000" b="0" i="0">
                          <a:solidFill>
                            <a:srgbClr val="0F1C3F"/>
                          </a:solidFill>
                          <a:latin typeface="Helvetica"/>
                        </a:rPr>
                        <a:t>45,36 ± 0,16</a:t>
                      </a:r>
                    </a:p>
                  </a:txBody>
                  <a:tcPr marL="73152" marR="73152" marT="36576" marB="36576" anchor="ctr">
                    <a:solidFill>
                      <a:srgbClr val="FFFFFF"/>
                    </a:solidFill>
                  </a:tcPr>
                </a:tc>
                <a:tc>
                  <a:txBody>
                    <a:bodyPr/>
                    <a:lstStyle/>
                    <a:p>
                      <a:pPr algn="ctr"/>
                      <a:r>
                        <a:rPr sz="2000" b="0" i="0">
                          <a:solidFill>
                            <a:srgbClr val="0F1C3F"/>
                          </a:solidFill>
                          <a:latin typeface="Helvetica"/>
                        </a:rPr>
                        <a:t>7,81 ± 0,19</a:t>
                      </a:r>
                    </a:p>
                  </a:txBody>
                  <a:tcPr marL="73152" marR="73152" marT="36576" marB="36576" anchor="ctr">
                    <a:solidFill>
                      <a:srgbClr val="FFFFFF"/>
                    </a:solidFill>
                  </a:tcPr>
                </a:tc>
                <a:extLst>
                  <a:ext uri="{0D108BD9-81ED-4DB2-BD59-A6C34878D82A}">
                    <a16:rowId xmlns:a16="http://schemas.microsoft.com/office/drawing/2014/main" val="10004"/>
                  </a:ext>
                </a:extLst>
              </a:tr>
            </a:tbl>
          </a:graphicData>
        </a:graphic>
      </p:graphicFrame>
      <p:sp>
        <p:nvSpPr>
          <p:cNvPr id="7" name="Rounded Rectangle 6"/>
          <p:cNvSpPr/>
          <p:nvPr/>
        </p:nvSpPr>
        <p:spPr>
          <a:xfrm>
            <a:off x="548640" y="4343400"/>
            <a:ext cx="11064240" cy="155448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8" name="TextBox 7"/>
          <p:cNvSpPr txBox="1"/>
          <p:nvPr/>
        </p:nvSpPr>
        <p:spPr>
          <a:xfrm>
            <a:off x="822959" y="4572000"/>
            <a:ext cx="10515600" cy="1097280"/>
          </a:xfrm>
          <a:prstGeom prst="rect">
            <a:avLst/>
          </a:prstGeom>
          <a:noFill/>
        </p:spPr>
        <p:txBody>
          <a:bodyPr wrap="square" lIns="45720" tIns="27432" rIns="45720" bIns="27432" anchor="t">
            <a:spAutoFit/>
          </a:bodyPr>
          <a:lstStyle/>
          <a:p>
            <a:pPr algn="l">
              <a:lnSpc>
                <a:spcPct val="110000"/>
              </a:lnSpc>
            </a:pPr>
            <a:r>
              <a:rPr sz="2200" b="0" i="0">
                <a:solidFill>
                  <a:srgbClr val="0F1C3F"/>
                </a:solidFill>
                <a:latin typeface="Helvetica"/>
              </a:rPr>
              <a:t>B tốt hơn baseline: FashionIQ R@10 +0,60 (p = 0,006), R@50 +1,27 (p &lt; 0,001)</a:t>
            </a:r>
          </a:p>
          <a:p>
            <a:pPr algn="l">
              <a:lnSpc>
                <a:spcPct val="110000"/>
              </a:lnSpc>
            </a:pPr>
            <a:r>
              <a:rPr sz="2200" b="0" i="0">
                <a:solidFill>
                  <a:srgbClr val="0F1C3F"/>
                </a:solidFill>
                <a:latin typeface="Helvetica"/>
              </a:rPr>
              <a:t>A kém hơn trên CIRCO: mAP@5 −2,45, khoảng tin cậy 95% [−3,95; −1,07] nằm dưới 0; A+B tương tự</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3.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rb"/>
          <p:cNvSpPr/>
          <p:nvPr/>
        </p:nvSpPr>
        <p:spPr>
          <a:xfrm>
            <a:off x="-1737360" y="-2011680"/>
            <a:ext cx="3657600" cy="365760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ot"/>
          <p:cNvSpPr/>
          <p:nvPr/>
        </p:nvSpPr>
        <p:spPr>
          <a:xfrm>
            <a:off x="54864" y="329184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txBox="1"/>
          <p:nvPr/>
        </p:nvSpPr>
        <p:spPr>
          <a:xfrm>
            <a:off x="548640" y="347472"/>
            <a:ext cx="10424160" cy="1143000"/>
          </a:xfrm>
          <a:prstGeom prst="rect">
            <a:avLst/>
          </a:prstGeom>
          <a:noFill/>
        </p:spPr>
        <p:txBody>
          <a:bodyPr wrap="square" lIns="45720" tIns="27432" rIns="45720" bIns="27432" anchor="ctr">
            <a:spAutoFit/>
          </a:bodyPr>
          <a:lstStyle/>
          <a:p>
            <a:pPr algn="l">
              <a:lnSpc>
                <a:spcPct val="110000"/>
              </a:lnSpc>
            </a:pPr>
            <a:r>
              <a:rPr sz="3200" b="1" i="0">
                <a:solidFill>
                  <a:srgbClr val="0F1C3F"/>
                </a:solidFill>
                <a:latin typeface="Helvetica"/>
              </a:rPr>
              <a:t>Vì sao: B làm φ nhất quán hơn giữa ảnh và văn bản, A làm ngược lại</a:t>
            </a:r>
          </a:p>
        </p:txBody>
      </p:sp>
      <p:sp>
        <p:nvSpPr>
          <p:cNvPr id="5" name="!!num"/>
          <p:cNvSpPr txBox="1"/>
          <p:nvPr/>
        </p:nvSpPr>
        <p:spPr>
          <a:xfrm>
            <a:off x="10881360" y="6236208"/>
            <a:ext cx="914400" cy="457200"/>
          </a:xfrm>
          <a:prstGeom prst="rect">
            <a:avLst/>
          </a:prstGeom>
          <a:noFill/>
        </p:spPr>
        <p:txBody>
          <a:bodyPr wrap="square" lIns="45720" tIns="27432" rIns="45720" bIns="27432" anchor="t">
            <a:spAutoFit/>
          </a:bodyPr>
          <a:lstStyle/>
          <a:p>
            <a:pPr algn="r">
              <a:lnSpc>
                <a:spcPct val="110000"/>
              </a:lnSpc>
            </a:pPr>
            <a:r>
              <a:rPr sz="2000" b="0" i="0">
                <a:solidFill>
                  <a:srgbClr val="5B6B82"/>
                </a:solidFill>
                <a:latin typeface="Helvetica"/>
              </a:rPr>
              <a:t>13</a:t>
            </a:r>
          </a:p>
        </p:txBody>
      </p:sp>
      <p:pic>
        <p:nvPicPr>
          <p:cNvPr id="10" name="Picture 9" descr="modality_gap_slide.png"/>
          <p:cNvPicPr>
            <a:picLocks noChangeAspect="1"/>
          </p:cNvPicPr>
          <p:nvPr/>
        </p:nvPicPr>
        <p:blipFill>
          <a:blip r:embed="rId3"/>
          <a:stretch>
            <a:fillRect/>
          </a:stretch>
        </p:blipFill>
        <p:spPr>
          <a:xfrm>
            <a:off x="548640" y="1783080"/>
            <a:ext cx="5486400" cy="3716593"/>
          </a:xfrm>
          <a:prstGeom prst="rect">
            <a:avLst/>
          </a:prstGeom>
        </p:spPr>
      </p:pic>
      <p:pic>
        <p:nvPicPr>
          <p:cNvPr id="11" name="Picture 10" descr="learning_curve_slide.png"/>
          <p:cNvPicPr>
            <a:picLocks noChangeAspect="1"/>
          </p:cNvPicPr>
          <p:nvPr/>
        </p:nvPicPr>
        <p:blipFill>
          <a:blip r:embed="rId4"/>
          <a:stretch>
            <a:fillRect/>
          </a:stretch>
        </p:blipFill>
        <p:spPr>
          <a:xfrm>
            <a:off x="6217920" y="1783080"/>
            <a:ext cx="5486400" cy="3716593"/>
          </a:xfrm>
          <a:prstGeom prst="rect">
            <a:avLst/>
          </a:prstGeom>
        </p:spPr>
      </p:pic>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4.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rb"/>
          <p:cNvSpPr/>
          <p:nvPr/>
        </p:nvSpPr>
        <p:spPr>
          <a:xfrm>
            <a:off x="9875520" y="4297680"/>
            <a:ext cx="3657600" cy="3657600"/>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ot"/>
          <p:cNvSpPr/>
          <p:nvPr/>
        </p:nvSpPr>
        <p:spPr>
          <a:xfrm>
            <a:off x="11704320" y="3474720"/>
            <a:ext cx="411480" cy="411480"/>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txBox="1"/>
          <p:nvPr/>
        </p:nvSpPr>
        <p:spPr>
          <a:xfrm>
            <a:off x="548640" y="347472"/>
            <a:ext cx="10424160" cy="1143000"/>
          </a:xfrm>
          <a:prstGeom prst="rect">
            <a:avLst/>
          </a:prstGeom>
          <a:noFill/>
        </p:spPr>
        <p:txBody>
          <a:bodyPr wrap="square" lIns="45720" tIns="27432" rIns="45720" bIns="27432" anchor="ctr">
            <a:spAutoFit/>
          </a:bodyPr>
          <a:lstStyle/>
          <a:p>
            <a:pPr algn="l">
              <a:lnSpc>
                <a:spcPct val="110000"/>
              </a:lnSpc>
            </a:pPr>
            <a:r>
              <a:rPr sz="3200" b="1" i="0">
                <a:solidFill>
                  <a:srgbClr val="0F1C3F"/>
                </a:solidFill>
                <a:latin typeface="Helvetica"/>
              </a:rPr>
              <a:t>Kết luận: tính nhất quán qua modality gap quyết định chất lượng</a:t>
            </a:r>
          </a:p>
        </p:txBody>
      </p:sp>
      <p:sp>
        <p:nvSpPr>
          <p:cNvPr id="5" name="!!num"/>
          <p:cNvSpPr txBox="1"/>
          <p:nvPr/>
        </p:nvSpPr>
        <p:spPr>
          <a:xfrm>
            <a:off x="10881360" y="6236208"/>
            <a:ext cx="914400" cy="457200"/>
          </a:xfrm>
          <a:prstGeom prst="rect">
            <a:avLst/>
          </a:prstGeom>
          <a:noFill/>
        </p:spPr>
        <p:txBody>
          <a:bodyPr wrap="square" lIns="45720" tIns="27432" rIns="45720" bIns="27432" anchor="t">
            <a:spAutoFit/>
          </a:bodyPr>
          <a:lstStyle/>
          <a:p>
            <a:pPr algn="r">
              <a:lnSpc>
                <a:spcPct val="110000"/>
              </a:lnSpc>
            </a:pPr>
            <a:r>
              <a:rPr sz="2000" b="0" i="0">
                <a:solidFill>
                  <a:srgbClr val="5B6B82"/>
                </a:solidFill>
                <a:latin typeface="Helvetica"/>
              </a:rPr>
              <a:t>14</a:t>
            </a:r>
          </a:p>
        </p:txBody>
      </p:sp>
      <p:sp>
        <p:nvSpPr>
          <p:cNvPr id="6" name="Rounded Rectangle 5"/>
          <p:cNvSpPr/>
          <p:nvPr/>
        </p:nvSpPr>
        <p:spPr>
          <a:xfrm>
            <a:off x="548640" y="1737360"/>
            <a:ext cx="5486400" cy="3291840"/>
          </a:xfrm>
          <a:prstGeom prst="roundRect">
            <a:avLst>
              <a:gd name="adj" fmla="val 8000"/>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7" name="TextBox 6"/>
          <p:cNvSpPr txBox="1"/>
          <p:nvPr/>
        </p:nvSpPr>
        <p:spPr>
          <a:xfrm>
            <a:off x="822959" y="1965960"/>
            <a:ext cx="4937760" cy="2834640"/>
          </a:xfrm>
          <a:prstGeom prst="rect">
            <a:avLst/>
          </a:prstGeom>
          <a:noFill/>
        </p:spPr>
        <p:txBody>
          <a:bodyPr wrap="square" lIns="45720" tIns="27432" rIns="45720" bIns="27432" anchor="t">
            <a:spAutoFit/>
          </a:bodyPr>
          <a:lstStyle/>
          <a:p>
            <a:pPr algn="l">
              <a:lnSpc>
                <a:spcPct val="110000"/>
              </a:lnSpc>
            </a:pPr>
            <a:r>
              <a:rPr sz="2200" b="0" i="0">
                <a:solidFill>
                  <a:srgbClr val="0F1C3F"/>
                </a:solidFill>
                <a:latin typeface="Helvetica"/>
              </a:rPr>
              <a:t>Tái hiện khớp bài báo, lệch tối đa 0,77 điểm</a:t>
            </a:r>
          </a:p>
          <a:p>
            <a:pPr algn="l">
              <a:lnSpc>
                <a:spcPct val="110000"/>
              </a:lnSpc>
            </a:pPr>
            <a:r>
              <a:rPr sz="2200" b="0" i="0">
                <a:solidFill>
                  <a:srgbClr val="0F1C3F"/>
                </a:solidFill>
                <a:latin typeface="Helvetica"/>
              </a:rPr>
              <a:t>B tốt hơn có ý nghĩa thống kê, vượt cả checkpoint 20.000 bước</a:t>
            </a:r>
          </a:p>
          <a:p>
            <a:pPr algn="l">
              <a:lnSpc>
                <a:spcPct val="110000"/>
              </a:lnSpc>
            </a:pPr>
            <a:r>
              <a:rPr sz="2200" b="0" i="0">
                <a:solidFill>
                  <a:srgbClr val="0F1C3F"/>
                </a:solidFill>
                <a:latin typeface="Helvetica"/>
              </a:rPr>
              <a:t>A làm CIRCO mAP@5 giảm 2,45 điểm</a:t>
            </a:r>
          </a:p>
          <a:p>
            <a:pPr algn="l">
              <a:lnSpc>
                <a:spcPct val="110000"/>
              </a:lnSpc>
            </a:pPr>
            <a:r>
              <a:rPr sz="2200" b="0" i="0">
                <a:solidFill>
                  <a:srgbClr val="0F1C3F"/>
                </a:solidFill>
                <a:latin typeface="Helvetica"/>
              </a:rPr>
              <a:t>Yếu tố then chốt: φ xử lý ảnh nhất quán với văn bản</a:t>
            </a:r>
          </a:p>
        </p:txBody>
      </p:sp>
      <p:sp>
        <p:nvSpPr>
          <p:cNvPr id="8" name="Rounded Rectangle 7"/>
          <p:cNvSpPr/>
          <p:nvPr/>
        </p:nvSpPr>
        <p:spPr>
          <a:xfrm>
            <a:off x="6309360" y="1737360"/>
            <a:ext cx="5303520" cy="3291840"/>
          </a:xfrm>
          <a:prstGeom prst="roundRect">
            <a:avLst>
              <a:gd name="adj" fmla="val 8000"/>
            </a:avLst>
          </a:prstGeom>
          <a:solidFill>
            <a:srgbClr val="D6E6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9" name="TextBox 8"/>
          <p:cNvSpPr txBox="1"/>
          <p:nvPr/>
        </p:nvSpPr>
        <p:spPr>
          <a:xfrm>
            <a:off x="6537960" y="1901952"/>
            <a:ext cx="4846320" cy="502920"/>
          </a:xfrm>
          <a:prstGeom prst="rect">
            <a:avLst/>
          </a:prstGeom>
          <a:noFill/>
        </p:spPr>
        <p:txBody>
          <a:bodyPr wrap="square" lIns="45720" tIns="27432" rIns="45720" bIns="27432" anchor="t">
            <a:spAutoFit/>
          </a:bodyPr>
          <a:lstStyle/>
          <a:p>
            <a:pPr algn="l">
              <a:lnSpc>
                <a:spcPct val="110000"/>
              </a:lnSpc>
            </a:pPr>
            <a:r>
              <a:rPr sz="2200" b="1" i="0">
                <a:solidFill>
                  <a:srgbClr val="144FB0"/>
                </a:solidFill>
                <a:latin typeface="Helvetica"/>
              </a:rPr>
              <a:t>Hạn chế và hướng phát triển</a:t>
            </a:r>
          </a:p>
        </p:txBody>
      </p:sp>
      <p:sp>
        <p:nvSpPr>
          <p:cNvPr id="10" name="TextBox 9"/>
          <p:cNvSpPr txBox="1"/>
          <p:nvPr/>
        </p:nvSpPr>
        <p:spPr>
          <a:xfrm>
            <a:off x="6537960" y="2468880"/>
            <a:ext cx="4846320" cy="2423160"/>
          </a:xfrm>
          <a:prstGeom prst="rect">
            <a:avLst/>
          </a:prstGeom>
          <a:noFill/>
        </p:spPr>
        <p:txBody>
          <a:bodyPr wrap="square">
            <a:spAutoFit/>
          </a:bodyPr>
          <a:lstStyle/>
          <a:p>
            <a:pPr marL="292608" indent="-292608">
              <a:lnSpc>
                <a:spcPct val="108000"/>
              </a:lnSpc>
              <a:spcAft>
                <a:spcPts val="600"/>
              </a:spcAft>
              <a:buClr>
                <a:srgbClr val="1E6FE8"/>
              </a:buClr>
              <a:buFont typeface="Helvetica"/>
              <a:buChar char="•"/>
            </a:pPr>
            <a:r>
              <a:rPr sz="2100" b="0" i="0">
                <a:solidFill>
                  <a:srgbClr val="0F1C3F"/>
                </a:solidFill>
                <a:latin typeface="Helvetica"/>
              </a:rPr>
              <a:t>Mới huấn luyện 5.000 bước, cần đủ 20.000</a:t>
            </a:r>
          </a:p>
          <a:p>
            <a:pPr marL="292608" indent="-292608">
              <a:lnSpc>
                <a:spcPct val="108000"/>
              </a:lnSpc>
              <a:spcAft>
                <a:spcPts val="600"/>
              </a:spcAft>
              <a:buClr>
                <a:srgbClr val="1E6FE8"/>
              </a:buClr>
              <a:buFont typeface="Helvetica"/>
              <a:buChar char="•"/>
            </a:pPr>
            <a:r>
              <a:rPr sz="2100" b="0" i="0">
                <a:solidFill>
                  <a:srgbClr val="0F1C3F"/>
                </a:solidFill>
                <a:latin typeface="Helvetica"/>
              </a:rPr>
              <a:t>Chưa quét λ (A) và α (B)</a:t>
            </a:r>
          </a:p>
          <a:p>
            <a:pPr marL="292608" indent="-292608">
              <a:lnSpc>
                <a:spcPct val="108000"/>
              </a:lnSpc>
              <a:spcAft>
                <a:spcPts val="600"/>
              </a:spcAft>
              <a:buClr>
                <a:srgbClr val="1E6FE8"/>
              </a:buClr>
              <a:buFont typeface="Helvetica"/>
              <a:buChar char="•"/>
            </a:pPr>
            <a:r>
              <a:rPr sz="2100" b="0" i="0">
                <a:solidFill>
                  <a:srgbClr val="0F1C3F"/>
                </a:solidFill>
                <a:latin typeface="Helvetica"/>
              </a:rPr>
              <a:t>Chưa có CIRR, CIRCO test</a:t>
            </a:r>
          </a:p>
          <a:p>
            <a:pPr marL="292608" indent="-292608">
              <a:lnSpc>
                <a:spcPct val="108000"/>
              </a:lnSpc>
              <a:spcAft>
                <a:spcPts val="600"/>
              </a:spcAft>
              <a:buClr>
                <a:srgbClr val="1E6FE8"/>
              </a:buClr>
              <a:buFont typeface="Helvetica"/>
              <a:buChar char="•"/>
            </a:pPr>
            <a:r>
              <a:rPr sz="2100" b="0" i="0">
                <a:solidFill>
                  <a:srgbClr val="0F1C3F"/>
                </a:solidFill>
                <a:latin typeface="Helvetica"/>
              </a:rPr>
              <a:t>Hướng C: chọn từ khóa che theo IDF</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slides/slide15.xml><?xml version="1.0" encoding="utf-8"?>
<p:sld xmlns:a="http://schemas.openxmlformats.org/drawingml/2006/main" xmlns:r="http://schemas.openxmlformats.org/officeDocument/2006/relationships" xmlns:p="http://schemas.openxmlformats.org/presentationml/2006/main">
  <p:cSld>
    <p:bg>
      <p:bgPr>
        <a:solidFill>
          <a:srgbClr val="FFFFFF"/>
        </a:solidFill>
        <a:effectLst/>
      </p:bgPr>
    </p:bg>
    <p:spTree>
      <p:nvGrpSpPr>
        <p:cNvPr id="1" name=""/>
        <p:cNvGrpSpPr/>
        <p:nvPr/>
      </p:nvGrpSpPr>
      <p:grpSpPr>
        <a:xfrm>
          <a:off x="0" y="0"/>
          <a:ext cx="0" cy="0"/>
          <a:chOff x="0" y="0"/>
          <a:chExt cx="0" cy="0"/>
        </a:xfrm>
      </p:grpSpPr>
      <p:sp>
        <p:nvSpPr>
          <p:cNvPr id="2" name="!!orb"/>
          <p:cNvSpPr/>
          <p:nvPr/>
        </p:nvSpPr>
        <p:spPr>
          <a:xfrm>
            <a:off x="-1783080" y="-4770120"/>
            <a:ext cx="15758159" cy="15758159"/>
          </a:xfrm>
          <a:prstGeom prst="ellipse">
            <a:avLst/>
          </a:prstGeom>
          <a:solidFill>
            <a:srgbClr val="EAF2FF"/>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3" name="!!dot"/>
          <p:cNvSpPr/>
          <p:nvPr/>
        </p:nvSpPr>
        <p:spPr>
          <a:xfrm>
            <a:off x="5368065" y="1416270"/>
            <a:ext cx="1960581" cy="1960581"/>
          </a:xfrm>
          <a:prstGeom prst="ellipse">
            <a:avLst/>
          </a:prstGeom>
          <a:solidFill>
            <a:srgbClr val="1E6FE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endParaRPr/>
          </a:p>
        </p:txBody>
      </p:sp>
      <p:sp>
        <p:nvSpPr>
          <p:cNvPr id="4" name="!!title"/>
          <p:cNvSpPr txBox="1"/>
          <p:nvPr/>
        </p:nvSpPr>
        <p:spPr>
          <a:xfrm>
            <a:off x="731520" y="2011680"/>
            <a:ext cx="9601200" cy="769763"/>
          </a:xfrm>
          <a:prstGeom prst="rect">
            <a:avLst/>
          </a:prstGeom>
          <a:noFill/>
        </p:spPr>
        <p:txBody>
          <a:bodyPr wrap="square" lIns="45720" tIns="27432" rIns="45720" bIns="27432" anchor="t">
            <a:spAutoFit/>
          </a:bodyPr>
          <a:lstStyle/>
          <a:p>
            <a:pPr algn="l">
              <a:lnSpc>
                <a:spcPct val="110000"/>
              </a:lnSpc>
            </a:pPr>
            <a:r>
              <a:rPr sz="4400" b="1" i="0" dirty="0" err="1">
                <a:solidFill>
                  <a:srgbClr val="0F1C3F"/>
                </a:solidFill>
                <a:latin typeface="Helvetica"/>
              </a:rPr>
              <a:t>Cảm</a:t>
            </a:r>
            <a:r>
              <a:rPr sz="4400" b="1" i="0" dirty="0">
                <a:solidFill>
                  <a:srgbClr val="0F1C3F"/>
                </a:solidFill>
                <a:latin typeface="Helvetica"/>
              </a:rPr>
              <a:t> </a:t>
            </a:r>
            <a:r>
              <a:rPr sz="4400" b="1" i="0" dirty="0" err="1">
                <a:solidFill>
                  <a:srgbClr val="0F1C3F"/>
                </a:solidFill>
                <a:latin typeface="Helvetica"/>
              </a:rPr>
              <a:t>ơn</a:t>
            </a:r>
            <a:r>
              <a:rPr sz="4400" b="1" i="0" dirty="0">
                <a:solidFill>
                  <a:srgbClr val="0F1C3F"/>
                </a:solidFill>
                <a:latin typeface="Helvetica"/>
              </a:rPr>
              <a:t> </a:t>
            </a:r>
            <a:r>
              <a:rPr sz="4400" b="1" i="0" dirty="0" err="1">
                <a:solidFill>
                  <a:srgbClr val="0F1C3F"/>
                </a:solidFill>
                <a:latin typeface="Helvetica"/>
              </a:rPr>
              <a:t>cô</a:t>
            </a:r>
            <a:r>
              <a:rPr sz="4400" b="1" i="0" dirty="0">
                <a:solidFill>
                  <a:srgbClr val="0F1C3F"/>
                </a:solidFill>
                <a:latin typeface="Helvetica"/>
              </a:rPr>
              <a:t> </a:t>
            </a:r>
            <a:r>
              <a:rPr sz="4400" b="1" i="0" dirty="0" err="1">
                <a:solidFill>
                  <a:srgbClr val="0F1C3F"/>
                </a:solidFill>
                <a:latin typeface="Helvetica"/>
              </a:rPr>
              <a:t>và</a:t>
            </a:r>
            <a:r>
              <a:rPr sz="4400" b="1" i="0" dirty="0">
                <a:solidFill>
                  <a:srgbClr val="0F1C3F"/>
                </a:solidFill>
                <a:latin typeface="Helvetica"/>
              </a:rPr>
              <a:t> </a:t>
            </a:r>
            <a:r>
              <a:rPr sz="4400" b="1" i="0" dirty="0" err="1">
                <a:solidFill>
                  <a:srgbClr val="0F1C3F"/>
                </a:solidFill>
                <a:latin typeface="Helvetica"/>
              </a:rPr>
              <a:t>các</a:t>
            </a:r>
            <a:r>
              <a:rPr sz="4400" b="1" i="0" dirty="0">
                <a:solidFill>
                  <a:srgbClr val="0F1C3F"/>
                </a:solidFill>
                <a:latin typeface="Helvetica"/>
              </a:rPr>
              <a:t> </a:t>
            </a:r>
            <a:r>
              <a:rPr sz="4400" b="1" i="0" dirty="0" err="1">
                <a:solidFill>
                  <a:srgbClr val="0F1C3F"/>
                </a:solidFill>
                <a:latin typeface="Helvetica"/>
              </a:rPr>
              <a:t>bạn</a:t>
            </a:r>
            <a:r>
              <a:rPr lang="en-US" sz="4400" b="1" i="0" dirty="0">
                <a:solidFill>
                  <a:srgbClr val="0F1C3F"/>
                </a:solidFill>
                <a:latin typeface="Helvetica"/>
              </a:rPr>
              <a:t> </a:t>
            </a:r>
            <a:r>
              <a:rPr lang="en-US" sz="4400" b="1" i="0" dirty="0" err="1">
                <a:solidFill>
                  <a:srgbClr val="0F1C3F"/>
                </a:solidFill>
                <a:latin typeface="Helvetica"/>
              </a:rPr>
              <a:t>đã</a:t>
            </a:r>
            <a:r>
              <a:rPr lang="en-US" sz="4400" b="1" i="0" dirty="0">
                <a:solidFill>
                  <a:srgbClr val="0F1C3F"/>
                </a:solidFill>
                <a:latin typeface="Helvetica"/>
              </a:rPr>
              <a:t> </a:t>
            </a:r>
            <a:r>
              <a:rPr lang="en-US" sz="4400" b="1" i="0" dirty="0" err="1">
                <a:solidFill>
                  <a:srgbClr val="0F1C3F"/>
                </a:solidFill>
                <a:latin typeface="Helvetica"/>
              </a:rPr>
              <a:t>theo</a:t>
            </a:r>
            <a:r>
              <a:rPr lang="en-US" sz="4400" b="1" i="0" dirty="0">
                <a:solidFill>
                  <a:srgbClr val="0F1C3F"/>
                </a:solidFill>
                <a:latin typeface="Helvetica"/>
              </a:rPr>
              <a:t> </a:t>
            </a:r>
            <a:r>
              <a:rPr lang="en-US" sz="4400" b="1" i="0" dirty="0" err="1">
                <a:solidFill>
                  <a:srgbClr val="0F1C3F"/>
                </a:solidFill>
                <a:latin typeface="Helvetica"/>
              </a:rPr>
              <a:t>dõi</a:t>
            </a:r>
            <a:endParaRPr sz="4400" b="1" i="0" dirty="0">
              <a:solidFill>
                <a:srgbClr val="0F1C3F"/>
              </a:solidFill>
              <a:latin typeface="Helvetica"/>
            </a:endParaRPr>
          </a:p>
        </p:txBody>
      </p:sp>
      <p:sp>
        <p:nvSpPr>
          <p:cNvPr id="5" name="TextBox 4"/>
          <p:cNvSpPr txBox="1"/>
          <p:nvPr/>
        </p:nvSpPr>
        <p:spPr>
          <a:xfrm>
            <a:off x="731520" y="3108960"/>
            <a:ext cx="9601200" cy="510011"/>
          </a:xfrm>
          <a:prstGeom prst="rect">
            <a:avLst/>
          </a:prstGeom>
          <a:noFill/>
        </p:spPr>
        <p:txBody>
          <a:bodyPr wrap="square" lIns="45720" tIns="27432" rIns="45720" bIns="27432" anchor="t">
            <a:spAutoFit/>
          </a:bodyPr>
          <a:lstStyle/>
          <a:p>
            <a:pPr algn="l">
              <a:lnSpc>
                <a:spcPct val="110000"/>
              </a:lnSpc>
            </a:pPr>
            <a:r>
              <a:rPr lang="en-US" sz="2800" b="0" i="0" dirty="0">
                <a:solidFill>
                  <a:srgbClr val="1E6FE8"/>
                </a:solidFill>
                <a:latin typeface="Helvetica"/>
              </a:rPr>
              <a:t>Xin </a:t>
            </a:r>
            <a:r>
              <a:rPr lang="en-US" sz="2800" b="0" i="0" dirty="0" err="1">
                <a:solidFill>
                  <a:srgbClr val="1E6FE8"/>
                </a:solidFill>
                <a:latin typeface="Helvetica"/>
              </a:rPr>
              <a:t>mời</a:t>
            </a:r>
            <a:r>
              <a:rPr lang="en-US" sz="2800" b="0" i="0" dirty="0">
                <a:solidFill>
                  <a:srgbClr val="1E6FE8"/>
                </a:solidFill>
                <a:latin typeface="Helvetica"/>
              </a:rPr>
              <a:t> </a:t>
            </a:r>
            <a:r>
              <a:rPr lang="en-US" sz="2800" b="0" i="0" dirty="0" err="1">
                <a:solidFill>
                  <a:srgbClr val="1E6FE8"/>
                </a:solidFill>
                <a:latin typeface="Helvetica"/>
              </a:rPr>
              <a:t>câu</a:t>
            </a:r>
            <a:r>
              <a:rPr lang="en-US" sz="2800" b="0" i="0" dirty="0">
                <a:solidFill>
                  <a:srgbClr val="1E6FE8"/>
                </a:solidFill>
                <a:latin typeface="Helvetica"/>
              </a:rPr>
              <a:t> </a:t>
            </a:r>
            <a:r>
              <a:rPr lang="en-US" sz="2800" dirty="0" err="1">
                <a:solidFill>
                  <a:srgbClr val="1E6FE8"/>
                </a:solidFill>
                <a:latin typeface="Helvetica"/>
              </a:rPr>
              <a:t>h</a:t>
            </a:r>
            <a:r>
              <a:rPr sz="2800" b="0" i="0" dirty="0" err="1">
                <a:solidFill>
                  <a:srgbClr val="1E6FE8"/>
                </a:solidFill>
                <a:latin typeface="Helvetica"/>
              </a:rPr>
              <a:t>ỏi</a:t>
            </a:r>
            <a:r>
              <a:rPr sz="2800" b="0" i="0" dirty="0">
                <a:solidFill>
                  <a:srgbClr val="1E6FE8"/>
                </a:solidFill>
                <a:latin typeface="Helvetica"/>
              </a:rPr>
              <a:t> </a:t>
            </a:r>
            <a:r>
              <a:rPr lang="en-US" sz="2800" dirty="0" err="1">
                <a:solidFill>
                  <a:srgbClr val="1E6FE8"/>
                </a:solidFill>
                <a:latin typeface="Helvetica"/>
              </a:rPr>
              <a:t>và</a:t>
            </a:r>
            <a:r>
              <a:rPr lang="en-US" sz="2800" dirty="0">
                <a:solidFill>
                  <a:srgbClr val="1E6FE8"/>
                </a:solidFill>
                <a:latin typeface="Helvetica"/>
              </a:rPr>
              <a:t> </a:t>
            </a:r>
            <a:r>
              <a:rPr lang="en-US" sz="2800" dirty="0" err="1">
                <a:solidFill>
                  <a:srgbClr val="1E6FE8"/>
                </a:solidFill>
                <a:latin typeface="Helvetica"/>
              </a:rPr>
              <a:t>góp</a:t>
            </a:r>
            <a:r>
              <a:rPr lang="en-US" sz="2800" dirty="0">
                <a:solidFill>
                  <a:srgbClr val="1E6FE8"/>
                </a:solidFill>
                <a:latin typeface="Helvetica"/>
              </a:rPr>
              <a:t> </a:t>
            </a:r>
            <a:r>
              <a:rPr lang="en-US" sz="2800" dirty="0" err="1">
                <a:solidFill>
                  <a:srgbClr val="1E6FE8"/>
                </a:solidFill>
                <a:latin typeface="Helvetica"/>
              </a:rPr>
              <a:t>ý</a:t>
            </a:r>
            <a:r>
              <a:rPr lang="en-US" sz="2800" dirty="0">
                <a:solidFill>
                  <a:srgbClr val="1E6FE8"/>
                </a:solidFill>
                <a:latin typeface="Helvetica"/>
              </a:rPr>
              <a:t>!</a:t>
            </a:r>
            <a:endParaRPr sz="2800" b="0" i="0" dirty="0">
              <a:solidFill>
                <a:srgbClr val="1E6FE8"/>
              </a:solidFill>
              <a:latin typeface="Helvetica"/>
            </a:endParaRPr>
          </a:p>
        </p:txBody>
      </p:sp>
      <p:sp>
        <p:nvSpPr>
          <p:cNvPr id="6" name="!!num"/>
          <p:cNvSpPr txBox="1"/>
          <p:nvPr/>
        </p:nvSpPr>
        <p:spPr>
          <a:xfrm>
            <a:off x="10881360" y="6236208"/>
            <a:ext cx="914400" cy="457200"/>
          </a:xfrm>
          <a:prstGeom prst="rect">
            <a:avLst/>
          </a:prstGeom>
          <a:noFill/>
        </p:spPr>
        <p:txBody>
          <a:bodyPr wrap="square" lIns="45720" tIns="27432" rIns="45720" bIns="27432" anchor="t">
            <a:spAutoFit/>
          </a:bodyPr>
          <a:lstStyle/>
          <a:p>
            <a:pPr algn="r">
              <a:lnSpc>
                <a:spcPct val="110000"/>
              </a:lnSpc>
            </a:pPr>
            <a:r>
              <a:rPr sz="2000" b="0" i="0">
                <a:solidFill>
                  <a:srgbClr val="5B6B82"/>
                </a:solidFill>
                <a:latin typeface="Helvetica"/>
              </a:rPr>
              <a:t>15</a:t>
            </a:r>
          </a:p>
        </p:txBody>
      </p:sp>
    </p:spTree>
  </p:cSld>
  <p:clrMapOvr>
    <a:masterClrMapping/>
  </p:clrMapOvr>
  <mc:AlternateContent xmlns:mc="http://schemas.openxmlformats.org/markup-compatibility/2006" xmlns:p159="http://schemas.microsoft.com/office/powerpoint/2015/09/main">
    <mc:Choice Requires="p159">
      <p:transition xmlns:p14="http://schemas.microsoft.com/office/powerpoint/2010/main" spd="slow" p14:dur="1200">
        <p159:morph option="byObject"/>
      </p:transition>
    </mc:Choice>
    <mc:Fallback xmlns="">
      <p:transition spd="slow">
        <p:fade/>
      </p:transition>
    </mc:Fallback>
  </mc:AlternateContent>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Helvetica"/>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Helvetica"/>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Helvetica"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Helvetica"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18</TotalTime>
  <Words>1886</Words>
  <Application>Microsoft Macintosh PowerPoint</Application>
  <PresentationFormat>Widescreen</PresentationFormat>
  <Paragraphs>204</Paragraphs>
  <Slides>17</Slides>
  <Notes>17</Notes>
  <HiddenSlides>0</HiddenSlides>
  <MMClips>0</MMClips>
  <ScaleCrop>false</ScaleCrop>
  <HeadingPairs>
    <vt:vector size="6" baseType="variant">
      <vt:variant>
        <vt:lpstr>Fonts Used</vt:lpstr>
      </vt:variant>
      <vt:variant>
        <vt:i4>3</vt:i4>
      </vt:variant>
      <vt:variant>
        <vt:lpstr>Theme</vt:lpstr>
      </vt:variant>
      <vt:variant>
        <vt:i4>1</vt:i4>
      </vt:variant>
      <vt:variant>
        <vt:lpstr>Slide Titles</vt:lpstr>
      </vt:variant>
      <vt:variant>
        <vt:i4>17</vt:i4>
      </vt:variant>
    </vt:vector>
  </HeadingPairs>
  <TitlesOfParts>
    <vt:vector size="21" baseType="lpstr">
      <vt:lpstr>Arial</vt:lpstr>
      <vt:lpstr>Calibri</vt:lpstr>
      <vt:lpstr>Helvetica</vt:lpstr>
      <vt:lpstr>Office Theme</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lpstr>PowerPoint Presentation</vt:lpstr>
    </vt:vector>
  </TitlesOfParts>
  <Manager/>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Dao Van Tam</cp:lastModifiedBy>
  <cp:revision>8</cp:revision>
  <dcterms:created xsi:type="dcterms:W3CDTF">2013-01-27T09:14:16Z</dcterms:created>
  <dcterms:modified xsi:type="dcterms:W3CDTF">2026-10-08T16:40:08Z</dcterms:modified>
  <cp:category/>
</cp:coreProperties>
</file>