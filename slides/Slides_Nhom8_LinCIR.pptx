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75" r:id="rId3"/>
    <p:sldId id="257" r:id="rId4"/>
    <p:sldId id="259" r:id="rId5"/>
    <p:sldId id="260" r:id="rId6"/>
    <p:sldId id="273" r:id="rId7"/>
    <p:sldId id="262" r:id="rId8"/>
    <p:sldId id="274" r:id="rId9"/>
    <p:sldId id="266" r:id="rId10"/>
    <p:sldId id="267" r:id="rId11"/>
    <p:sldId id="264" r:id="rId12"/>
    <p:sldId id="265" r:id="rId13"/>
    <p:sldId id="269" r:id="rId14"/>
    <p:sldId id="270" r:id="rId15"/>
    <p:sldId id="271" r:id="rId16"/>
    <p:sldId id="272"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94"/>
  </p:normalViewPr>
  <p:slideViewPr>
    <p:cSldViewPr snapToGrid="0" snapToObjects="1">
      <p:cViewPr varScale="1">
        <p:scale>
          <a:sx n="121" d="100"/>
          <a:sy n="121" d="100"/>
        </p:scale>
        <p:origin x="74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732425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[Tâm] </a:t>
            </a:r>
            <a:r>
              <a:rPr dirty="0" err="1"/>
              <a:t>Giới</a:t>
            </a:r>
            <a:r>
              <a:rPr dirty="0"/>
              <a:t> </a:t>
            </a:r>
            <a:r>
              <a:rPr dirty="0" err="1"/>
              <a:t>thiệu</a:t>
            </a:r>
            <a:r>
              <a:rPr dirty="0"/>
              <a:t> </a:t>
            </a:r>
            <a:r>
              <a:rPr dirty="0" err="1"/>
              <a:t>đề</a:t>
            </a:r>
            <a:r>
              <a:rPr dirty="0"/>
              <a:t> </a:t>
            </a:r>
            <a:r>
              <a:rPr dirty="0" err="1"/>
              <a:t>tài</a:t>
            </a:r>
            <a:r>
              <a:rPr dirty="0"/>
              <a:t>, </a:t>
            </a:r>
            <a:r>
              <a:rPr dirty="0" err="1"/>
              <a:t>giảng</a:t>
            </a:r>
            <a:r>
              <a:rPr dirty="0"/>
              <a:t> </a:t>
            </a:r>
            <a:r>
              <a:rPr dirty="0" err="1"/>
              <a:t>viên</a:t>
            </a:r>
            <a:r>
              <a:rPr dirty="0"/>
              <a:t> </a:t>
            </a:r>
            <a:r>
              <a:rPr dirty="0" err="1"/>
              <a:t>và</a:t>
            </a:r>
            <a:r>
              <a:rPr dirty="0"/>
              <a:t> 5 </a:t>
            </a:r>
            <a:r>
              <a:rPr dirty="0" err="1"/>
              <a:t>thành</a:t>
            </a:r>
            <a:r>
              <a:rPr dirty="0"/>
              <a:t> </a:t>
            </a:r>
            <a:r>
              <a:rPr dirty="0" err="1"/>
              <a:t>viên</a:t>
            </a:r>
            <a:r>
              <a:rPr dirty="0"/>
              <a:t>. Tâm </a:t>
            </a:r>
            <a:r>
              <a:rPr dirty="0" err="1"/>
              <a:t>trình</a:t>
            </a:r>
            <a:r>
              <a:rPr dirty="0"/>
              <a:t> </a:t>
            </a:r>
            <a:r>
              <a:rPr dirty="0" err="1"/>
              <a:t>bày</a:t>
            </a:r>
            <a:r>
              <a:rPr dirty="0"/>
              <a:t>, </a:t>
            </a:r>
            <a:r>
              <a:rPr dirty="0" err="1"/>
              <a:t>cả</a:t>
            </a:r>
            <a:r>
              <a:rPr dirty="0"/>
              <a:t> </a:t>
            </a:r>
            <a:r>
              <a:rPr dirty="0" err="1"/>
              <a:t>nhóm</a:t>
            </a:r>
            <a:r>
              <a:rPr dirty="0"/>
              <a:t> </a:t>
            </a:r>
            <a:r>
              <a:rPr dirty="0" err="1"/>
              <a:t>cùng</a:t>
            </a:r>
            <a:r>
              <a:rPr dirty="0"/>
              <a:t> </a:t>
            </a:r>
            <a:r>
              <a:rPr dirty="0" err="1"/>
              <a:t>trả</a:t>
            </a:r>
            <a:r>
              <a:rPr dirty="0"/>
              <a:t> </a:t>
            </a:r>
            <a:r>
              <a:rPr dirty="0" err="1"/>
              <a:t>lời</a:t>
            </a:r>
            <a:r>
              <a:rPr dirty="0"/>
              <a:t> </a:t>
            </a:r>
            <a:r>
              <a:rPr dirty="0" err="1"/>
              <a:t>câu</a:t>
            </a:r>
            <a:r>
              <a:rPr dirty="0"/>
              <a:t> </a:t>
            </a:r>
            <a:r>
              <a:rPr dirty="0" err="1"/>
              <a:t>hỏi</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rPr dirty="0"/>
              <a:t>[Tâm] </a:t>
            </a:r>
            <a:r>
              <a:rPr dirty="0" err="1"/>
              <a:t>Phân</a:t>
            </a:r>
            <a:r>
              <a:rPr dirty="0"/>
              <a:t> </a:t>
            </a:r>
            <a:r>
              <a:rPr dirty="0" err="1"/>
              <a:t>công</a:t>
            </a:r>
            <a:r>
              <a:rPr dirty="0"/>
              <a:t>: Tâm </a:t>
            </a:r>
            <a:r>
              <a:rPr dirty="0" err="1"/>
              <a:t>chuyển</a:t>
            </a:r>
            <a:r>
              <a:rPr dirty="0"/>
              <a:t> </a:t>
            </a:r>
            <a:r>
              <a:rPr dirty="0" err="1"/>
              <a:t>đổi</a:t>
            </a:r>
            <a:r>
              <a:rPr dirty="0"/>
              <a:t> </a:t>
            </a:r>
            <a:r>
              <a:rPr dirty="0" err="1"/>
              <a:t>mã</a:t>
            </a:r>
            <a:r>
              <a:rPr dirty="0"/>
              <a:t> </a:t>
            </a:r>
            <a:r>
              <a:rPr dirty="0" err="1"/>
              <a:t>nguồn</a:t>
            </a:r>
            <a:r>
              <a:rPr dirty="0"/>
              <a:t> </a:t>
            </a:r>
            <a:r>
              <a:rPr dirty="0" err="1"/>
              <a:t>và</a:t>
            </a:r>
            <a:r>
              <a:rPr dirty="0"/>
              <a:t> </a:t>
            </a:r>
            <a:r>
              <a:rPr dirty="0" err="1"/>
              <a:t>chạy</a:t>
            </a:r>
            <a:r>
              <a:rPr dirty="0"/>
              <a:t> </a:t>
            </a:r>
            <a:r>
              <a:rPr dirty="0" err="1"/>
              <a:t>thực</a:t>
            </a:r>
            <a:r>
              <a:rPr dirty="0"/>
              <a:t> </a:t>
            </a:r>
            <a:r>
              <a:rPr dirty="0" err="1"/>
              <a:t>nghiệm</a:t>
            </a:r>
            <a:r>
              <a:rPr dirty="0"/>
              <a:t> </a:t>
            </a:r>
            <a:r>
              <a:rPr dirty="0" err="1"/>
              <a:t>trên</a:t>
            </a:r>
            <a:r>
              <a:rPr dirty="0"/>
              <a:t> Kaggle; Trung </a:t>
            </a:r>
            <a:r>
              <a:rPr dirty="0" err="1"/>
              <a:t>làm</a:t>
            </a:r>
            <a:r>
              <a:rPr dirty="0"/>
              <a:t> </a:t>
            </a:r>
            <a:r>
              <a:rPr dirty="0" err="1"/>
              <a:t>cải</a:t>
            </a:r>
            <a:r>
              <a:rPr dirty="0"/>
              <a:t> </a:t>
            </a:r>
            <a:r>
              <a:rPr dirty="0" err="1"/>
              <a:t>tiến</a:t>
            </a:r>
            <a:r>
              <a:rPr dirty="0"/>
              <a:t> A </a:t>
            </a:r>
            <a:r>
              <a:rPr dirty="0" err="1"/>
              <a:t>và</a:t>
            </a:r>
            <a:r>
              <a:rPr dirty="0"/>
              <a:t> </a:t>
            </a:r>
            <a:r>
              <a:rPr dirty="0" err="1"/>
              <a:t>đường</a:t>
            </a:r>
            <a:r>
              <a:rPr dirty="0"/>
              <a:t> </a:t>
            </a:r>
            <a:r>
              <a:rPr dirty="0" err="1"/>
              <a:t>học</a:t>
            </a:r>
            <a:r>
              <a:rPr dirty="0"/>
              <a:t>; Tùng </a:t>
            </a:r>
            <a:r>
              <a:rPr dirty="0" err="1"/>
              <a:t>tái</a:t>
            </a:r>
            <a:r>
              <a:rPr dirty="0"/>
              <a:t> </a:t>
            </a:r>
            <a:r>
              <a:rPr dirty="0" err="1"/>
              <a:t>hiện</a:t>
            </a:r>
            <a:r>
              <a:rPr dirty="0"/>
              <a:t> </a:t>
            </a:r>
            <a:r>
              <a:rPr dirty="0" err="1"/>
              <a:t>và</a:t>
            </a:r>
            <a:r>
              <a:rPr dirty="0"/>
              <a:t> </a:t>
            </a:r>
            <a:r>
              <a:rPr dirty="0" err="1"/>
              <a:t>đối</a:t>
            </a:r>
            <a:r>
              <a:rPr dirty="0"/>
              <a:t> </a:t>
            </a:r>
            <a:r>
              <a:rPr dirty="0" err="1"/>
              <a:t>chiếu</a:t>
            </a:r>
            <a:r>
              <a:rPr dirty="0"/>
              <a:t> </a:t>
            </a:r>
            <a:r>
              <a:rPr dirty="0" err="1"/>
              <a:t>bài</a:t>
            </a:r>
            <a:r>
              <a:rPr dirty="0"/>
              <a:t> </a:t>
            </a:r>
            <a:r>
              <a:rPr dirty="0" err="1"/>
              <a:t>báo</a:t>
            </a:r>
            <a:r>
              <a:rPr dirty="0"/>
              <a:t> – </a:t>
            </a:r>
            <a:r>
              <a:rPr dirty="0" err="1"/>
              <a:t>mã</a:t>
            </a:r>
            <a:r>
              <a:rPr dirty="0"/>
              <a:t> </a:t>
            </a:r>
            <a:r>
              <a:rPr dirty="0" err="1"/>
              <a:t>nguồn</a:t>
            </a:r>
            <a:r>
              <a:rPr dirty="0"/>
              <a:t>; Dũng </a:t>
            </a:r>
            <a:r>
              <a:rPr dirty="0" err="1"/>
              <a:t>làm</a:t>
            </a:r>
            <a:r>
              <a:rPr dirty="0"/>
              <a:t> </a:t>
            </a:r>
            <a:r>
              <a:rPr dirty="0" err="1"/>
              <a:t>giao</a:t>
            </a:r>
            <a:r>
              <a:rPr dirty="0"/>
              <a:t> </a:t>
            </a:r>
            <a:r>
              <a:rPr dirty="0" err="1"/>
              <a:t>thức</a:t>
            </a:r>
            <a:r>
              <a:rPr dirty="0"/>
              <a:t> </a:t>
            </a:r>
            <a:r>
              <a:rPr dirty="0" err="1"/>
              <a:t>đánh</a:t>
            </a:r>
            <a:r>
              <a:rPr dirty="0"/>
              <a:t> </a:t>
            </a:r>
            <a:r>
              <a:rPr dirty="0" err="1"/>
              <a:t>giá</a:t>
            </a:r>
            <a:r>
              <a:rPr dirty="0"/>
              <a:t>, </a:t>
            </a:r>
            <a:r>
              <a:rPr dirty="0" err="1"/>
              <a:t>kiểm</a:t>
            </a:r>
            <a:r>
              <a:rPr dirty="0"/>
              <a:t> </a:t>
            </a:r>
            <a:r>
              <a:rPr dirty="0" err="1"/>
              <a:t>định</a:t>
            </a:r>
            <a:r>
              <a:rPr dirty="0"/>
              <a:t> </a:t>
            </a:r>
            <a:r>
              <a:rPr dirty="0" err="1"/>
              <a:t>và</a:t>
            </a:r>
            <a:r>
              <a:rPr dirty="0"/>
              <a:t> </a:t>
            </a:r>
            <a:r>
              <a:rPr dirty="0" err="1"/>
              <a:t>cải</a:t>
            </a:r>
            <a:r>
              <a:rPr dirty="0"/>
              <a:t> </a:t>
            </a:r>
            <a:r>
              <a:rPr dirty="0" err="1"/>
              <a:t>tiến</a:t>
            </a:r>
            <a:r>
              <a:rPr dirty="0"/>
              <a:t> B; Nou </a:t>
            </a:r>
            <a:r>
              <a:rPr dirty="0" err="1"/>
              <a:t>làm</a:t>
            </a:r>
            <a:r>
              <a:rPr dirty="0"/>
              <a:t> </a:t>
            </a:r>
            <a:r>
              <a:rPr dirty="0" err="1"/>
              <a:t>tổng</a:t>
            </a:r>
            <a:r>
              <a:rPr dirty="0"/>
              <a:t> </a:t>
            </a:r>
            <a:r>
              <a:rPr dirty="0" err="1"/>
              <a:t>quan</a:t>
            </a:r>
            <a:r>
              <a:rPr dirty="0"/>
              <a:t> </a:t>
            </a:r>
            <a:r>
              <a:rPr dirty="0" err="1"/>
              <a:t>lý</a:t>
            </a:r>
            <a:r>
              <a:rPr dirty="0"/>
              <a:t> </a:t>
            </a:r>
            <a:r>
              <a:rPr dirty="0" err="1"/>
              <a:t>thuyết</a:t>
            </a:r>
            <a:r>
              <a:rPr dirty="0"/>
              <a:t>, </a:t>
            </a:r>
            <a:r>
              <a:rPr dirty="0" err="1"/>
              <a:t>phân</a:t>
            </a:r>
            <a:r>
              <a:rPr dirty="0"/>
              <a:t> </a:t>
            </a:r>
            <a:r>
              <a:rPr dirty="0" err="1"/>
              <a:t>tích</a:t>
            </a:r>
            <a:r>
              <a:rPr dirty="0"/>
              <a:t> </a:t>
            </a:r>
            <a:r>
              <a:rPr dirty="0" err="1"/>
              <a:t>định</a:t>
            </a:r>
            <a:r>
              <a:rPr dirty="0"/>
              <a:t> </a:t>
            </a:r>
            <a:r>
              <a:rPr dirty="0" err="1"/>
              <a:t>tính</a:t>
            </a:r>
            <a:r>
              <a:rPr dirty="0"/>
              <a:t> </a:t>
            </a:r>
            <a:r>
              <a:rPr dirty="0" err="1"/>
              <a:t>và</a:t>
            </a:r>
            <a:r>
              <a:rPr dirty="0"/>
              <a:t> </a:t>
            </a:r>
            <a:r>
              <a:rPr dirty="0" err="1"/>
              <a:t>thiết</a:t>
            </a:r>
            <a:r>
              <a:rPr dirty="0"/>
              <a:t> </a:t>
            </a:r>
            <a:r>
              <a:rPr dirty="0" err="1"/>
              <a:t>kế</a:t>
            </a:r>
            <a:r>
              <a:rPr dirty="0"/>
              <a:t> slides. Tâm </a:t>
            </a:r>
            <a:r>
              <a:rPr dirty="0" err="1"/>
              <a:t>trình</a:t>
            </a:r>
            <a:r>
              <a:rPr dirty="0"/>
              <a:t> </a:t>
            </a:r>
            <a:r>
              <a:rPr dirty="0" err="1"/>
              <a:t>bày</a:t>
            </a:r>
            <a:r>
              <a:rPr dirty="0"/>
              <a:t>, </a:t>
            </a:r>
            <a:r>
              <a:rPr dirty="0" err="1"/>
              <a:t>khi</a:t>
            </a:r>
            <a:r>
              <a:rPr dirty="0"/>
              <a:t> </a:t>
            </a:r>
            <a:r>
              <a:rPr dirty="0" err="1"/>
              <a:t>hỏi</a:t>
            </a:r>
            <a:r>
              <a:rPr dirty="0"/>
              <a:t> </a:t>
            </a:r>
            <a:r>
              <a:rPr dirty="0" err="1"/>
              <a:t>đáp</a:t>
            </a:r>
            <a:r>
              <a:rPr dirty="0"/>
              <a:t> </a:t>
            </a:r>
            <a:r>
              <a:rPr dirty="0" err="1"/>
              <a:t>thành</a:t>
            </a:r>
            <a:r>
              <a:rPr dirty="0"/>
              <a:t> </a:t>
            </a:r>
            <a:r>
              <a:rPr dirty="0" err="1"/>
              <a:t>viên</a:t>
            </a:r>
            <a:r>
              <a:rPr dirty="0"/>
              <a:t> </a:t>
            </a:r>
            <a:r>
              <a:rPr dirty="0" err="1"/>
              <a:t>phụ</a:t>
            </a:r>
            <a:r>
              <a:rPr dirty="0"/>
              <a:t> </a:t>
            </a:r>
            <a:r>
              <a:rPr dirty="0" err="1"/>
              <a:t>trách</a:t>
            </a:r>
            <a:r>
              <a:rPr dirty="0"/>
              <a:t> </a:t>
            </a:r>
            <a:r>
              <a:rPr dirty="0" err="1"/>
              <a:t>trả</a:t>
            </a:r>
            <a:r>
              <a:rPr dirty="0"/>
              <a:t> </a:t>
            </a:r>
            <a:r>
              <a:rPr dirty="0" err="1"/>
              <a:t>lời</a:t>
            </a:r>
            <a:r>
              <a:rPr dirty="0"/>
              <a:t> </a:t>
            </a:r>
            <a:r>
              <a:rPr dirty="0" err="1"/>
              <a:t>phần</a:t>
            </a:r>
            <a:r>
              <a:rPr dirty="0"/>
              <a:t> </a:t>
            </a:r>
            <a:r>
              <a:rPr dirty="0" err="1"/>
              <a:t>của</a:t>
            </a:r>
            <a:r>
              <a:rPr dirty="0"/>
              <a:t> </a:t>
            </a:r>
            <a:r>
              <a:rPr dirty="0" err="1"/>
              <a:t>mình</a:t>
            </a:r>
            <a:r>
              <a:rPr dirty="0"/>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[Tâm] Truy vấn gồm một ảnh tham chiếu và một câu chỉ mô tả phần thay đổi; hệ thống phải tìm ảnh giữ đặc điểm của ảnh tham chiếu và áp dụng thay đổi. Bài báo LinCIR giải bài toán này mà không cần bộ ba gán nhãn. Câu hỏi của nhóm: sửa hàm mất mát (A) hoặc sửa nhiễu (B) có giúp LinCIR truy xuất tốt hơn không.</a:t>
            </a:r>
          </a:p>
          <a:p>
            <a:r>
              <a:t>Con số cần nêu: FashionIQ chỉ có 46,6 nghìn bộ ba gán nhãn, CIRR 28,8 nghìn.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[Tâm] CIR vẫn là truy xuất có xếp hạng như chương I. R@K là tỉ lệ truy vấn có ảnh đích trong K kết quả đầu, dùng cho FashionIQ (1 ảnh đúng). AP@K lấy Precision tại các vị trí có ảnh đúng, chia cho min(K, số ảnh đúng); mAP@K là trung bình trên các truy vấn, dùng cho CIRCO (nhiều ảnh đúng). Khác chương I: so khớp vector bằng cosine thay vì khớp từ. Mọi so sánh được kiểm định bootstrap và Wilcoxon theo từng truy vấn.</a:t>
            </a:r>
          </a:p>
          <a:p>
            <a:r>
              <a:t>Con số cần nêu: R@10 = 26 nghĩa là 26% số truy vấn có ảnh đích trong 10 kết quả đầu.</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[Tâm] Ảnh tham chiếu qua bộ mã hóa ảnh rồi qua mạng chiếu φ thành một token giả [$], ghép vào câu “a photo of [$] that …”; bộ mã hóa văn bản tạo vector truy vấn để xếp hạng ảnh theo cosine. Chỉ cần học φ, CLIP giữ nguyên.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[Tâm] Pic2Word và SEARLE học φ nhưng cần ảnh khi huấn luyện và chỉ học một câu mẫu cố định. LinCIR học φ chỉ từ văn bản bằng Self-Masking Projection và thêm nhiễu; bài báo đạt kết quả tốt nhất trên 4 bộ đánh giá, huấn luyện nhanh hơn và vượt cả phương pháp có giám sát trên FashionIQ.</a:t>
            </a:r>
          </a:p>
          <a:p>
            <a:r>
              <a:t>Con số cần nêu: Nhanh hơn Pic2Word 6 lần, SEARLE 8,4 lần với ViT-L.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[Tâm] Che tính từ, danh từ trong câu bằng [$], thay [$] bằng token do φ tạo từ chính câu gốc, rồi yêu cầu câu đã che có cùng vector với câu gốc (MSE). Ví dụ “gray cat sleeps on a pillow” thành “[$] sleeps on [$]”. Nhờ vậy [$] học được bản tóm tắt một từ của câu.</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[Tâm] Vector ảnh và vector văn bản của CLIP nằm ở hai vùng tách biệt. φ học trên văn bản nhưng khi suy luận nhận vector ảnh, nên LinCIR thêm nhiễu u · ε khi huấn luyện để φ chịu được độ lệch này.</a:t>
            </a:r>
          </a:p>
          <a:p>
            <a:r>
              <a:t>Con số cần nêu: Tâm hai vùng cách nhau 0,82; ảnh và chú thích của chính nó chỉ có cosine 0,26.</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[Tâm] Cải tiến A sửa hàm mất mát: MSE chỉ kéo câu đã che về câu gốc, không phạt khi nó cũng gần các câu khác, trong khi đánh giá là xếp hạng. Thêm InfoNCE với 511 câu khác trong batch làm mẫu âm. Giả thuyết H1: A tăng R@K, mAP@K so với baseline.</a:t>
            </a:r>
          </a:p>
          <a:p>
            <a:r>
              <a:t>Con số cần nêu: Chi phí chỉ tăng 2% thời gian mỗi bước (1,474 so với 1,448 giây).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[Tâm] Cải tiến B sửa nhiễu: nhiễu của LinCIR đều theo mọi hướng, không dịch về phía vùng ảnh. B cộng thêm 0,5 · Δ, với Δ là hiệu giữa tâm vector ảnh và tâm vector văn bản, tính trên COCO val2017 khác tập đánh giá. Giả thuyết H2: φ nhất quán hơn giữa ảnh và văn bản nên R@K, mAP@K tăng. H3: A và B sửa hai thành phần khác nhau nên A+B có thể cộng hưởng.</a:t>
            </a:r>
          </a:p>
          <a:p>
            <a:r>
              <a:t>Con số cần nêu: Độ lớn của Δ là 13,87, tính trên 5.000 cặp ảnh – chú thích.</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[Tâm] Mã gốc không chạy với thư viện hiện tại; nhóm viết lại encoder văn bản, thay tokenizer, sửa 4 lỗi và kiểm chứng sai lệch bằng 0. Thực nghiệm: 4 biến thể × 3 seed, 5.000 bước, chỉ khác thành phần cải tiến, chạy trên 2 GPU T4 của Kaggle.</a:t>
            </a:r>
          </a:p>
          <a:p>
            <a:r>
              <a:t>Con số cần nêu: Sai lệch 0,00 so với CLIP gốc; nạp dữ liệu nhanh gấp 3,1 lần.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[Tâm] Trước khi cải tiến, nhóm đánh giá lại checkpoint chính thức bằng mã đã chuyển đổi; kết quả khớp bài báo. Ba điểm bài báo khác mã nguồn; nhóm theo mã vì mã tạo ra số liệu công bố.</a:t>
            </a:r>
          </a:p>
          <a:p>
            <a:r>
              <a:t>Con số cần nêu: Lệch lớn nhất 0,77 điểm phần trăm.</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[Tâm] So với baseline nhóm tự huấn luyện. B cao nhất ở mọi cột và tốt hơn có ý nghĩa thống kê; B 5.000 bước vượt cả checkpoint chính thức 20.000 bước. A và A+B kém hơn trên CIRCO.</a:t>
            </a:r>
          </a:p>
          <a:p>
            <a:r>
              <a:t>Con số cần nêu: B tăng 0,60 điểm R@10 (thêm khoảng 6 truy vấn đúng trên 1.000), p = 0,006.</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[Tâm] Đo độ tương đồng giữa đầu ra của φ khi nhận ảnh và khi nhận văn bản của cùng một cặp; thứ tự trùng với thứ tự CIRCO mAP@5. InfoNCE buộc [$] mang đặc trưng phân biệt các câu, không chuyển được sang ảnh. A thấp hơn baseline ở mọi mốc huấn luyện.</a:t>
            </a:r>
          </a:p>
          <a:p>
            <a:r>
              <a:t>Con số cần nêu: B 0,84, baseline 0,80, A 0,64.</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[Tâm] Ví dụ: B xếp đúng ảnh đích ở hạng 1, baseline thì không. Kết luận: H2 được ủng hộ, H1 và H3 bị bác bỏ; chất lượng phụ thuộc chủ yếu vào việc φ xử lý ảnh nhất quán với văn bản. Hạn chế: 5.000 bước, chưa quét λ, α, chưa có CIRR.</a:t>
            </a:r>
          </a:p>
          <a:p>
            <a:r>
              <a:t>Con số cần nêu: CIRCO mAP@5: B 10,94, A 8,02.</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[Tâm] Cảm ơn cô và các bạn; mời đặt câu hỏi.</a:t>
            </a:r>
          </a:p>
          <a:p>
            <a:r>
              <a:t>Chuyển câu hỏi: phương pháp, cải tiến A → Trung; tái hiện, bảng kết quả → Tùng; độ đo, kiểm định, cải tiến B, cơ chế → Dũng; bài toán, lý thuyết, ví dụ định tính → Nou; mã nguồn, Kaggle, thiết lập → Tâm.</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6949440" y="-1086770"/>
            <a:ext cx="6766560" cy="676656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7086599" y="3736008"/>
            <a:ext cx="822960" cy="82296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731519" y="640080"/>
            <a:ext cx="6766560" cy="457200"/>
          </a:xfrm>
          <a:prstGeom prst="rect">
            <a:avLst/>
          </a:prstGeom>
          <a:noFill/>
        </p:spPr>
        <p:txBody>
          <a:bodyPr wrap="square" lIns="45720" tIns="27432" rIns="45720" bIns="27432" anchor="t">
            <a:spAutoFit/>
          </a:bodyPr>
          <a:lstStyle/>
          <a:p>
            <a:pPr algn="l">
              <a:lnSpc>
                <a:spcPct val="110000"/>
              </a:lnSpc>
            </a:pPr>
            <a:r>
              <a:rPr sz="2000" b="1" i="0" dirty="0">
                <a:solidFill>
                  <a:srgbClr val="1E6FE8"/>
                </a:solidFill>
                <a:latin typeface="Helvetica"/>
              </a:rPr>
              <a:t>TÌM KIẾM VÀ TRUY XUẤT THÔNG TIN · NHÓM 8</a:t>
            </a:r>
          </a:p>
        </p:txBody>
      </p:sp>
      <p:sp>
        <p:nvSpPr>
          <p:cNvPr id="5" name="TextBox 4"/>
          <p:cNvSpPr txBox="1"/>
          <p:nvPr/>
        </p:nvSpPr>
        <p:spPr>
          <a:xfrm>
            <a:off x="731519" y="1229449"/>
            <a:ext cx="9116674" cy="2739853"/>
          </a:xfrm>
          <a:prstGeom prst="rect">
            <a:avLst/>
          </a:prstGeom>
          <a:noFill/>
        </p:spPr>
        <p:txBody>
          <a:bodyPr wrap="square" lIns="45720" tIns="27432" rIns="45720" bIns="27432" anchor="t">
            <a:spAutoFit/>
          </a:bodyPr>
          <a:lstStyle/>
          <a:p>
            <a:pPr algn="l">
              <a:lnSpc>
                <a:spcPct val="105000"/>
              </a:lnSpc>
            </a:pPr>
            <a:r>
              <a:rPr lang="en-US" sz="4000" b="1" i="0" dirty="0" err="1">
                <a:solidFill>
                  <a:srgbClr val="0F1C3F"/>
                </a:solidFill>
                <a:latin typeface="Helvetica"/>
              </a:rPr>
              <a:t>Huấn</a:t>
            </a:r>
            <a:r>
              <a:rPr lang="en-US" sz="4000" b="1" i="0" dirty="0">
                <a:solidFill>
                  <a:srgbClr val="0F1C3F"/>
                </a:solidFill>
                <a:latin typeface="Helvetica"/>
              </a:rPr>
              <a:t> </a:t>
            </a:r>
            <a:r>
              <a:rPr lang="en-US" sz="4000" b="1" i="0" dirty="0" err="1">
                <a:solidFill>
                  <a:srgbClr val="0F1C3F"/>
                </a:solidFill>
                <a:latin typeface="Helvetica"/>
              </a:rPr>
              <a:t>luyện</a:t>
            </a:r>
            <a:r>
              <a:rPr lang="en-US" sz="4000" b="1" i="0" dirty="0">
                <a:solidFill>
                  <a:srgbClr val="0F1C3F"/>
                </a:solidFill>
                <a:latin typeface="Helvetica"/>
              </a:rPr>
              <a:t> </a:t>
            </a:r>
            <a:r>
              <a:rPr lang="en-US" sz="4000" b="1" i="0" dirty="0" err="1">
                <a:solidFill>
                  <a:srgbClr val="0F1C3F"/>
                </a:solidFill>
                <a:latin typeface="Helvetica"/>
              </a:rPr>
              <a:t>hiệu</a:t>
            </a:r>
            <a:r>
              <a:rPr lang="en-US" sz="4000" b="1" i="0" dirty="0">
                <a:solidFill>
                  <a:srgbClr val="0F1C3F"/>
                </a:solidFill>
                <a:latin typeface="Helvetica"/>
              </a:rPr>
              <a:t> </a:t>
            </a:r>
            <a:r>
              <a:rPr lang="en-US" sz="4000" b="1" i="0" dirty="0" err="1">
                <a:solidFill>
                  <a:srgbClr val="0F1C3F"/>
                </a:solidFill>
                <a:latin typeface="Helvetica"/>
              </a:rPr>
              <a:t>quả</a:t>
            </a:r>
            <a:br>
              <a:rPr lang="en-US" sz="4000" b="1" i="0" dirty="0">
                <a:solidFill>
                  <a:srgbClr val="0F1C3F"/>
                </a:solidFill>
                <a:latin typeface="Helvetica"/>
              </a:rPr>
            </a:br>
            <a:r>
              <a:rPr lang="en-US" sz="4000" b="1" i="0" dirty="0" err="1">
                <a:solidFill>
                  <a:srgbClr val="0F1C3F"/>
                </a:solidFill>
                <a:latin typeface="Helvetica"/>
              </a:rPr>
              <a:t>chỉ</a:t>
            </a:r>
            <a:r>
              <a:rPr lang="en-US" sz="4000" b="1" i="0" dirty="0">
                <a:solidFill>
                  <a:srgbClr val="0F1C3F"/>
                </a:solidFill>
                <a:latin typeface="Helvetica"/>
              </a:rPr>
              <a:t> </a:t>
            </a:r>
            <a:r>
              <a:rPr lang="en-US" sz="4000" b="1" i="0" dirty="0" err="1">
                <a:solidFill>
                  <a:srgbClr val="0F1C3F"/>
                </a:solidFill>
                <a:latin typeface="Helvetica"/>
              </a:rPr>
              <a:t>bằng</a:t>
            </a:r>
            <a:r>
              <a:rPr lang="en-US" sz="4000" b="1" i="0" dirty="0">
                <a:solidFill>
                  <a:srgbClr val="0F1C3F"/>
                </a:solidFill>
                <a:latin typeface="Helvetica"/>
              </a:rPr>
              <a:t> </a:t>
            </a:r>
            <a:r>
              <a:rPr lang="en-US" sz="4000" b="1" i="0" dirty="0" err="1">
                <a:solidFill>
                  <a:srgbClr val="0F1C3F"/>
                </a:solidFill>
                <a:latin typeface="Helvetica"/>
              </a:rPr>
              <a:t>văn</a:t>
            </a:r>
            <a:r>
              <a:rPr lang="en-US" sz="4000" b="1" i="0" dirty="0">
                <a:solidFill>
                  <a:srgbClr val="0F1C3F"/>
                </a:solidFill>
                <a:latin typeface="Helvetica"/>
              </a:rPr>
              <a:t> </a:t>
            </a:r>
            <a:r>
              <a:rPr lang="en-US" sz="4000" b="1" i="0" dirty="0" err="1">
                <a:solidFill>
                  <a:srgbClr val="0F1C3F"/>
                </a:solidFill>
                <a:latin typeface="Helvetica"/>
              </a:rPr>
              <a:t>bản</a:t>
            </a:r>
            <a:br>
              <a:rPr lang="en-US" sz="4000" b="1" dirty="0">
                <a:solidFill>
                  <a:srgbClr val="0F1C3F"/>
                </a:solidFill>
                <a:latin typeface="Helvetica"/>
              </a:rPr>
            </a:br>
            <a:r>
              <a:rPr lang="en-US" sz="4000" b="1" i="0" dirty="0" err="1">
                <a:solidFill>
                  <a:srgbClr val="0F1C3F"/>
                </a:solidFill>
                <a:latin typeface="Helvetica"/>
              </a:rPr>
              <a:t>cho</a:t>
            </a:r>
            <a:r>
              <a:rPr lang="en-US" sz="4000" b="1" i="0" dirty="0">
                <a:solidFill>
                  <a:srgbClr val="0F1C3F"/>
                </a:solidFill>
                <a:latin typeface="Helvetica"/>
              </a:rPr>
              <a:t> </a:t>
            </a:r>
            <a:r>
              <a:rPr lang="en-US" sz="4000" b="1" i="0" dirty="0" err="1">
                <a:solidFill>
                  <a:srgbClr val="0F1C3F"/>
                </a:solidFill>
                <a:latin typeface="Helvetica"/>
              </a:rPr>
              <a:t>truy</a:t>
            </a:r>
            <a:r>
              <a:rPr lang="en-US" sz="4000" b="1" i="0" dirty="0">
                <a:solidFill>
                  <a:srgbClr val="0F1C3F"/>
                </a:solidFill>
                <a:latin typeface="Helvetica"/>
              </a:rPr>
              <a:t> </a:t>
            </a:r>
            <a:r>
              <a:rPr lang="en-US" sz="4000" b="1" i="0" dirty="0" err="1">
                <a:solidFill>
                  <a:srgbClr val="0F1C3F"/>
                </a:solidFill>
                <a:latin typeface="Helvetica"/>
              </a:rPr>
              <a:t>xuất</a:t>
            </a:r>
            <a:r>
              <a:rPr lang="en-US" sz="4000" b="1" i="0" dirty="0">
                <a:solidFill>
                  <a:srgbClr val="0F1C3F"/>
                </a:solidFill>
                <a:latin typeface="Helvetica"/>
              </a:rPr>
              <a:t> </a:t>
            </a:r>
            <a:r>
              <a:rPr lang="en-US" sz="4000" b="1" i="0" dirty="0" err="1">
                <a:solidFill>
                  <a:srgbClr val="0F1C3F"/>
                </a:solidFill>
                <a:latin typeface="Helvetica"/>
              </a:rPr>
              <a:t>ảnh</a:t>
            </a:r>
            <a:r>
              <a:rPr lang="en-US" sz="4000" b="1" i="0" dirty="0">
                <a:solidFill>
                  <a:srgbClr val="0F1C3F"/>
                </a:solidFill>
                <a:latin typeface="Helvetica"/>
              </a:rPr>
              <a:t> </a:t>
            </a:r>
            <a:r>
              <a:rPr lang="en-US" sz="4000" b="1" i="0" dirty="0" err="1">
                <a:solidFill>
                  <a:srgbClr val="0F1C3F"/>
                </a:solidFill>
                <a:latin typeface="Helvetica"/>
              </a:rPr>
              <a:t>kết</a:t>
            </a:r>
            <a:r>
              <a:rPr lang="en-US" sz="4000" b="1" i="0" dirty="0">
                <a:solidFill>
                  <a:srgbClr val="0F1C3F"/>
                </a:solidFill>
                <a:latin typeface="Helvetica"/>
              </a:rPr>
              <a:t> </a:t>
            </a:r>
            <a:r>
              <a:rPr lang="en-US" sz="4000" b="1" i="0" dirty="0" err="1">
                <a:solidFill>
                  <a:srgbClr val="0F1C3F"/>
                </a:solidFill>
                <a:latin typeface="Helvetica"/>
              </a:rPr>
              <a:t>hợp</a:t>
            </a:r>
            <a:r>
              <a:rPr lang="en-US" sz="4000" b="1" i="0" dirty="0">
                <a:solidFill>
                  <a:srgbClr val="0F1C3F"/>
                </a:solidFill>
                <a:latin typeface="Helvetica"/>
              </a:rPr>
              <a:t> Zero-shot</a:t>
            </a:r>
            <a:endParaRPr sz="4000" b="1" i="0" dirty="0">
              <a:solidFill>
                <a:srgbClr val="0F1C3F"/>
              </a:solidFill>
              <a:latin typeface="Helvetica"/>
            </a:endParaRPr>
          </a:p>
          <a:p>
            <a:pPr algn="l">
              <a:lnSpc>
                <a:spcPct val="200000"/>
              </a:lnSpc>
            </a:pPr>
            <a:r>
              <a:rPr sz="2800" b="0" i="1" dirty="0">
                <a:solidFill>
                  <a:srgbClr val="144FB0"/>
                </a:solidFill>
                <a:latin typeface="Helvetica"/>
              </a:rPr>
              <a:t>Tái </a:t>
            </a:r>
            <a:r>
              <a:rPr sz="2800" b="0" i="1" dirty="0" err="1">
                <a:solidFill>
                  <a:srgbClr val="144FB0"/>
                </a:solidFill>
                <a:latin typeface="Helvetica"/>
              </a:rPr>
              <a:t>hiện</a:t>
            </a:r>
            <a:r>
              <a:rPr sz="2800" b="0" i="1" dirty="0">
                <a:solidFill>
                  <a:srgbClr val="144FB0"/>
                </a:solidFill>
                <a:latin typeface="Helvetica"/>
              </a:rPr>
              <a:t> </a:t>
            </a:r>
            <a:r>
              <a:rPr sz="2800" b="0" i="1" dirty="0" err="1">
                <a:solidFill>
                  <a:srgbClr val="144FB0"/>
                </a:solidFill>
                <a:latin typeface="Helvetica"/>
              </a:rPr>
              <a:t>và</a:t>
            </a:r>
            <a:r>
              <a:rPr sz="2800" b="0" i="1" dirty="0">
                <a:solidFill>
                  <a:srgbClr val="144FB0"/>
                </a:solidFill>
                <a:latin typeface="Helvetica"/>
              </a:rPr>
              <a:t> </a:t>
            </a:r>
            <a:r>
              <a:rPr sz="2800" b="0" i="1" dirty="0" err="1">
                <a:solidFill>
                  <a:srgbClr val="144FB0"/>
                </a:solidFill>
                <a:latin typeface="Helvetica"/>
              </a:rPr>
              <a:t>cải</a:t>
            </a:r>
            <a:r>
              <a:rPr sz="2800" b="0" i="1" dirty="0">
                <a:solidFill>
                  <a:srgbClr val="144FB0"/>
                </a:solidFill>
                <a:latin typeface="Helvetica"/>
              </a:rPr>
              <a:t> </a:t>
            </a:r>
            <a:r>
              <a:rPr sz="2800" b="0" i="1" dirty="0" err="1">
                <a:solidFill>
                  <a:srgbClr val="144FB0"/>
                </a:solidFill>
                <a:latin typeface="Helvetica"/>
              </a:rPr>
              <a:t>tiến</a:t>
            </a:r>
            <a:r>
              <a:rPr sz="2800" b="0" i="1" dirty="0">
                <a:solidFill>
                  <a:srgbClr val="144FB0"/>
                </a:solidFill>
                <a:latin typeface="Helvetica"/>
              </a:rPr>
              <a:t> </a:t>
            </a:r>
            <a:r>
              <a:rPr sz="2800" b="0" i="1" dirty="0" err="1">
                <a:solidFill>
                  <a:srgbClr val="144FB0"/>
                </a:solidFill>
                <a:latin typeface="Helvetica"/>
              </a:rPr>
              <a:t>LinCIR</a:t>
            </a:r>
            <a:r>
              <a:rPr sz="2800" b="0" i="1" dirty="0">
                <a:solidFill>
                  <a:srgbClr val="144FB0"/>
                </a:solidFill>
                <a:latin typeface="Helvetica"/>
              </a:rPr>
              <a:t> (CVPR 2024)</a:t>
            </a:r>
          </a:p>
        </p:txBody>
      </p:sp>
      <p:sp>
        <p:nvSpPr>
          <p:cNvPr id="6" name="TextBox 5"/>
          <p:cNvSpPr txBox="1"/>
          <p:nvPr/>
        </p:nvSpPr>
        <p:spPr>
          <a:xfrm>
            <a:off x="483476" y="5477884"/>
            <a:ext cx="11225048" cy="1057149"/>
          </a:xfrm>
          <a:prstGeom prst="rect">
            <a:avLst/>
          </a:prstGeom>
          <a:noFill/>
        </p:spPr>
        <p:txBody>
          <a:bodyPr wrap="square" lIns="45720" tIns="27432" rIns="45720" bIns="27432" anchor="t">
            <a:spAutoFit/>
          </a:bodyPr>
          <a:lstStyle/>
          <a:p>
            <a:pPr algn="l">
              <a:lnSpc>
                <a:spcPct val="110000"/>
              </a:lnSpc>
            </a:pPr>
            <a:r>
              <a:rPr sz="2000" b="0" i="0" dirty="0" err="1">
                <a:solidFill>
                  <a:srgbClr val="5B6B82"/>
                </a:solidFill>
                <a:latin typeface="Helvetica"/>
              </a:rPr>
              <a:t>Giảng</a:t>
            </a:r>
            <a:r>
              <a:rPr sz="2000" b="0" i="0" dirty="0">
                <a:solidFill>
                  <a:srgbClr val="5B6B82"/>
                </a:solidFill>
                <a:latin typeface="Helvetica"/>
              </a:rPr>
              <a:t> </a:t>
            </a:r>
            <a:r>
              <a:rPr sz="2000" b="0" i="0" dirty="0" err="1">
                <a:solidFill>
                  <a:srgbClr val="5B6B82"/>
                </a:solidFill>
                <a:latin typeface="Helvetica"/>
              </a:rPr>
              <a:t>viên</a:t>
            </a:r>
            <a:r>
              <a:rPr sz="2000" b="0" i="0" dirty="0">
                <a:solidFill>
                  <a:srgbClr val="5B6B82"/>
                </a:solidFill>
                <a:latin typeface="Helvetica"/>
              </a:rPr>
              <a:t>: TS. Đào Thị Thuý Quỳnh </a:t>
            </a:r>
            <a:endParaRPr lang="en-US" sz="2000" dirty="0">
              <a:solidFill>
                <a:srgbClr val="5B6B82"/>
              </a:solidFill>
              <a:latin typeface="Helvetica"/>
            </a:endParaRPr>
          </a:p>
          <a:p>
            <a:pPr algn="l">
              <a:lnSpc>
                <a:spcPct val="110000"/>
              </a:lnSpc>
            </a:pPr>
            <a:r>
              <a:rPr sz="2000" b="0" i="0" dirty="0" err="1">
                <a:solidFill>
                  <a:srgbClr val="5B6B82"/>
                </a:solidFill>
                <a:latin typeface="Helvetica"/>
              </a:rPr>
              <a:t>Lớp</a:t>
            </a:r>
            <a:r>
              <a:rPr sz="2000" b="0" i="0" dirty="0">
                <a:solidFill>
                  <a:srgbClr val="5B6B82"/>
                </a:solidFill>
                <a:latin typeface="Helvetica"/>
              </a:rPr>
              <a:t> M25CQHT02-B</a:t>
            </a:r>
          </a:p>
          <a:p>
            <a:pPr>
              <a:lnSpc>
                <a:spcPct val="110000"/>
              </a:lnSpc>
            </a:pPr>
            <a:r>
              <a:rPr sz="2000" b="0" i="0" dirty="0">
                <a:solidFill>
                  <a:srgbClr val="5B6B82"/>
                </a:solidFill>
                <a:latin typeface="Helvetica"/>
              </a:rPr>
              <a:t>Đào Văn Tâm · Lâm Thành Trung · Nguyễn Xuân Tùng</a:t>
            </a:r>
            <a:r>
              <a:rPr lang="en-VN" sz="2000" dirty="0">
                <a:solidFill>
                  <a:srgbClr val="5B6B82"/>
                </a:solidFill>
              </a:rPr>
              <a:t> · </a:t>
            </a:r>
            <a:r>
              <a:rPr sz="2000" b="0" i="0" dirty="0" err="1">
                <a:solidFill>
                  <a:srgbClr val="5B6B82"/>
                </a:solidFill>
                <a:latin typeface="Helvetica"/>
              </a:rPr>
              <a:t>Trần</a:t>
            </a:r>
            <a:r>
              <a:rPr sz="2000" b="0" i="0" dirty="0">
                <a:solidFill>
                  <a:srgbClr val="5B6B82"/>
                </a:solidFill>
                <a:latin typeface="Helvetica"/>
              </a:rPr>
              <a:t> Quang Đức Dũng · </a:t>
            </a:r>
            <a:r>
              <a:rPr sz="2000" b="0" i="0" dirty="0" err="1">
                <a:solidFill>
                  <a:srgbClr val="5B6B82"/>
                </a:solidFill>
                <a:latin typeface="Helvetica"/>
              </a:rPr>
              <a:t>Mekdala</a:t>
            </a:r>
            <a:r>
              <a:rPr sz="2000" b="0" i="0" dirty="0">
                <a:solidFill>
                  <a:srgbClr val="5B6B82"/>
                </a:solidFill>
                <a:latin typeface="Helvetica"/>
              </a:rPr>
              <a:t> Nounou</a:t>
            </a:r>
          </a:p>
        </p:txBody>
      </p:sp>
      <p:pic>
        <p:nvPicPr>
          <p:cNvPr id="7" name="Picture 6" descr="cir_example_slide.png"/>
          <p:cNvPicPr>
            <a:picLocks noChangeAspect="1"/>
          </p:cNvPicPr>
          <p:nvPr/>
        </p:nvPicPr>
        <p:blipFill>
          <a:blip r:embed="rId3"/>
          <a:stretch>
            <a:fillRect/>
          </a:stretch>
        </p:blipFill>
        <p:spPr>
          <a:xfrm>
            <a:off x="7680960" y="639783"/>
            <a:ext cx="4206240" cy="149555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1463040" y="4023360"/>
            <a:ext cx="3840480" cy="384048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54864" y="603504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548640" y="631521"/>
            <a:ext cx="10424160" cy="574901"/>
          </a:xfrm>
          <a:prstGeom prst="rect">
            <a:avLst/>
          </a:prstGeom>
          <a:noFill/>
        </p:spPr>
        <p:txBody>
          <a:bodyPr wrap="square" lIns="45720" tIns="27432" rIns="45720" bIns="27432" anchor="ctr">
            <a:spAutoFit/>
          </a:bodyPr>
          <a:lstStyle/>
          <a:p>
            <a:pPr algn="l">
              <a:lnSpc>
                <a:spcPct val="110000"/>
              </a:lnSpc>
            </a:pPr>
            <a:r>
              <a:rPr sz="3200" b="1" i="0" dirty="0" err="1">
                <a:solidFill>
                  <a:srgbClr val="0F1C3F"/>
                </a:solidFill>
                <a:latin typeface="Helvetica"/>
              </a:rPr>
              <a:t>Phân</a:t>
            </a:r>
            <a:r>
              <a:rPr sz="3200" b="1" i="0" dirty="0">
                <a:solidFill>
                  <a:srgbClr val="0F1C3F"/>
                </a:solidFill>
                <a:latin typeface="Helvetica"/>
              </a:rPr>
              <a:t> </a:t>
            </a:r>
            <a:r>
              <a:rPr lang="en-US" sz="3200" b="1" i="0" dirty="0">
                <a:solidFill>
                  <a:srgbClr val="0F1C3F"/>
                </a:solidFill>
                <a:latin typeface="Helvetica"/>
              </a:rPr>
              <a:t>chia</a:t>
            </a:r>
            <a:r>
              <a:rPr sz="3200" b="1" i="0" dirty="0">
                <a:solidFill>
                  <a:srgbClr val="0F1C3F"/>
                </a:solidFill>
                <a:latin typeface="Helvetica"/>
              </a:rPr>
              <a:t> </a:t>
            </a:r>
            <a:r>
              <a:rPr sz="3200" b="1" i="0" dirty="0" err="1">
                <a:solidFill>
                  <a:srgbClr val="0F1C3F"/>
                </a:solidFill>
                <a:latin typeface="Helvetica"/>
              </a:rPr>
              <a:t>công</a:t>
            </a:r>
            <a:r>
              <a:rPr sz="3200" b="1" i="0" dirty="0">
                <a:solidFill>
                  <a:srgbClr val="0F1C3F"/>
                </a:solidFill>
                <a:latin typeface="Helvetica"/>
              </a:rPr>
              <a:t> </a:t>
            </a:r>
            <a:r>
              <a:rPr sz="3200" b="1" i="0" dirty="0" err="1">
                <a:solidFill>
                  <a:srgbClr val="0F1C3F"/>
                </a:solidFill>
                <a:latin typeface="Helvetica"/>
              </a:rPr>
              <a:t>việc</a:t>
            </a:r>
            <a:r>
              <a:rPr sz="3200" b="1" i="0" dirty="0">
                <a:solidFill>
                  <a:srgbClr val="0F1C3F"/>
                </a:solidFill>
                <a:latin typeface="Helvetica"/>
              </a:rPr>
              <a:t> </a:t>
            </a:r>
            <a:r>
              <a:rPr sz="3200" b="1" i="0" dirty="0" err="1">
                <a:solidFill>
                  <a:srgbClr val="0F1C3F"/>
                </a:solidFill>
                <a:latin typeface="Helvetica"/>
              </a:rPr>
              <a:t>của</a:t>
            </a:r>
            <a:r>
              <a:rPr sz="3200" b="1" i="0" dirty="0">
                <a:solidFill>
                  <a:srgbClr val="0F1C3F"/>
                </a:solidFill>
                <a:latin typeface="Helvetica"/>
              </a:rPr>
              <a:t> </a:t>
            </a:r>
            <a:r>
              <a:rPr sz="3200" b="1" i="0" dirty="0" err="1">
                <a:solidFill>
                  <a:srgbClr val="0F1C3F"/>
                </a:solidFill>
                <a:latin typeface="Helvetica"/>
              </a:rPr>
              <a:t>nhóm</a:t>
            </a:r>
            <a:r>
              <a:rPr lang="en-US" sz="3200" b="1" i="0" dirty="0">
                <a:solidFill>
                  <a:srgbClr val="0F1C3F"/>
                </a:solidFill>
                <a:latin typeface="Helvetica"/>
              </a:rPr>
              <a:t> 8</a:t>
            </a:r>
            <a:endParaRPr sz="3200" b="1" i="0" dirty="0">
              <a:solidFill>
                <a:srgbClr val="0F1C3F"/>
              </a:solidFill>
              <a:latin typeface="Helvetica"/>
            </a:endParaRPr>
          </a:p>
        </p:txBody>
      </p:sp>
      <p:sp>
        <p:nvSpPr>
          <p:cNvPr id="5"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2</a:t>
            </a:r>
          </a:p>
        </p:txBody>
      </p:sp>
      <p:graphicFrame>
        <p:nvGraphicFramePr>
          <p:cNvPr id="6" name="Table 5"/>
          <p:cNvGraphicFramePr>
            <a:graphicFrameLocks noGrp="1"/>
          </p:cNvGraphicFramePr>
          <p:nvPr>
            <p:extLst>
              <p:ext uri="{D42A27DB-BD31-4B8C-83A1-F6EECF244321}">
                <p14:modId xmlns:p14="http://schemas.microsoft.com/office/powerpoint/2010/main" val="535376325"/>
              </p:ext>
            </p:extLst>
          </p:nvPr>
        </p:nvGraphicFramePr>
        <p:xfrm>
          <a:off x="641131" y="1554480"/>
          <a:ext cx="10836166" cy="3419856"/>
        </p:xfrm>
        <a:graphic>
          <a:graphicData uri="http://schemas.openxmlformats.org/drawingml/2006/table">
            <a:tbl>
              <a:tblPr firstRow="1" bandRow="1">
                <a:tableStyleId>{5C22544A-7EE6-4342-B048-85BDC9FD1C3A}</a:tableStyleId>
              </a:tblPr>
              <a:tblGrid>
                <a:gridCol w="3974946">
                  <a:extLst>
                    <a:ext uri="{9D8B030D-6E8A-4147-A177-3AD203B41FA5}">
                      <a16:colId xmlns:a16="http://schemas.microsoft.com/office/drawing/2014/main" val="20000"/>
                    </a:ext>
                  </a:extLst>
                </a:gridCol>
                <a:gridCol w="6861220">
                  <a:extLst>
                    <a:ext uri="{9D8B030D-6E8A-4147-A177-3AD203B41FA5}">
                      <a16:colId xmlns:a16="http://schemas.microsoft.com/office/drawing/2014/main" val="20001"/>
                    </a:ext>
                  </a:extLst>
                </a:gridCol>
              </a:tblGrid>
              <a:tr h="457200">
                <a:tc>
                  <a:txBody>
                    <a:bodyPr/>
                    <a:lstStyle/>
                    <a:p>
                      <a:pPr algn="l"/>
                      <a:r>
                        <a:rPr sz="2000" b="1" i="0">
                          <a:solidFill>
                            <a:srgbClr val="FFFFFF"/>
                          </a:solidFill>
                          <a:latin typeface="Helvetica"/>
                        </a:rPr>
                        <a:t>Thành viên</a:t>
                      </a:r>
                    </a:p>
                  </a:txBody>
                  <a:tcPr marL="73152" marR="73152" marT="36576" marB="36576" anchor="ctr">
                    <a:solidFill>
                      <a:srgbClr val="1E6FE8"/>
                    </a:solidFill>
                  </a:tcPr>
                </a:tc>
                <a:tc>
                  <a:txBody>
                    <a:bodyPr/>
                    <a:lstStyle/>
                    <a:p>
                      <a:pPr algn="l"/>
                      <a:r>
                        <a:rPr sz="2000" b="1" i="0" dirty="0">
                          <a:solidFill>
                            <a:srgbClr val="FFFFFF"/>
                          </a:solidFill>
                          <a:latin typeface="Helvetica"/>
                        </a:rPr>
                        <a:t>Công </a:t>
                      </a:r>
                      <a:r>
                        <a:rPr sz="2000" b="1" i="0" dirty="0" err="1">
                          <a:solidFill>
                            <a:srgbClr val="FFFFFF"/>
                          </a:solidFill>
                          <a:latin typeface="Helvetica"/>
                        </a:rPr>
                        <a:t>việc</a:t>
                      </a:r>
                      <a:r>
                        <a:rPr sz="2000" b="1" i="0" dirty="0">
                          <a:solidFill>
                            <a:srgbClr val="FFFFFF"/>
                          </a:solidFill>
                          <a:latin typeface="Helvetica"/>
                        </a:rPr>
                        <a:t> </a:t>
                      </a:r>
                      <a:r>
                        <a:rPr sz="2000" b="1" i="0" dirty="0" err="1">
                          <a:solidFill>
                            <a:srgbClr val="FFFFFF"/>
                          </a:solidFill>
                          <a:latin typeface="Helvetica"/>
                        </a:rPr>
                        <a:t>chính</a:t>
                      </a:r>
                      <a:endParaRPr sz="2000" b="1" i="0" dirty="0">
                        <a:solidFill>
                          <a:srgbClr val="FFFFFF"/>
                        </a:solidFill>
                        <a:latin typeface="Helvetica"/>
                      </a:endParaRPr>
                    </a:p>
                  </a:txBody>
                  <a:tcPr marL="73152" marR="73152" marT="36576" marB="36576" anchor="ctr">
                    <a:solidFill>
                      <a:srgbClr val="1E6FE8"/>
                    </a:solidFill>
                  </a:tcPr>
                </a:tc>
                <a:extLst>
                  <a:ext uri="{0D108BD9-81ED-4DB2-BD59-A6C34878D82A}">
                    <a16:rowId xmlns:a16="http://schemas.microsoft.com/office/drawing/2014/main" val="10000"/>
                  </a:ext>
                </a:extLst>
              </a:tr>
              <a:tr h="457200">
                <a:tc>
                  <a:txBody>
                    <a:bodyPr/>
                    <a:lstStyle/>
                    <a:p>
                      <a:pPr algn="l"/>
                      <a:r>
                        <a:rPr sz="2000" b="0" i="0" dirty="0">
                          <a:solidFill>
                            <a:srgbClr val="0F1C3F"/>
                          </a:solidFill>
                          <a:latin typeface="Helvetica"/>
                        </a:rPr>
                        <a:t>Đào Văn Tâm (</a:t>
                      </a:r>
                      <a:r>
                        <a:rPr sz="2000" b="0" i="0" dirty="0" err="1">
                          <a:solidFill>
                            <a:srgbClr val="0F1C3F"/>
                          </a:solidFill>
                          <a:latin typeface="Helvetica"/>
                        </a:rPr>
                        <a:t>trưởng</a:t>
                      </a:r>
                      <a:r>
                        <a:rPr sz="2000" b="0" i="0" dirty="0">
                          <a:solidFill>
                            <a:srgbClr val="0F1C3F"/>
                          </a:solidFill>
                          <a:latin typeface="Helvetica"/>
                        </a:rPr>
                        <a:t> </a:t>
                      </a:r>
                      <a:r>
                        <a:rPr sz="2000" b="0" i="0" dirty="0" err="1">
                          <a:solidFill>
                            <a:srgbClr val="0F1C3F"/>
                          </a:solidFill>
                          <a:latin typeface="Helvetica"/>
                        </a:rPr>
                        <a:t>nhóm</a:t>
                      </a:r>
                      <a:r>
                        <a:rPr sz="2000" b="0" i="0" dirty="0">
                          <a:solidFill>
                            <a:srgbClr val="0F1C3F"/>
                          </a:solidFill>
                          <a:latin typeface="Helvetica"/>
                        </a:rPr>
                        <a:t>)</a:t>
                      </a:r>
                    </a:p>
                  </a:txBody>
                  <a:tcPr marL="73152" marR="73152" marT="36576" marB="36576" anchor="ctr">
                    <a:solidFill>
                      <a:srgbClr val="FFFFFF"/>
                    </a:solidFill>
                  </a:tcPr>
                </a:tc>
                <a:tc>
                  <a:txBody>
                    <a:bodyPr/>
                    <a:lstStyle/>
                    <a:p>
                      <a:pPr algn="l"/>
                      <a:r>
                        <a:rPr sz="2000" b="0" i="0">
                          <a:solidFill>
                            <a:srgbClr val="0F1C3F"/>
                          </a:solidFill>
                          <a:latin typeface="Helvetica"/>
                        </a:rPr>
                        <a:t>Chuyển đổi mã nguồn, kiểm chứng tương đương; chạy thực nghiệm trên Kaggle; trình bày</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r>
                        <a:rPr sz="2000" b="0" i="0">
                          <a:solidFill>
                            <a:srgbClr val="0F1C3F"/>
                          </a:solidFill>
                          <a:latin typeface="Helvetica"/>
                        </a:rPr>
                        <a:t>Lâm Thành Trung</a:t>
                      </a:r>
                    </a:p>
                  </a:txBody>
                  <a:tcPr marL="73152" marR="73152" marT="36576" marB="36576" anchor="ctr">
                    <a:solidFill>
                      <a:srgbClr val="FFFFFF"/>
                    </a:solidFill>
                  </a:tcPr>
                </a:tc>
                <a:tc>
                  <a:txBody>
                    <a:bodyPr/>
                    <a:lstStyle/>
                    <a:p>
                      <a:pPr algn="l"/>
                      <a:r>
                        <a:rPr sz="2000" b="0" i="0">
                          <a:solidFill>
                            <a:srgbClr val="0F1C3F"/>
                          </a:solidFill>
                          <a:latin typeface="Helvetica"/>
                        </a:rPr>
                        <a:t>Cải tiến A (InfoNCE); phân tích đường học</a:t>
                      </a:r>
                    </a:p>
                  </a:txBody>
                  <a:tcPr marL="73152" marR="73152" marT="36576" marB="36576" anchor="ctr">
                    <a:solidFill>
                      <a:srgbClr val="FFFFFF"/>
                    </a:solidFill>
                  </a:tcPr>
                </a:tc>
                <a:extLst>
                  <a:ext uri="{0D108BD9-81ED-4DB2-BD59-A6C34878D82A}">
                    <a16:rowId xmlns:a16="http://schemas.microsoft.com/office/drawing/2014/main" val="10002"/>
                  </a:ext>
                </a:extLst>
              </a:tr>
              <a:tr h="457200">
                <a:tc>
                  <a:txBody>
                    <a:bodyPr/>
                    <a:lstStyle/>
                    <a:p>
                      <a:pPr algn="l"/>
                      <a:r>
                        <a:rPr sz="2000" b="0" i="0">
                          <a:solidFill>
                            <a:srgbClr val="0F1C3F"/>
                          </a:solidFill>
                          <a:latin typeface="Helvetica"/>
                        </a:rPr>
                        <a:t>Nguyễn Xuân Tùng</a:t>
                      </a:r>
                    </a:p>
                  </a:txBody>
                  <a:tcPr marL="73152" marR="73152" marT="36576" marB="36576" anchor="ctr">
                    <a:solidFill>
                      <a:srgbClr val="FFFFFF"/>
                    </a:solidFill>
                  </a:tcPr>
                </a:tc>
                <a:tc>
                  <a:txBody>
                    <a:bodyPr/>
                    <a:lstStyle/>
                    <a:p>
                      <a:pPr algn="l"/>
                      <a:r>
                        <a:rPr sz="2000" b="0" i="0">
                          <a:solidFill>
                            <a:srgbClr val="0F1C3F"/>
                          </a:solidFill>
                          <a:latin typeface="Helvetica"/>
                        </a:rPr>
                        <a:t>Tái hiện checkpoint chính thức; khác biệt bài báo – mã nguồn</a:t>
                      </a:r>
                    </a:p>
                  </a:txBody>
                  <a:tcPr marL="73152" marR="73152" marT="36576" marB="36576" anchor="ctr">
                    <a:solidFill>
                      <a:srgbClr val="FFFFFF"/>
                    </a:solidFill>
                  </a:tcPr>
                </a:tc>
                <a:extLst>
                  <a:ext uri="{0D108BD9-81ED-4DB2-BD59-A6C34878D82A}">
                    <a16:rowId xmlns:a16="http://schemas.microsoft.com/office/drawing/2014/main" val="10003"/>
                  </a:ext>
                </a:extLst>
              </a:tr>
              <a:tr h="457200">
                <a:tc>
                  <a:txBody>
                    <a:bodyPr/>
                    <a:lstStyle/>
                    <a:p>
                      <a:pPr algn="l"/>
                      <a:r>
                        <a:rPr sz="2000" b="0" i="0">
                          <a:solidFill>
                            <a:srgbClr val="0F1C3F"/>
                          </a:solidFill>
                          <a:latin typeface="Helvetica"/>
                        </a:rPr>
                        <a:t>Trần Quang Đức Dũng</a:t>
                      </a:r>
                    </a:p>
                  </a:txBody>
                  <a:tcPr marL="73152" marR="73152" marT="36576" marB="36576" anchor="ctr">
                    <a:solidFill>
                      <a:srgbClr val="FFFFFF"/>
                    </a:solidFill>
                  </a:tcPr>
                </a:tc>
                <a:tc>
                  <a:txBody>
                    <a:bodyPr/>
                    <a:lstStyle/>
                    <a:p>
                      <a:pPr algn="l"/>
                      <a:r>
                        <a:rPr sz="2000" b="0" i="0">
                          <a:solidFill>
                            <a:srgbClr val="0F1C3F"/>
                          </a:solidFill>
                          <a:latin typeface="Helvetica"/>
                        </a:rPr>
                        <a:t>Giao thức đánh giá, kiểm định thống kê; cải tiến B; modality gap</a:t>
                      </a:r>
                    </a:p>
                  </a:txBody>
                  <a:tcPr marL="73152" marR="73152" marT="36576" marB="36576" anchor="ctr">
                    <a:solidFill>
                      <a:srgbClr val="FFFFFF"/>
                    </a:solidFill>
                  </a:tcPr>
                </a:tc>
                <a:extLst>
                  <a:ext uri="{0D108BD9-81ED-4DB2-BD59-A6C34878D82A}">
                    <a16:rowId xmlns:a16="http://schemas.microsoft.com/office/drawing/2014/main" val="10004"/>
                  </a:ext>
                </a:extLst>
              </a:tr>
              <a:tr h="457200">
                <a:tc>
                  <a:txBody>
                    <a:bodyPr/>
                    <a:lstStyle/>
                    <a:p>
                      <a:pPr algn="l"/>
                      <a:r>
                        <a:rPr sz="2000" b="0" i="0">
                          <a:solidFill>
                            <a:srgbClr val="0F1C3F"/>
                          </a:solidFill>
                          <a:latin typeface="Helvetica"/>
                        </a:rPr>
                        <a:t>Mekdala Nounou</a:t>
                      </a:r>
                    </a:p>
                  </a:txBody>
                  <a:tcPr marL="73152" marR="73152" marT="36576" marB="36576" anchor="ctr">
                    <a:solidFill>
                      <a:srgbClr val="FFFFFF"/>
                    </a:solidFill>
                  </a:tcPr>
                </a:tc>
                <a:tc>
                  <a:txBody>
                    <a:bodyPr/>
                    <a:lstStyle/>
                    <a:p>
                      <a:pPr algn="l"/>
                      <a:r>
                        <a:rPr sz="2000" b="0" i="0" dirty="0" err="1">
                          <a:solidFill>
                            <a:srgbClr val="0F1C3F"/>
                          </a:solidFill>
                          <a:latin typeface="Helvetica"/>
                        </a:rPr>
                        <a:t>Tổng</a:t>
                      </a:r>
                      <a:r>
                        <a:rPr sz="2000" b="0" i="0" dirty="0">
                          <a:solidFill>
                            <a:srgbClr val="0F1C3F"/>
                          </a:solidFill>
                          <a:latin typeface="Helvetica"/>
                        </a:rPr>
                        <a:t> </a:t>
                      </a:r>
                      <a:r>
                        <a:rPr sz="2000" b="0" i="0" dirty="0" err="1">
                          <a:solidFill>
                            <a:srgbClr val="0F1C3F"/>
                          </a:solidFill>
                          <a:latin typeface="Helvetica"/>
                        </a:rPr>
                        <a:t>quan</a:t>
                      </a:r>
                      <a:r>
                        <a:rPr sz="2000" b="0" i="0" dirty="0">
                          <a:solidFill>
                            <a:srgbClr val="0F1C3F"/>
                          </a:solidFill>
                          <a:latin typeface="Helvetica"/>
                        </a:rPr>
                        <a:t> </a:t>
                      </a:r>
                      <a:r>
                        <a:rPr sz="2000" b="0" i="0" dirty="0" err="1">
                          <a:solidFill>
                            <a:srgbClr val="0F1C3F"/>
                          </a:solidFill>
                          <a:latin typeface="Helvetica"/>
                        </a:rPr>
                        <a:t>lý</a:t>
                      </a:r>
                      <a:r>
                        <a:rPr sz="2000" b="0" i="0" dirty="0">
                          <a:solidFill>
                            <a:srgbClr val="0F1C3F"/>
                          </a:solidFill>
                          <a:latin typeface="Helvetica"/>
                        </a:rPr>
                        <a:t> </a:t>
                      </a:r>
                      <a:r>
                        <a:rPr sz="2000" b="0" i="0" dirty="0" err="1">
                          <a:solidFill>
                            <a:srgbClr val="0F1C3F"/>
                          </a:solidFill>
                          <a:latin typeface="Helvetica"/>
                        </a:rPr>
                        <a:t>thuyết</a:t>
                      </a:r>
                      <a:r>
                        <a:rPr sz="2000" b="0" i="0" dirty="0">
                          <a:solidFill>
                            <a:srgbClr val="0F1C3F"/>
                          </a:solidFill>
                          <a:latin typeface="Helvetica"/>
                        </a:rPr>
                        <a:t>; </a:t>
                      </a:r>
                      <a:r>
                        <a:rPr sz="2000" b="0" i="0" dirty="0" err="1">
                          <a:solidFill>
                            <a:srgbClr val="0F1C3F"/>
                          </a:solidFill>
                          <a:latin typeface="Helvetica"/>
                        </a:rPr>
                        <a:t>phân</a:t>
                      </a:r>
                      <a:r>
                        <a:rPr sz="2000" b="0" i="0" dirty="0">
                          <a:solidFill>
                            <a:srgbClr val="0F1C3F"/>
                          </a:solidFill>
                          <a:latin typeface="Helvetica"/>
                        </a:rPr>
                        <a:t> </a:t>
                      </a:r>
                      <a:r>
                        <a:rPr sz="2000" b="0" i="0" dirty="0" err="1">
                          <a:solidFill>
                            <a:srgbClr val="0F1C3F"/>
                          </a:solidFill>
                          <a:latin typeface="Helvetica"/>
                        </a:rPr>
                        <a:t>tích</a:t>
                      </a:r>
                      <a:r>
                        <a:rPr sz="2000" b="0" i="0" dirty="0">
                          <a:solidFill>
                            <a:srgbClr val="0F1C3F"/>
                          </a:solidFill>
                          <a:latin typeface="Helvetica"/>
                        </a:rPr>
                        <a:t> </a:t>
                      </a:r>
                      <a:r>
                        <a:rPr sz="2000" b="0" i="0" dirty="0" err="1">
                          <a:solidFill>
                            <a:srgbClr val="0F1C3F"/>
                          </a:solidFill>
                          <a:latin typeface="Helvetica"/>
                        </a:rPr>
                        <a:t>định</a:t>
                      </a:r>
                      <a:r>
                        <a:rPr sz="2000" b="0" i="0" dirty="0">
                          <a:solidFill>
                            <a:srgbClr val="0F1C3F"/>
                          </a:solidFill>
                          <a:latin typeface="Helvetica"/>
                        </a:rPr>
                        <a:t> </a:t>
                      </a:r>
                      <a:r>
                        <a:rPr sz="2000" b="0" i="0" dirty="0" err="1">
                          <a:solidFill>
                            <a:srgbClr val="0F1C3F"/>
                          </a:solidFill>
                          <a:latin typeface="Helvetica"/>
                        </a:rPr>
                        <a:t>tính</a:t>
                      </a:r>
                      <a:r>
                        <a:rPr sz="2000" b="0" i="0" dirty="0">
                          <a:solidFill>
                            <a:srgbClr val="0F1C3F"/>
                          </a:solidFill>
                          <a:latin typeface="Helvetica"/>
                        </a:rPr>
                        <a:t>; </a:t>
                      </a:r>
                      <a:r>
                        <a:rPr sz="2000" b="0" i="0" dirty="0" err="1">
                          <a:solidFill>
                            <a:srgbClr val="0F1C3F"/>
                          </a:solidFill>
                          <a:latin typeface="Helvetica"/>
                        </a:rPr>
                        <a:t>thiết</a:t>
                      </a:r>
                      <a:r>
                        <a:rPr sz="2000" b="0" i="0" dirty="0">
                          <a:solidFill>
                            <a:srgbClr val="0F1C3F"/>
                          </a:solidFill>
                          <a:latin typeface="Helvetica"/>
                        </a:rPr>
                        <a:t> </a:t>
                      </a:r>
                      <a:r>
                        <a:rPr sz="2000" b="0" i="0" dirty="0" err="1">
                          <a:solidFill>
                            <a:srgbClr val="0F1C3F"/>
                          </a:solidFill>
                          <a:latin typeface="Helvetica"/>
                        </a:rPr>
                        <a:t>kế</a:t>
                      </a:r>
                      <a:r>
                        <a:rPr sz="2000" b="0" i="0" dirty="0">
                          <a:solidFill>
                            <a:srgbClr val="0F1C3F"/>
                          </a:solidFill>
                          <a:latin typeface="Helvetica"/>
                        </a:rPr>
                        <a:t> slides</a:t>
                      </a:r>
                    </a:p>
                  </a:txBody>
                  <a:tcPr marL="73152" marR="73152" marT="36576" marB="36576" anchor="ct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9692640" y="-2194560"/>
            <a:ext cx="4206240" cy="420624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11201400" y="50292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548640" y="347472"/>
            <a:ext cx="10424160" cy="1143000"/>
          </a:xfrm>
          <a:prstGeom prst="rect">
            <a:avLst/>
          </a:prstGeom>
          <a:noFill/>
        </p:spPr>
        <p:txBody>
          <a:bodyPr wrap="square" lIns="45720" tIns="27432" rIns="45720" bIns="27432" anchor="ctr">
            <a:spAutoFit/>
          </a:bodyPr>
          <a:lstStyle/>
          <a:p>
            <a:pPr algn="l">
              <a:lnSpc>
                <a:spcPct val="110000"/>
              </a:lnSpc>
            </a:pPr>
            <a:r>
              <a:rPr sz="3200" b="1" i="0">
                <a:solidFill>
                  <a:srgbClr val="0F1C3F"/>
                </a:solidFill>
                <a:latin typeface="Helvetica"/>
              </a:rPr>
              <a:t>Truy vấn gồm một ảnh tham chiếu và một câu mô tả thay đổi</a:t>
            </a:r>
          </a:p>
        </p:txBody>
      </p:sp>
      <p:sp>
        <p:nvSpPr>
          <p:cNvPr id="5"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3</a:t>
            </a:r>
          </a:p>
        </p:txBody>
      </p:sp>
      <p:pic>
        <p:nvPicPr>
          <p:cNvPr id="6" name="Picture 5" descr="cir_example_slide.png"/>
          <p:cNvPicPr>
            <a:picLocks noChangeAspect="1"/>
          </p:cNvPicPr>
          <p:nvPr/>
        </p:nvPicPr>
        <p:blipFill>
          <a:blip r:embed="rId3"/>
          <a:stretch>
            <a:fillRect/>
          </a:stretch>
        </p:blipFill>
        <p:spPr>
          <a:xfrm>
            <a:off x="548640" y="1691640"/>
            <a:ext cx="7498079" cy="2665984"/>
          </a:xfrm>
          <a:prstGeom prst="rect">
            <a:avLst/>
          </a:prstGeom>
        </p:spPr>
      </p:pic>
      <p:sp>
        <p:nvSpPr>
          <p:cNvPr id="7" name="Rounded Rectangle 6"/>
          <p:cNvSpPr/>
          <p:nvPr/>
        </p:nvSpPr>
        <p:spPr>
          <a:xfrm>
            <a:off x="8412480" y="1737360"/>
            <a:ext cx="3200400" cy="420624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41080" y="1901952"/>
            <a:ext cx="274320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CIR</a:t>
            </a:r>
          </a:p>
        </p:txBody>
      </p:sp>
      <p:sp>
        <p:nvSpPr>
          <p:cNvPr id="9" name="TextBox 8"/>
          <p:cNvSpPr txBox="1"/>
          <p:nvPr/>
        </p:nvSpPr>
        <p:spPr>
          <a:xfrm>
            <a:off x="8641080" y="2468880"/>
            <a:ext cx="2743200" cy="3337559"/>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Giữ các đặc điểm của ảnh tham chiếu</a:t>
            </a:r>
          </a:p>
          <a:p>
            <a:pPr marL="292608" indent="-292608">
              <a:lnSpc>
                <a:spcPct val="108000"/>
              </a:lnSpc>
              <a:spcAft>
                <a:spcPts val="600"/>
              </a:spcAft>
              <a:buClr>
                <a:srgbClr val="1E6FE8"/>
              </a:buClr>
              <a:buFont typeface="Helvetica"/>
              <a:buChar char="•"/>
            </a:pPr>
            <a:r>
              <a:rPr sz="2100" b="0" i="0">
                <a:solidFill>
                  <a:srgbClr val="0F1C3F"/>
                </a:solidFill>
                <a:latin typeface="Helvetica"/>
              </a:rPr>
              <a:t>Thay đổi đúng như câu mô tả</a:t>
            </a:r>
          </a:p>
          <a:p>
            <a:pPr marL="292608" indent="-292608">
              <a:lnSpc>
                <a:spcPct val="108000"/>
              </a:lnSpc>
              <a:spcAft>
                <a:spcPts val="600"/>
              </a:spcAft>
              <a:buClr>
                <a:srgbClr val="1E6FE8"/>
              </a:buClr>
              <a:buFont typeface="Helvetica"/>
              <a:buChar char="•"/>
            </a:pPr>
            <a:r>
              <a:rPr sz="2100" b="0" i="0">
                <a:solidFill>
                  <a:srgbClr val="0F1C3F"/>
                </a:solidFill>
                <a:latin typeface="Helvetica"/>
              </a:rPr>
              <a:t>Trả về danh sách ảnh xếp hạng, đo bằng R@K và mAP@K</a:t>
            </a:r>
          </a:p>
        </p:txBody>
      </p:sp>
      <p:sp>
        <p:nvSpPr>
          <p:cNvPr id="10" name="TextBox 9"/>
          <p:cNvSpPr txBox="1"/>
          <p:nvPr/>
        </p:nvSpPr>
        <p:spPr>
          <a:xfrm>
            <a:off x="548640" y="4526280"/>
            <a:ext cx="7589520" cy="1600200"/>
          </a:xfrm>
          <a:prstGeom prst="rect">
            <a:avLst/>
          </a:prstGeom>
          <a:noFill/>
        </p:spPr>
        <p:txBody>
          <a:bodyPr wrap="square" lIns="45720" tIns="27432" rIns="45720" bIns="27432" anchor="t">
            <a:spAutoFit/>
          </a:bodyPr>
          <a:lstStyle/>
          <a:p>
            <a:pPr algn="l">
              <a:lnSpc>
                <a:spcPct val="105000"/>
              </a:lnSpc>
            </a:pPr>
            <a:r>
              <a:rPr sz="2000" b="1" i="0">
                <a:solidFill>
                  <a:srgbClr val="144FB0"/>
                </a:solidFill>
                <a:latin typeface="Helvetica"/>
              </a:rPr>
              <a:t>Bài báo LinCIR </a:t>
            </a:r>
            <a:r>
              <a:rPr sz="2000" b="0" i="0">
                <a:solidFill>
                  <a:srgbClr val="0F1C3F"/>
                </a:solidFill>
                <a:latin typeface="Helvetica"/>
              </a:rPr>
              <a:t>(CVPR 2024) giải bài toán này mà không cần bộ ba gán nhãn: chỉ huấn luyện bằng văn bản.</a:t>
            </a:r>
          </a:p>
          <a:p>
            <a:pPr algn="l">
              <a:lnSpc>
                <a:spcPct val="105000"/>
              </a:lnSpc>
            </a:pPr>
            <a:r>
              <a:rPr sz="2000" b="1" i="0">
                <a:solidFill>
                  <a:srgbClr val="144FB0"/>
                </a:solidFill>
                <a:latin typeface="Helvetica"/>
              </a:rPr>
              <a:t>Câu hỏi của nhóm: </a:t>
            </a:r>
            <a:r>
              <a:rPr sz="2000" b="0" i="0">
                <a:solidFill>
                  <a:srgbClr val="0F1C3F"/>
                </a:solidFill>
                <a:latin typeface="Helvetica"/>
              </a:rPr>
              <a:t>sửa hàm mất mát (A) hoặc sửa nhiễu (B) có giúp LinCIR truy xuất tốt hơn không?</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9966960" y="4206240"/>
            <a:ext cx="3657600" cy="365760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11704320" y="329184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548640" y="347472"/>
            <a:ext cx="10424160" cy="1143000"/>
          </a:xfrm>
          <a:prstGeom prst="rect">
            <a:avLst/>
          </a:prstGeom>
          <a:noFill/>
        </p:spPr>
        <p:txBody>
          <a:bodyPr wrap="square" lIns="45720" tIns="27432" rIns="45720" bIns="27432" anchor="ctr">
            <a:spAutoFit/>
          </a:bodyPr>
          <a:lstStyle/>
          <a:p>
            <a:pPr algn="l">
              <a:lnSpc>
                <a:spcPct val="110000"/>
              </a:lnSpc>
            </a:pPr>
            <a:r>
              <a:rPr sz="3200" b="1" i="0">
                <a:solidFill>
                  <a:srgbClr val="0F1C3F"/>
                </a:solidFill>
                <a:latin typeface="Helvetica"/>
              </a:rPr>
              <a:t>CIR là truy xuất có xếp hạng, đo bằng R@K và mAP@K</a:t>
            </a:r>
          </a:p>
        </p:txBody>
      </p:sp>
      <p:sp>
        <p:nvSpPr>
          <p:cNvPr id="5"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4</a:t>
            </a:r>
          </a:p>
        </p:txBody>
      </p:sp>
      <p:sp>
        <p:nvSpPr>
          <p:cNvPr id="6" name="Rounded Rectangle 5"/>
          <p:cNvSpPr/>
          <p:nvPr/>
        </p:nvSpPr>
        <p:spPr>
          <a:xfrm>
            <a:off x="548640" y="1737360"/>
            <a:ext cx="3566160" cy="352044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901952"/>
            <a:ext cx="310896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Chương I</a:t>
            </a:r>
          </a:p>
        </p:txBody>
      </p:sp>
      <p:sp>
        <p:nvSpPr>
          <p:cNvPr id="8" name="TextBox 7"/>
          <p:cNvSpPr txBox="1"/>
          <p:nvPr/>
        </p:nvSpPr>
        <p:spPr>
          <a:xfrm>
            <a:off x="777240" y="2468880"/>
            <a:ext cx="3108960" cy="242316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Nhu cầu › truy vấn › danh sách xếp hạng</a:t>
            </a:r>
          </a:p>
          <a:p>
            <a:pPr marL="292608" indent="-292608">
              <a:lnSpc>
                <a:spcPct val="108000"/>
              </a:lnSpc>
              <a:spcAft>
                <a:spcPts val="600"/>
              </a:spcAft>
              <a:buClr>
                <a:srgbClr val="1E6FE8"/>
              </a:buClr>
              <a:buFont typeface="Helvetica"/>
              <a:buChar char="•"/>
            </a:pPr>
            <a:r>
              <a:rPr sz="2100" b="0" i="0">
                <a:solidFill>
                  <a:srgbClr val="0F1C3F"/>
                </a:solidFill>
                <a:latin typeface="Helvetica"/>
              </a:rPr>
              <a:t>Đánh giá: Precision, Recall</a:t>
            </a:r>
          </a:p>
          <a:p>
            <a:pPr marL="292608" indent="-292608">
              <a:lnSpc>
                <a:spcPct val="108000"/>
              </a:lnSpc>
              <a:spcAft>
                <a:spcPts val="600"/>
              </a:spcAft>
              <a:buClr>
                <a:srgbClr val="1E6FE8"/>
              </a:buClr>
              <a:buFont typeface="Helvetica"/>
              <a:buChar char="•"/>
            </a:pPr>
            <a:r>
              <a:rPr sz="2100" b="0" i="0">
                <a:solidFill>
                  <a:srgbClr val="0F1C3F"/>
                </a:solidFill>
                <a:latin typeface="Helvetica"/>
              </a:rPr>
              <a:t>Boolean, chỉ mục ngược: khớp từ chính xác</a:t>
            </a:r>
          </a:p>
        </p:txBody>
      </p:sp>
      <p:sp>
        <p:nvSpPr>
          <p:cNvPr id="9" name="Rounded Rectangle 8"/>
          <p:cNvSpPr/>
          <p:nvPr/>
        </p:nvSpPr>
        <p:spPr>
          <a:xfrm>
            <a:off x="4343400" y="1737360"/>
            <a:ext cx="3566160" cy="352044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0" y="1901952"/>
            <a:ext cx="310896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Độ đo của CIR</a:t>
            </a:r>
          </a:p>
        </p:txBody>
      </p:sp>
      <p:sp>
        <p:nvSpPr>
          <p:cNvPr id="11" name="TextBox 10"/>
          <p:cNvSpPr txBox="1"/>
          <p:nvPr/>
        </p:nvSpPr>
        <p:spPr>
          <a:xfrm>
            <a:off x="4572000" y="2468880"/>
            <a:ext cx="3108960" cy="242316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000" b="0" i="0">
                <a:solidFill>
                  <a:srgbClr val="0F1C3F"/>
                </a:solidFill>
                <a:latin typeface="Helvetica"/>
              </a:rPr>
              <a:t>R@K = số truy vấn có ảnh đích trong top-K / tổng số truy vấn</a:t>
            </a:r>
          </a:p>
          <a:p>
            <a:pPr marL="292608" indent="-292608">
              <a:lnSpc>
                <a:spcPct val="108000"/>
              </a:lnSpc>
              <a:spcAft>
                <a:spcPts val="600"/>
              </a:spcAft>
              <a:buClr>
                <a:srgbClr val="1E6FE8"/>
              </a:buClr>
              <a:buFont typeface="Helvetica"/>
              <a:buChar char="•"/>
            </a:pPr>
            <a:r>
              <a:rPr sz="2000" b="0" i="0">
                <a:solidFill>
                  <a:srgbClr val="0F1C3F"/>
                </a:solidFill>
                <a:latin typeface="Helvetica"/>
              </a:rPr>
              <a:t>mAP@K = trung bình AP@K, với AP@K = Σ P@k·rel(k) / min(K, số ảnh đúng)</a:t>
            </a:r>
          </a:p>
        </p:txBody>
      </p:sp>
      <p:sp>
        <p:nvSpPr>
          <p:cNvPr id="12" name="Rounded Rectangle 11"/>
          <p:cNvSpPr/>
          <p:nvPr/>
        </p:nvSpPr>
        <p:spPr>
          <a:xfrm>
            <a:off x="8138160" y="1737360"/>
            <a:ext cx="3566160" cy="3520440"/>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66760" y="1901952"/>
            <a:ext cx="310896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Tìm kiếm vector</a:t>
            </a:r>
          </a:p>
        </p:txBody>
      </p:sp>
      <p:sp>
        <p:nvSpPr>
          <p:cNvPr id="14" name="TextBox 13"/>
          <p:cNvSpPr txBox="1"/>
          <p:nvPr/>
        </p:nvSpPr>
        <p:spPr>
          <a:xfrm>
            <a:off x="8366760" y="2468880"/>
            <a:ext cx="3108960" cy="242316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Ảnh và truy vấn được mã hóa thành vector CLIP</a:t>
            </a:r>
          </a:p>
          <a:p>
            <a:pPr marL="292608" indent="-292608">
              <a:lnSpc>
                <a:spcPct val="108000"/>
              </a:lnSpc>
              <a:spcAft>
                <a:spcPts val="600"/>
              </a:spcAft>
              <a:buClr>
                <a:srgbClr val="1E6FE8"/>
              </a:buClr>
              <a:buFont typeface="Helvetica"/>
              <a:buChar char="•"/>
            </a:pPr>
            <a:r>
              <a:rPr sz="2100" b="0" i="0">
                <a:solidFill>
                  <a:srgbClr val="0F1C3F"/>
                </a:solidFill>
                <a:latin typeface="Helvetica"/>
              </a:rPr>
              <a:t>Xếp hạng ảnh theo độ tương đồng cosine</a:t>
            </a:r>
          </a:p>
        </p:txBody>
      </p:sp>
      <p:sp>
        <p:nvSpPr>
          <p:cNvPr id="15" name="TextBox 14"/>
          <p:cNvSpPr txBox="1"/>
          <p:nvPr/>
        </p:nvSpPr>
        <p:spPr>
          <a:xfrm>
            <a:off x="548640" y="5440680"/>
            <a:ext cx="11064240" cy="54864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Nhóm đánh giá trên FashionIQ val (R@10, R@50) và CIRCO val (mAP@K), kiểm định bootstrap và Wilcoxon theo từng truy vấn</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9692640" y="-2194560"/>
            <a:ext cx="4206240" cy="420624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11201400" y="50292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548640" y="347472"/>
            <a:ext cx="10424160" cy="1143000"/>
          </a:xfrm>
          <a:prstGeom prst="rect">
            <a:avLst/>
          </a:prstGeom>
          <a:noFill/>
        </p:spPr>
        <p:txBody>
          <a:bodyPr wrap="square" lIns="45720" tIns="27432" rIns="45720" bIns="27432" anchor="ctr">
            <a:spAutoFit/>
          </a:bodyPr>
          <a:lstStyle/>
          <a:p>
            <a:pPr algn="l">
              <a:lnSpc>
                <a:spcPct val="110000"/>
              </a:lnSpc>
            </a:pPr>
            <a:r>
              <a:rPr sz="3200" b="1" i="0">
                <a:solidFill>
                  <a:srgbClr val="0F1C3F"/>
                </a:solidFill>
                <a:latin typeface="Helvetica"/>
              </a:rPr>
              <a:t>Ảnh được biến thành một “từ giả” [$] trong câu truy vấn</a:t>
            </a:r>
          </a:p>
        </p:txBody>
      </p:sp>
      <p:sp>
        <p:nvSpPr>
          <p:cNvPr id="5"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5</a:t>
            </a:r>
          </a:p>
        </p:txBody>
      </p:sp>
      <p:pic>
        <p:nvPicPr>
          <p:cNvPr id="6" name="Picture 5" descr="lincir_infer_slide.png"/>
          <p:cNvPicPr>
            <a:picLocks noChangeAspect="1"/>
          </p:cNvPicPr>
          <p:nvPr/>
        </p:nvPicPr>
        <p:blipFill>
          <a:blip r:embed="rId3"/>
          <a:stretch>
            <a:fillRect/>
          </a:stretch>
        </p:blipFill>
        <p:spPr>
          <a:xfrm>
            <a:off x="548640" y="1828800"/>
            <a:ext cx="11064240" cy="3512236"/>
          </a:xfrm>
          <a:prstGeom prst="rect">
            <a:avLst/>
          </a:prstGeom>
        </p:spPr>
      </p:pic>
      <p:sp>
        <p:nvSpPr>
          <p:cNvPr id="7" name="TextBox 6"/>
          <p:cNvSpPr txBox="1"/>
          <p:nvPr/>
        </p:nvSpPr>
        <p:spPr>
          <a:xfrm>
            <a:off x="548640" y="5486400"/>
            <a:ext cx="10241280" cy="548640"/>
          </a:xfrm>
          <a:prstGeom prst="rect">
            <a:avLst/>
          </a:prstGeom>
          <a:noFill/>
        </p:spPr>
        <p:txBody>
          <a:bodyPr wrap="square" lIns="45720" tIns="27432" rIns="45720" bIns="27432" anchor="t">
            <a:spAutoFit/>
          </a:bodyPr>
          <a:lstStyle/>
          <a:p>
            <a:pPr algn="l">
              <a:lnSpc>
                <a:spcPct val="110000"/>
              </a:lnSpc>
            </a:pPr>
            <a:r>
              <a:rPr sz="2000" b="1" i="0">
                <a:solidFill>
                  <a:srgbClr val="144FB0"/>
                </a:solidFill>
                <a:latin typeface="Helvetica"/>
              </a:rPr>
              <a:t>Chỉ học mạng chiếu φ; </a:t>
            </a:r>
            <a:r>
              <a:rPr sz="2000" b="0" i="0">
                <a:solidFill>
                  <a:srgbClr val="0F1C3F"/>
                </a:solidFill>
                <a:latin typeface="Helvetica"/>
              </a:rPr>
              <a:t>bộ mã hóa ảnh và văn bản của CLIP giữ nguyên</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1645920" y="4206240"/>
            <a:ext cx="3657600" cy="365760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54864" y="310896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548640" y="347472"/>
            <a:ext cx="10424160" cy="1143000"/>
          </a:xfrm>
          <a:prstGeom prst="rect">
            <a:avLst/>
          </a:prstGeom>
          <a:noFill/>
        </p:spPr>
        <p:txBody>
          <a:bodyPr wrap="square" lIns="45720" tIns="27432" rIns="45720" bIns="27432" anchor="ctr">
            <a:spAutoFit/>
          </a:bodyPr>
          <a:lstStyle/>
          <a:p>
            <a:pPr algn="l">
              <a:lnSpc>
                <a:spcPct val="110000"/>
              </a:lnSpc>
            </a:pPr>
            <a:r>
              <a:rPr sz="3200" b="1" i="0">
                <a:solidFill>
                  <a:srgbClr val="0F1C3F"/>
                </a:solidFill>
                <a:latin typeface="Helvetica"/>
              </a:rPr>
              <a:t>Bài báo LinCIR: huấn luyện truy xuất ảnh kết hợp chỉ bằng văn bản</a:t>
            </a:r>
          </a:p>
        </p:txBody>
      </p:sp>
      <p:sp>
        <p:nvSpPr>
          <p:cNvPr id="5"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6</a:t>
            </a:r>
          </a:p>
        </p:txBody>
      </p:sp>
      <p:sp>
        <p:nvSpPr>
          <p:cNvPr id="6" name="Rounded Rectangle 5"/>
          <p:cNvSpPr/>
          <p:nvPr/>
        </p:nvSpPr>
        <p:spPr>
          <a:xfrm>
            <a:off x="548640" y="1737360"/>
            <a:ext cx="3520440" cy="352044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901952"/>
            <a:ext cx="306324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Vấn đề</a:t>
            </a:r>
          </a:p>
        </p:txBody>
      </p:sp>
      <p:sp>
        <p:nvSpPr>
          <p:cNvPr id="8" name="TextBox 7"/>
          <p:cNvSpPr txBox="1"/>
          <p:nvPr/>
        </p:nvSpPr>
        <p:spPr>
          <a:xfrm>
            <a:off x="777240" y="2468880"/>
            <a:ext cx="3063240" cy="233172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000" b="0" i="0">
                <a:solidFill>
                  <a:srgbClr val="0F1C3F"/>
                </a:solidFill>
                <a:latin typeface="Helvetica"/>
              </a:rPr>
              <a:t>Bộ ba ảnh – câu – ảnh đích phải gán nhãn tay: đắt và ít</a:t>
            </a:r>
          </a:p>
          <a:p>
            <a:pPr marL="292608" indent="-292608">
              <a:lnSpc>
                <a:spcPct val="108000"/>
              </a:lnSpc>
              <a:spcAft>
                <a:spcPts val="600"/>
              </a:spcAft>
              <a:buClr>
                <a:srgbClr val="1E6FE8"/>
              </a:buClr>
              <a:buFont typeface="Helvetica"/>
              <a:buChar char="•"/>
            </a:pPr>
            <a:r>
              <a:rPr sz="2000" b="0" i="0">
                <a:solidFill>
                  <a:srgbClr val="0F1C3F"/>
                </a:solidFill>
                <a:latin typeface="Helvetica"/>
              </a:rPr>
              <a:t>Pic2Word, SEARLE cần ảnh khi huấn luyện, chỉ học câu mẫu cố định</a:t>
            </a:r>
          </a:p>
        </p:txBody>
      </p:sp>
      <p:sp>
        <p:nvSpPr>
          <p:cNvPr id="9" name="Rounded Rectangle 8"/>
          <p:cNvSpPr/>
          <p:nvPr/>
        </p:nvSpPr>
        <p:spPr>
          <a:xfrm>
            <a:off x="4343400" y="1737360"/>
            <a:ext cx="3520440" cy="352044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0" y="1901952"/>
            <a:ext cx="306324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Ý tưởng LinCIR</a:t>
            </a:r>
          </a:p>
        </p:txBody>
      </p:sp>
      <p:sp>
        <p:nvSpPr>
          <p:cNvPr id="11" name="TextBox 10"/>
          <p:cNvSpPr txBox="1"/>
          <p:nvPr/>
        </p:nvSpPr>
        <p:spPr>
          <a:xfrm>
            <a:off x="4572000" y="2468880"/>
            <a:ext cx="3063240" cy="233172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000" b="0" i="0">
                <a:solidFill>
                  <a:srgbClr val="0F1C3F"/>
                </a:solidFill>
                <a:latin typeface="Helvetica"/>
              </a:rPr>
              <a:t>Self-Masking Projection: học φ chỉ từ văn bản, không cần ảnh</a:t>
            </a:r>
          </a:p>
          <a:p>
            <a:pPr marL="292608" indent="-292608">
              <a:lnSpc>
                <a:spcPct val="108000"/>
              </a:lnSpc>
              <a:spcAft>
                <a:spcPts val="600"/>
              </a:spcAft>
              <a:buClr>
                <a:srgbClr val="1E6FE8"/>
              </a:buClr>
              <a:buFont typeface="Helvetica"/>
              <a:buChar char="•"/>
            </a:pPr>
            <a:r>
              <a:rPr sz="2000" b="0" i="0">
                <a:solidFill>
                  <a:srgbClr val="0F1C3F"/>
                </a:solidFill>
                <a:latin typeface="Helvetica"/>
              </a:rPr>
              <a:t>Thêm nhiễu khi huấn luyện để φ dùng được cho vector ảnh</a:t>
            </a:r>
          </a:p>
        </p:txBody>
      </p:sp>
      <p:sp>
        <p:nvSpPr>
          <p:cNvPr id="12" name="Rounded Rectangle 11"/>
          <p:cNvSpPr/>
          <p:nvPr/>
        </p:nvSpPr>
        <p:spPr>
          <a:xfrm>
            <a:off x="8138160" y="1737360"/>
            <a:ext cx="3520440" cy="352044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66760" y="1901952"/>
            <a:ext cx="306324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Kết quả bài báo</a:t>
            </a:r>
          </a:p>
        </p:txBody>
      </p:sp>
      <p:sp>
        <p:nvSpPr>
          <p:cNvPr id="14" name="TextBox 13"/>
          <p:cNvSpPr txBox="1"/>
          <p:nvPr/>
        </p:nvSpPr>
        <p:spPr>
          <a:xfrm>
            <a:off x="8366760" y="2468880"/>
            <a:ext cx="3063240" cy="233172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000" b="0" i="0">
                <a:solidFill>
                  <a:srgbClr val="0F1C3F"/>
                </a:solidFill>
                <a:latin typeface="Helvetica"/>
              </a:rPr>
              <a:t>Tốt nhất trên 4 bộ đánh giá</a:t>
            </a:r>
          </a:p>
          <a:p>
            <a:pPr marL="292608" indent="-292608">
              <a:lnSpc>
                <a:spcPct val="108000"/>
              </a:lnSpc>
              <a:spcAft>
                <a:spcPts val="600"/>
              </a:spcAft>
              <a:buClr>
                <a:srgbClr val="1E6FE8"/>
              </a:buClr>
              <a:buFont typeface="Helvetica"/>
              <a:buChar char="•"/>
            </a:pPr>
            <a:r>
              <a:rPr sz="2000" b="0" i="0">
                <a:solidFill>
                  <a:srgbClr val="0F1C3F"/>
                </a:solidFill>
                <a:latin typeface="Helvetica"/>
              </a:rPr>
              <a:t>Huấn luyện nhanh hơn Pic2Word 6 lần, SEARLE 8,4 lần</a:t>
            </a:r>
          </a:p>
          <a:p>
            <a:pPr marL="292608" indent="-292608">
              <a:lnSpc>
                <a:spcPct val="108000"/>
              </a:lnSpc>
              <a:spcAft>
                <a:spcPts val="600"/>
              </a:spcAft>
              <a:buClr>
                <a:srgbClr val="1E6FE8"/>
              </a:buClr>
              <a:buFont typeface="Helvetica"/>
              <a:buChar char="•"/>
            </a:pPr>
            <a:r>
              <a:rPr sz="2000" b="0" i="0">
                <a:solidFill>
                  <a:srgbClr val="0F1C3F"/>
                </a:solidFill>
                <a:latin typeface="Helvetica"/>
              </a:rPr>
              <a:t>Vượt cả phương pháp có giám sát (FashionIQ)</a:t>
            </a:r>
          </a:p>
        </p:txBody>
      </p:sp>
      <p:sp>
        <p:nvSpPr>
          <p:cNvPr id="15" name="TextBox 14"/>
          <p:cNvSpPr txBox="1"/>
          <p:nvPr/>
        </p:nvSpPr>
        <p:spPr>
          <a:xfrm>
            <a:off x="548640" y="5394960"/>
            <a:ext cx="11064240" cy="914400"/>
          </a:xfrm>
          <a:prstGeom prst="rect">
            <a:avLst/>
          </a:prstGeom>
          <a:noFill/>
        </p:spPr>
        <p:txBody>
          <a:bodyPr wrap="square" lIns="45720" tIns="27432" rIns="45720" bIns="27432" anchor="t">
            <a:spAutoFit/>
          </a:bodyPr>
          <a:lstStyle/>
          <a:p>
            <a:pPr algn="l">
              <a:lnSpc>
                <a:spcPct val="110000"/>
              </a:lnSpc>
            </a:pPr>
            <a:r>
              <a:rPr sz="2000" b="0" i="0">
                <a:solidFill>
                  <a:srgbClr val="5B6B82"/>
                </a:solidFill>
                <a:latin typeface="Helvetica"/>
              </a:rPr>
              <a:t>Gu et al. (NAVER), CVPR 2024, mã nguồn công khai. </a:t>
            </a:r>
            <a:r>
              <a:rPr sz="2000" b="1" i="0">
                <a:solidFill>
                  <a:srgbClr val="144FB0"/>
                </a:solidFill>
                <a:latin typeface="Helvetica"/>
              </a:rPr>
              <a:t>Hai thành phần chính: Self-Masking Projection và nhiễu khi huấn luyện</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9966960" y="4389120"/>
            <a:ext cx="3474720" cy="347472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11704320" y="384048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548640" y="347472"/>
            <a:ext cx="10424160" cy="1143000"/>
          </a:xfrm>
          <a:prstGeom prst="rect">
            <a:avLst/>
          </a:prstGeom>
          <a:noFill/>
        </p:spPr>
        <p:txBody>
          <a:bodyPr wrap="square" lIns="45720" tIns="27432" rIns="45720" bIns="27432" anchor="ctr">
            <a:spAutoFit/>
          </a:bodyPr>
          <a:lstStyle/>
          <a:p>
            <a:pPr algn="l">
              <a:lnSpc>
                <a:spcPct val="110000"/>
              </a:lnSpc>
            </a:pPr>
            <a:r>
              <a:rPr sz="3200" b="1" i="0">
                <a:solidFill>
                  <a:srgbClr val="0F1C3F"/>
                </a:solidFill>
                <a:latin typeface="Helvetica"/>
              </a:rPr>
              <a:t>LinCIR học từ giả chỉ bằng văn bản nhờ Self-Masking Projection</a:t>
            </a:r>
          </a:p>
        </p:txBody>
      </p:sp>
      <p:sp>
        <p:nvSpPr>
          <p:cNvPr id="5"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7</a:t>
            </a:r>
          </a:p>
        </p:txBody>
      </p:sp>
      <p:pic>
        <p:nvPicPr>
          <p:cNvPr id="7" name="Picture 6" descr="lincir_train_base_slide.png"/>
          <p:cNvPicPr>
            <a:picLocks noChangeAspect="1"/>
          </p:cNvPicPr>
          <p:nvPr/>
        </p:nvPicPr>
        <p:blipFill>
          <a:blip r:embed="rId3"/>
          <a:stretch>
            <a:fillRect/>
          </a:stretch>
        </p:blipFill>
        <p:spPr>
          <a:xfrm>
            <a:off x="1238568" y="1600200"/>
            <a:ext cx="9684382" cy="45720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1645920" y="4206240"/>
            <a:ext cx="3657600" cy="365760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54864" y="310896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548640" y="347472"/>
            <a:ext cx="10424160" cy="1143000"/>
          </a:xfrm>
          <a:prstGeom prst="rect">
            <a:avLst/>
          </a:prstGeom>
          <a:noFill/>
        </p:spPr>
        <p:txBody>
          <a:bodyPr wrap="square" lIns="45720" tIns="27432" rIns="45720" bIns="27432" anchor="ctr">
            <a:spAutoFit/>
          </a:bodyPr>
          <a:lstStyle/>
          <a:p>
            <a:pPr algn="l">
              <a:lnSpc>
                <a:spcPct val="110000"/>
              </a:lnSpc>
            </a:pPr>
            <a:r>
              <a:rPr sz="3200" b="1" i="0">
                <a:solidFill>
                  <a:srgbClr val="0F1C3F"/>
                </a:solidFill>
                <a:latin typeface="Helvetica"/>
              </a:rPr>
              <a:t>Nhiễu giúp φ dùng được vector ảnh dù hai miền lệch nhau</a:t>
            </a:r>
          </a:p>
        </p:txBody>
      </p:sp>
      <p:sp>
        <p:nvSpPr>
          <p:cNvPr id="5"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8</a:t>
            </a:r>
          </a:p>
        </p:txBody>
      </p:sp>
      <p:sp>
        <p:nvSpPr>
          <p:cNvPr id="6" name="Rounded Rectangle 5"/>
          <p:cNvSpPr/>
          <p:nvPr/>
        </p:nvSpPr>
        <p:spPr>
          <a:xfrm>
            <a:off x="548640" y="1737360"/>
            <a:ext cx="5577840" cy="201168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901952"/>
            <a:ext cx="512064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Modality gap của CLIP</a:t>
            </a:r>
          </a:p>
        </p:txBody>
      </p:sp>
      <p:sp>
        <p:nvSpPr>
          <p:cNvPr id="8" name="TextBox 7"/>
          <p:cNvSpPr txBox="1"/>
          <p:nvPr/>
        </p:nvSpPr>
        <p:spPr>
          <a:xfrm>
            <a:off x="777240" y="2468880"/>
            <a:ext cx="5120640" cy="114300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Ảnh, văn bản ở hai vùng tách biệt</a:t>
            </a:r>
          </a:p>
          <a:p>
            <a:pPr marL="292608" indent="-292608">
              <a:lnSpc>
                <a:spcPct val="108000"/>
              </a:lnSpc>
              <a:spcAft>
                <a:spcPts val="600"/>
              </a:spcAft>
              <a:buClr>
                <a:srgbClr val="1E6FE8"/>
              </a:buClr>
              <a:buFont typeface="Helvetica"/>
              <a:buChar char="•"/>
            </a:pPr>
            <a:r>
              <a:rPr sz="2100" b="0" i="0">
                <a:solidFill>
                  <a:srgbClr val="0F1C3F"/>
                </a:solidFill>
                <a:latin typeface="Helvetica"/>
              </a:rPr>
              <a:t>φ học trên văn bản, dùng cho ảnh</a:t>
            </a:r>
          </a:p>
        </p:txBody>
      </p:sp>
      <p:sp>
        <p:nvSpPr>
          <p:cNvPr id="9" name="Rounded Rectangle 8"/>
          <p:cNvSpPr/>
          <p:nvPr/>
        </p:nvSpPr>
        <p:spPr>
          <a:xfrm>
            <a:off x="548640" y="3931920"/>
            <a:ext cx="5577840" cy="201168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4096511"/>
            <a:ext cx="512064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Nhiễu của LinCIR</a:t>
            </a:r>
          </a:p>
        </p:txBody>
      </p:sp>
      <p:sp>
        <p:nvSpPr>
          <p:cNvPr id="11" name="TextBox 10"/>
          <p:cNvSpPr txBox="1"/>
          <p:nvPr/>
        </p:nvSpPr>
        <p:spPr>
          <a:xfrm>
            <a:off x="777240" y="4663440"/>
            <a:ext cx="5120640" cy="114300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Huấn luyện: φ nhận z_c + u · ε</a:t>
            </a:r>
          </a:p>
          <a:p>
            <a:pPr marL="292608" indent="-292608">
              <a:lnSpc>
                <a:spcPct val="108000"/>
              </a:lnSpc>
              <a:spcAft>
                <a:spcPts val="600"/>
              </a:spcAft>
              <a:buClr>
                <a:srgbClr val="1E6FE8"/>
              </a:buClr>
              <a:buFont typeface="Helvetica"/>
              <a:buChar char="•"/>
            </a:pPr>
            <a:r>
              <a:rPr sz="2100" b="0" i="0">
                <a:solidFill>
                  <a:srgbClr val="0F1C3F"/>
                </a:solidFill>
                <a:latin typeface="Helvetica"/>
              </a:rPr>
              <a:t>u ~ U(0, 1), ε ~ N(0, I)</a:t>
            </a:r>
          </a:p>
        </p:txBody>
      </p:sp>
      <p:sp>
        <p:nvSpPr>
          <p:cNvPr id="12" name="TextBox 11"/>
          <p:cNvSpPr txBox="1"/>
          <p:nvPr/>
        </p:nvSpPr>
        <p:spPr>
          <a:xfrm>
            <a:off x="6675120" y="1828800"/>
            <a:ext cx="4754880" cy="868680"/>
          </a:xfrm>
          <a:prstGeom prst="rect">
            <a:avLst/>
          </a:prstGeom>
          <a:noFill/>
        </p:spPr>
        <p:txBody>
          <a:bodyPr wrap="square" lIns="45720" tIns="27432" rIns="45720" bIns="27432" anchor="t">
            <a:spAutoFit/>
          </a:bodyPr>
          <a:lstStyle/>
          <a:p>
            <a:pPr algn="l">
              <a:lnSpc>
                <a:spcPct val="110000"/>
              </a:lnSpc>
            </a:pPr>
            <a:r>
              <a:rPr sz="4800" b="1" i="0">
                <a:solidFill>
                  <a:srgbClr val="1E6FE8"/>
                </a:solidFill>
                <a:latin typeface="Helvetica"/>
              </a:rPr>
              <a:t>0,82</a:t>
            </a:r>
          </a:p>
        </p:txBody>
      </p:sp>
      <p:sp>
        <p:nvSpPr>
          <p:cNvPr id="13" name="TextBox 12"/>
          <p:cNvSpPr txBox="1"/>
          <p:nvPr/>
        </p:nvSpPr>
        <p:spPr>
          <a:xfrm>
            <a:off x="6675120" y="2697480"/>
            <a:ext cx="4754880" cy="777240"/>
          </a:xfrm>
          <a:prstGeom prst="rect">
            <a:avLst/>
          </a:prstGeom>
          <a:noFill/>
        </p:spPr>
        <p:txBody>
          <a:bodyPr wrap="square" lIns="45720" tIns="27432" rIns="45720" bIns="27432" anchor="t">
            <a:spAutoFit/>
          </a:bodyPr>
          <a:lstStyle/>
          <a:p>
            <a:pPr algn="l">
              <a:lnSpc>
                <a:spcPct val="110000"/>
              </a:lnSpc>
            </a:pPr>
            <a:r>
              <a:rPr sz="2000" b="0" i="0">
                <a:solidFill>
                  <a:srgbClr val="5B6B82"/>
                </a:solidFill>
                <a:latin typeface="Helvetica"/>
              </a:rPr>
              <a:t>khoảng cách giữa tâm vector ảnh và tâm vector văn bản (5.000 cặp COCO)</a:t>
            </a:r>
          </a:p>
        </p:txBody>
      </p:sp>
      <p:sp>
        <p:nvSpPr>
          <p:cNvPr id="14" name="TextBox 13"/>
          <p:cNvSpPr txBox="1"/>
          <p:nvPr/>
        </p:nvSpPr>
        <p:spPr>
          <a:xfrm>
            <a:off x="6675120" y="3931920"/>
            <a:ext cx="4754880" cy="868680"/>
          </a:xfrm>
          <a:prstGeom prst="rect">
            <a:avLst/>
          </a:prstGeom>
          <a:noFill/>
        </p:spPr>
        <p:txBody>
          <a:bodyPr wrap="square" lIns="45720" tIns="27432" rIns="45720" bIns="27432" anchor="t">
            <a:spAutoFit/>
          </a:bodyPr>
          <a:lstStyle/>
          <a:p>
            <a:pPr algn="l">
              <a:lnSpc>
                <a:spcPct val="110000"/>
              </a:lnSpc>
            </a:pPr>
            <a:r>
              <a:rPr sz="4800" b="1" i="0">
                <a:solidFill>
                  <a:srgbClr val="1E6FE8"/>
                </a:solidFill>
                <a:latin typeface="Helvetica"/>
              </a:rPr>
              <a:t>0,26</a:t>
            </a:r>
          </a:p>
        </p:txBody>
      </p:sp>
      <p:sp>
        <p:nvSpPr>
          <p:cNvPr id="15" name="TextBox 14"/>
          <p:cNvSpPr txBox="1"/>
          <p:nvPr/>
        </p:nvSpPr>
        <p:spPr>
          <a:xfrm>
            <a:off x="6675120" y="4800600"/>
            <a:ext cx="4754880" cy="777240"/>
          </a:xfrm>
          <a:prstGeom prst="rect">
            <a:avLst/>
          </a:prstGeom>
          <a:noFill/>
        </p:spPr>
        <p:txBody>
          <a:bodyPr wrap="square" lIns="45720" tIns="27432" rIns="45720" bIns="27432" anchor="t">
            <a:spAutoFit/>
          </a:bodyPr>
          <a:lstStyle/>
          <a:p>
            <a:pPr algn="l">
              <a:lnSpc>
                <a:spcPct val="110000"/>
              </a:lnSpc>
            </a:pPr>
            <a:r>
              <a:rPr sz="2000" b="0" i="0">
                <a:solidFill>
                  <a:srgbClr val="5B6B82"/>
                </a:solidFill>
                <a:latin typeface="Helvetica"/>
              </a:rPr>
              <a:t>cosine trung bình giữa một ảnh và chú thích của chính nó</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10058400" y="-2103120"/>
            <a:ext cx="4023360" cy="402336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11247120" y="50292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548640" y="347472"/>
            <a:ext cx="10424160" cy="1143000"/>
          </a:xfrm>
          <a:prstGeom prst="rect">
            <a:avLst/>
          </a:prstGeom>
          <a:noFill/>
        </p:spPr>
        <p:txBody>
          <a:bodyPr wrap="square" lIns="45720" tIns="27432" rIns="45720" bIns="27432" anchor="ctr">
            <a:spAutoFit/>
          </a:bodyPr>
          <a:lstStyle/>
          <a:p>
            <a:pPr algn="l">
              <a:lnSpc>
                <a:spcPct val="110000"/>
              </a:lnSpc>
            </a:pPr>
            <a:r>
              <a:rPr sz="3200" b="1" i="0">
                <a:solidFill>
                  <a:srgbClr val="0F1C3F"/>
                </a:solidFill>
                <a:latin typeface="Helvetica"/>
              </a:rPr>
              <a:t>Cải tiến A: thêm InfoNCE để từ giả phân biệt được các câu</a:t>
            </a:r>
          </a:p>
        </p:txBody>
      </p:sp>
      <p:sp>
        <p:nvSpPr>
          <p:cNvPr id="5"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9</a:t>
            </a:r>
          </a:p>
        </p:txBody>
      </p:sp>
      <p:sp>
        <p:nvSpPr>
          <p:cNvPr id="6" name="Rounded Rectangle 5"/>
          <p:cNvSpPr/>
          <p:nvPr/>
        </p:nvSpPr>
        <p:spPr>
          <a:xfrm>
            <a:off x="548640" y="1737360"/>
            <a:ext cx="5577840" cy="201168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901952"/>
            <a:ext cx="512064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Vấn đề</a:t>
            </a:r>
          </a:p>
        </p:txBody>
      </p:sp>
      <p:sp>
        <p:nvSpPr>
          <p:cNvPr id="8" name="TextBox 7"/>
          <p:cNvSpPr txBox="1"/>
          <p:nvPr/>
        </p:nvSpPr>
        <p:spPr>
          <a:xfrm>
            <a:off x="777240" y="2468880"/>
            <a:ext cx="5120640" cy="114300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MSE không phạt khi câu đã che gần cả các câu khác</a:t>
            </a:r>
          </a:p>
          <a:p>
            <a:pPr marL="292608" indent="-292608">
              <a:lnSpc>
                <a:spcPct val="108000"/>
              </a:lnSpc>
              <a:spcAft>
                <a:spcPts val="600"/>
              </a:spcAft>
              <a:buClr>
                <a:srgbClr val="1E6FE8"/>
              </a:buClr>
              <a:buFont typeface="Helvetica"/>
              <a:buChar char="•"/>
            </a:pPr>
            <a:r>
              <a:rPr sz="2100" b="0" i="0">
                <a:solidFill>
                  <a:srgbClr val="0F1C3F"/>
                </a:solidFill>
                <a:latin typeface="Helvetica"/>
              </a:rPr>
              <a:t>Nhưng đánh giá là bài toán xếp hạng</a:t>
            </a:r>
          </a:p>
        </p:txBody>
      </p:sp>
      <p:sp>
        <p:nvSpPr>
          <p:cNvPr id="9" name="Rounded Rectangle 8"/>
          <p:cNvSpPr/>
          <p:nvPr/>
        </p:nvSpPr>
        <p:spPr>
          <a:xfrm>
            <a:off x="548640" y="3931920"/>
            <a:ext cx="5577840" cy="2011680"/>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4096511"/>
            <a:ext cx="512064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Giải pháp</a:t>
            </a:r>
          </a:p>
        </p:txBody>
      </p:sp>
      <p:sp>
        <p:nvSpPr>
          <p:cNvPr id="11" name="TextBox 10"/>
          <p:cNvSpPr txBox="1"/>
          <p:nvPr/>
        </p:nvSpPr>
        <p:spPr>
          <a:xfrm>
            <a:off x="777240" y="4663440"/>
            <a:ext cx="5120640" cy="114300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1" i="0">
                <a:solidFill>
                  <a:srgbClr val="0F1C3F"/>
                </a:solidFill>
                <a:latin typeface="Helvetica"/>
              </a:rPr>
              <a:t>L = L_SMP + 0,5 · InfoNCE</a:t>
            </a:r>
          </a:p>
          <a:p>
            <a:pPr marL="292608" indent="-292608">
              <a:lnSpc>
                <a:spcPct val="108000"/>
              </a:lnSpc>
              <a:spcAft>
                <a:spcPts val="600"/>
              </a:spcAft>
              <a:buClr>
                <a:srgbClr val="1E6FE8"/>
              </a:buClr>
              <a:buFont typeface="Helvetica"/>
              <a:buChar char="•"/>
            </a:pPr>
            <a:r>
              <a:rPr sz="2100" b="0" i="0">
                <a:solidFill>
                  <a:srgbClr val="0F1C3F"/>
                </a:solidFill>
                <a:latin typeface="Helvetica"/>
              </a:rPr>
              <a:t>InfoNCE kéo về câu gốc, đẩy xa 511 câu khác (τ = 0,07)</a:t>
            </a:r>
          </a:p>
        </p:txBody>
      </p:sp>
      <p:sp>
        <p:nvSpPr>
          <p:cNvPr id="12" name="TextBox 11"/>
          <p:cNvSpPr txBox="1"/>
          <p:nvPr/>
        </p:nvSpPr>
        <p:spPr>
          <a:xfrm>
            <a:off x="6675120" y="1828800"/>
            <a:ext cx="4754880" cy="868680"/>
          </a:xfrm>
          <a:prstGeom prst="rect">
            <a:avLst/>
          </a:prstGeom>
          <a:noFill/>
        </p:spPr>
        <p:txBody>
          <a:bodyPr wrap="square" lIns="45720" tIns="27432" rIns="45720" bIns="27432" anchor="t">
            <a:spAutoFit/>
          </a:bodyPr>
          <a:lstStyle/>
          <a:p>
            <a:pPr algn="l">
              <a:lnSpc>
                <a:spcPct val="110000"/>
              </a:lnSpc>
            </a:pPr>
            <a:r>
              <a:rPr sz="4800" b="1" i="0">
                <a:solidFill>
                  <a:srgbClr val="1E6FE8"/>
                </a:solidFill>
                <a:latin typeface="Helvetica"/>
              </a:rPr>
              <a:t>+2%</a:t>
            </a:r>
          </a:p>
        </p:txBody>
      </p:sp>
      <p:sp>
        <p:nvSpPr>
          <p:cNvPr id="13" name="TextBox 12"/>
          <p:cNvSpPr txBox="1"/>
          <p:nvPr/>
        </p:nvSpPr>
        <p:spPr>
          <a:xfrm>
            <a:off x="6675120" y="2697480"/>
            <a:ext cx="4754880" cy="777240"/>
          </a:xfrm>
          <a:prstGeom prst="rect">
            <a:avLst/>
          </a:prstGeom>
          <a:noFill/>
        </p:spPr>
        <p:txBody>
          <a:bodyPr wrap="square" lIns="45720" tIns="27432" rIns="45720" bIns="27432" anchor="t">
            <a:spAutoFit/>
          </a:bodyPr>
          <a:lstStyle/>
          <a:p>
            <a:pPr algn="l">
              <a:lnSpc>
                <a:spcPct val="110000"/>
              </a:lnSpc>
            </a:pPr>
            <a:r>
              <a:rPr sz="2000" b="0" i="0">
                <a:solidFill>
                  <a:srgbClr val="5B6B82"/>
                </a:solidFill>
                <a:latin typeface="Helvetica"/>
              </a:rPr>
              <a:t>thời gian mỗi bước tăng 2% (1,474 so với 1,448 giây)</a:t>
            </a:r>
          </a:p>
        </p:txBody>
      </p:sp>
      <p:sp>
        <p:nvSpPr>
          <p:cNvPr id="14" name="TextBox 13"/>
          <p:cNvSpPr txBox="1"/>
          <p:nvPr/>
        </p:nvSpPr>
        <p:spPr>
          <a:xfrm>
            <a:off x="6675120" y="3931920"/>
            <a:ext cx="4754880" cy="868680"/>
          </a:xfrm>
          <a:prstGeom prst="rect">
            <a:avLst/>
          </a:prstGeom>
          <a:noFill/>
        </p:spPr>
        <p:txBody>
          <a:bodyPr wrap="square" lIns="45720" tIns="27432" rIns="45720" bIns="27432" anchor="t">
            <a:spAutoFit/>
          </a:bodyPr>
          <a:lstStyle/>
          <a:p>
            <a:pPr algn="l">
              <a:lnSpc>
                <a:spcPct val="110000"/>
              </a:lnSpc>
            </a:pPr>
            <a:r>
              <a:rPr sz="4800" b="1" i="0">
                <a:solidFill>
                  <a:srgbClr val="1E6FE8"/>
                </a:solidFill>
                <a:latin typeface="Helvetica"/>
              </a:rPr>
              <a:t>H1</a:t>
            </a:r>
          </a:p>
        </p:txBody>
      </p:sp>
      <p:sp>
        <p:nvSpPr>
          <p:cNvPr id="15" name="TextBox 14"/>
          <p:cNvSpPr txBox="1"/>
          <p:nvPr/>
        </p:nvSpPr>
        <p:spPr>
          <a:xfrm>
            <a:off x="6675120" y="4800600"/>
            <a:ext cx="4754880" cy="777240"/>
          </a:xfrm>
          <a:prstGeom prst="rect">
            <a:avLst/>
          </a:prstGeom>
          <a:noFill/>
        </p:spPr>
        <p:txBody>
          <a:bodyPr wrap="square" lIns="45720" tIns="27432" rIns="45720" bIns="27432" anchor="t">
            <a:spAutoFit/>
          </a:bodyPr>
          <a:lstStyle/>
          <a:p>
            <a:pPr algn="l">
              <a:lnSpc>
                <a:spcPct val="110000"/>
              </a:lnSpc>
            </a:pPr>
            <a:r>
              <a:rPr sz="2000" b="0" i="0">
                <a:solidFill>
                  <a:srgbClr val="5B6B82"/>
                </a:solidFill>
                <a:latin typeface="Helvetica"/>
              </a:rPr>
              <a:t>giả thuyết: A tăng R@K, mAP@K so với baseline</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1828800" y="4114800"/>
            <a:ext cx="3840480" cy="384048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54864" y="603504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548640" y="347472"/>
            <a:ext cx="10424160" cy="1143000"/>
          </a:xfrm>
          <a:prstGeom prst="rect">
            <a:avLst/>
          </a:prstGeom>
          <a:noFill/>
        </p:spPr>
        <p:txBody>
          <a:bodyPr wrap="square" lIns="45720" tIns="27432" rIns="45720" bIns="27432" anchor="ctr">
            <a:spAutoFit/>
          </a:bodyPr>
          <a:lstStyle/>
          <a:p>
            <a:pPr algn="l">
              <a:lnSpc>
                <a:spcPct val="110000"/>
              </a:lnSpc>
            </a:pPr>
            <a:r>
              <a:rPr sz="3200" b="1" i="0">
                <a:solidFill>
                  <a:srgbClr val="0F1C3F"/>
                </a:solidFill>
                <a:latin typeface="Helvetica"/>
              </a:rPr>
              <a:t>Cải tiến B: dịch nhiễu theo hướng của modality gap</a:t>
            </a:r>
          </a:p>
        </p:txBody>
      </p:sp>
      <p:sp>
        <p:nvSpPr>
          <p:cNvPr id="5"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10</a:t>
            </a:r>
          </a:p>
        </p:txBody>
      </p:sp>
      <p:sp>
        <p:nvSpPr>
          <p:cNvPr id="6" name="Rounded Rectangle 5"/>
          <p:cNvSpPr/>
          <p:nvPr/>
        </p:nvSpPr>
        <p:spPr>
          <a:xfrm>
            <a:off x="548640" y="1737360"/>
            <a:ext cx="5577840" cy="201168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901952"/>
            <a:ext cx="512064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Vấn đề</a:t>
            </a:r>
          </a:p>
        </p:txBody>
      </p:sp>
      <p:sp>
        <p:nvSpPr>
          <p:cNvPr id="8" name="TextBox 7"/>
          <p:cNvSpPr txBox="1"/>
          <p:nvPr/>
        </p:nvSpPr>
        <p:spPr>
          <a:xfrm>
            <a:off x="777240" y="2468880"/>
            <a:ext cx="5120640" cy="114300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Nhiễu u · ε đều theo mọi hướng</a:t>
            </a:r>
          </a:p>
          <a:p>
            <a:pPr marL="292608" indent="-292608">
              <a:lnSpc>
                <a:spcPct val="108000"/>
              </a:lnSpc>
              <a:spcAft>
                <a:spcPts val="600"/>
              </a:spcAft>
              <a:buClr>
                <a:srgbClr val="1E6FE8"/>
              </a:buClr>
              <a:buFont typeface="Helvetica"/>
              <a:buChar char="•"/>
            </a:pPr>
            <a:r>
              <a:rPr sz="2100" b="0" i="0">
                <a:solidFill>
                  <a:srgbClr val="0F1C3F"/>
                </a:solidFill>
                <a:latin typeface="Helvetica"/>
              </a:rPr>
              <a:t>Không dịch về phía vùng ảnh</a:t>
            </a:r>
          </a:p>
        </p:txBody>
      </p:sp>
      <p:sp>
        <p:nvSpPr>
          <p:cNvPr id="9" name="Rounded Rectangle 8"/>
          <p:cNvSpPr/>
          <p:nvPr/>
        </p:nvSpPr>
        <p:spPr>
          <a:xfrm>
            <a:off x="548640" y="3931920"/>
            <a:ext cx="5577840" cy="2011680"/>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4096511"/>
            <a:ext cx="512064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Giải pháp: nhiễu có hướng</a:t>
            </a:r>
          </a:p>
        </p:txBody>
      </p:sp>
      <p:sp>
        <p:nvSpPr>
          <p:cNvPr id="11" name="TextBox 10"/>
          <p:cNvSpPr txBox="1"/>
          <p:nvPr/>
        </p:nvSpPr>
        <p:spPr>
          <a:xfrm>
            <a:off x="777240" y="4663440"/>
            <a:ext cx="5120640" cy="114300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1" i="0">
                <a:solidFill>
                  <a:srgbClr val="0F1C3F"/>
                </a:solidFill>
                <a:latin typeface="Helvetica"/>
              </a:rPr>
              <a:t>n = 0,5 · Δ + u · ε</a:t>
            </a:r>
          </a:p>
          <a:p>
            <a:pPr marL="292608" indent="-292608">
              <a:lnSpc>
                <a:spcPct val="108000"/>
              </a:lnSpc>
              <a:spcAft>
                <a:spcPts val="600"/>
              </a:spcAft>
              <a:buClr>
                <a:srgbClr val="1E6FE8"/>
              </a:buClr>
              <a:buFont typeface="Helvetica"/>
              <a:buChar char="•"/>
            </a:pPr>
            <a:r>
              <a:rPr sz="2100" b="0" i="0">
                <a:solidFill>
                  <a:srgbClr val="0F1C3F"/>
                </a:solidFill>
                <a:latin typeface="Helvetica"/>
              </a:rPr>
              <a:t>Δ = tâm ảnh − tâm văn bản</a:t>
            </a:r>
          </a:p>
        </p:txBody>
      </p:sp>
      <p:sp>
        <p:nvSpPr>
          <p:cNvPr id="12" name="TextBox 11"/>
          <p:cNvSpPr txBox="1"/>
          <p:nvPr/>
        </p:nvSpPr>
        <p:spPr>
          <a:xfrm>
            <a:off x="6675120" y="1828800"/>
            <a:ext cx="4754880" cy="868680"/>
          </a:xfrm>
          <a:prstGeom prst="rect">
            <a:avLst/>
          </a:prstGeom>
          <a:noFill/>
        </p:spPr>
        <p:txBody>
          <a:bodyPr wrap="square" lIns="45720" tIns="27432" rIns="45720" bIns="27432" anchor="t">
            <a:spAutoFit/>
          </a:bodyPr>
          <a:lstStyle/>
          <a:p>
            <a:pPr algn="l">
              <a:lnSpc>
                <a:spcPct val="110000"/>
              </a:lnSpc>
            </a:pPr>
            <a:r>
              <a:rPr sz="4800" b="1" i="0">
                <a:solidFill>
                  <a:srgbClr val="1E6FE8"/>
                </a:solidFill>
                <a:latin typeface="Helvetica"/>
              </a:rPr>
              <a:t>13,87</a:t>
            </a:r>
          </a:p>
        </p:txBody>
      </p:sp>
      <p:sp>
        <p:nvSpPr>
          <p:cNvPr id="13" name="TextBox 12"/>
          <p:cNvSpPr txBox="1"/>
          <p:nvPr/>
        </p:nvSpPr>
        <p:spPr>
          <a:xfrm>
            <a:off x="6675120" y="2697480"/>
            <a:ext cx="4754880" cy="777240"/>
          </a:xfrm>
          <a:prstGeom prst="rect">
            <a:avLst/>
          </a:prstGeom>
          <a:noFill/>
        </p:spPr>
        <p:txBody>
          <a:bodyPr wrap="square" lIns="45720" tIns="27432" rIns="45720" bIns="27432" anchor="t">
            <a:spAutoFit/>
          </a:bodyPr>
          <a:lstStyle/>
          <a:p>
            <a:pPr algn="l">
              <a:lnSpc>
                <a:spcPct val="110000"/>
              </a:lnSpc>
            </a:pPr>
            <a:r>
              <a:rPr sz="2000" b="0" i="0">
                <a:solidFill>
                  <a:srgbClr val="5B6B82"/>
                </a:solidFill>
                <a:latin typeface="Helvetica"/>
              </a:rPr>
              <a:t>độ lớn của Δ, tính trên 5.000 cặp COCO val2017 (khác tập đánh giá)</a:t>
            </a:r>
          </a:p>
        </p:txBody>
      </p:sp>
      <p:sp>
        <p:nvSpPr>
          <p:cNvPr id="14" name="TextBox 13"/>
          <p:cNvSpPr txBox="1"/>
          <p:nvPr/>
        </p:nvSpPr>
        <p:spPr>
          <a:xfrm>
            <a:off x="6675120" y="3931920"/>
            <a:ext cx="4754880" cy="868680"/>
          </a:xfrm>
          <a:prstGeom prst="rect">
            <a:avLst/>
          </a:prstGeom>
          <a:noFill/>
        </p:spPr>
        <p:txBody>
          <a:bodyPr wrap="square" lIns="45720" tIns="27432" rIns="45720" bIns="27432" anchor="t">
            <a:spAutoFit/>
          </a:bodyPr>
          <a:lstStyle/>
          <a:p>
            <a:pPr algn="l">
              <a:lnSpc>
                <a:spcPct val="110000"/>
              </a:lnSpc>
            </a:pPr>
            <a:r>
              <a:rPr sz="4800" b="1" i="0">
                <a:solidFill>
                  <a:srgbClr val="1E6FE8"/>
                </a:solidFill>
                <a:latin typeface="Helvetica"/>
              </a:rPr>
              <a:t>H2</a:t>
            </a:r>
          </a:p>
        </p:txBody>
      </p:sp>
      <p:sp>
        <p:nvSpPr>
          <p:cNvPr id="15" name="TextBox 14"/>
          <p:cNvSpPr txBox="1"/>
          <p:nvPr/>
        </p:nvSpPr>
        <p:spPr>
          <a:xfrm>
            <a:off x="6675120" y="4800600"/>
            <a:ext cx="4754880" cy="777240"/>
          </a:xfrm>
          <a:prstGeom prst="rect">
            <a:avLst/>
          </a:prstGeom>
          <a:noFill/>
        </p:spPr>
        <p:txBody>
          <a:bodyPr wrap="square" lIns="45720" tIns="27432" rIns="45720" bIns="27432" anchor="t">
            <a:spAutoFit/>
          </a:bodyPr>
          <a:lstStyle/>
          <a:p>
            <a:pPr algn="l">
              <a:lnSpc>
                <a:spcPct val="110000"/>
              </a:lnSpc>
            </a:pPr>
            <a:r>
              <a:rPr sz="2000" b="0" i="0">
                <a:solidFill>
                  <a:srgbClr val="5B6B82"/>
                </a:solidFill>
                <a:latin typeface="Helvetica"/>
              </a:rPr>
              <a:t>giả thuyết: φ nhất quán hơn giữa ảnh và văn bản, nên R@K, mAP@K tăng</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1645920" y="4206240"/>
            <a:ext cx="3657600" cy="365760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54864" y="603504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548640" y="347472"/>
            <a:ext cx="10424160" cy="1143000"/>
          </a:xfrm>
          <a:prstGeom prst="rect">
            <a:avLst/>
          </a:prstGeom>
          <a:noFill/>
        </p:spPr>
        <p:txBody>
          <a:bodyPr wrap="square" lIns="45720" tIns="27432" rIns="45720" bIns="27432" anchor="ctr">
            <a:spAutoFit/>
          </a:bodyPr>
          <a:lstStyle/>
          <a:p>
            <a:pPr algn="l">
              <a:lnSpc>
                <a:spcPct val="110000"/>
              </a:lnSpc>
            </a:pPr>
            <a:r>
              <a:rPr sz="3200" b="1" i="0">
                <a:solidFill>
                  <a:srgbClr val="0F1C3F"/>
                </a:solidFill>
                <a:latin typeface="Helvetica"/>
              </a:rPr>
              <a:t>Dựng lại mã nguồn và chạy 4 biến thể × 3 seed trên Kaggle</a:t>
            </a:r>
          </a:p>
        </p:txBody>
      </p:sp>
      <p:sp>
        <p:nvSpPr>
          <p:cNvPr id="5"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11</a:t>
            </a:r>
          </a:p>
        </p:txBody>
      </p:sp>
      <p:sp>
        <p:nvSpPr>
          <p:cNvPr id="6" name="TextBox 5"/>
          <p:cNvSpPr txBox="1"/>
          <p:nvPr/>
        </p:nvSpPr>
        <p:spPr>
          <a:xfrm>
            <a:off x="731520" y="1783080"/>
            <a:ext cx="3291840" cy="868680"/>
          </a:xfrm>
          <a:prstGeom prst="rect">
            <a:avLst/>
          </a:prstGeom>
          <a:noFill/>
        </p:spPr>
        <p:txBody>
          <a:bodyPr wrap="square" lIns="45720" tIns="27432" rIns="45720" bIns="27432" anchor="t">
            <a:spAutoFit/>
          </a:bodyPr>
          <a:lstStyle/>
          <a:p>
            <a:pPr algn="l">
              <a:lnSpc>
                <a:spcPct val="110000"/>
              </a:lnSpc>
            </a:pPr>
            <a:r>
              <a:rPr sz="4800" b="1" i="0">
                <a:solidFill>
                  <a:srgbClr val="1E6FE8"/>
                </a:solidFill>
                <a:latin typeface="Helvetica"/>
              </a:rPr>
              <a:t>0,00</a:t>
            </a:r>
          </a:p>
        </p:txBody>
      </p:sp>
      <p:sp>
        <p:nvSpPr>
          <p:cNvPr id="7" name="TextBox 6"/>
          <p:cNvSpPr txBox="1"/>
          <p:nvPr/>
        </p:nvSpPr>
        <p:spPr>
          <a:xfrm>
            <a:off x="731520" y="2651760"/>
            <a:ext cx="3291840" cy="777240"/>
          </a:xfrm>
          <a:prstGeom prst="rect">
            <a:avLst/>
          </a:prstGeom>
          <a:noFill/>
        </p:spPr>
        <p:txBody>
          <a:bodyPr wrap="square" lIns="45720" tIns="27432" rIns="45720" bIns="27432" anchor="t">
            <a:spAutoFit/>
          </a:bodyPr>
          <a:lstStyle/>
          <a:p>
            <a:pPr algn="l">
              <a:lnSpc>
                <a:spcPct val="110000"/>
              </a:lnSpc>
            </a:pPr>
            <a:r>
              <a:rPr sz="2000" b="0" i="0">
                <a:solidFill>
                  <a:srgbClr val="5B6B82"/>
                </a:solidFill>
                <a:latin typeface="Helvetica"/>
              </a:rPr>
              <a:t>sai lệch giữa encoder viết lại và CLIP gốc</a:t>
            </a:r>
          </a:p>
        </p:txBody>
      </p:sp>
      <p:sp>
        <p:nvSpPr>
          <p:cNvPr id="8" name="TextBox 7"/>
          <p:cNvSpPr txBox="1"/>
          <p:nvPr/>
        </p:nvSpPr>
        <p:spPr>
          <a:xfrm>
            <a:off x="731520" y="3703320"/>
            <a:ext cx="3291840" cy="868680"/>
          </a:xfrm>
          <a:prstGeom prst="rect">
            <a:avLst/>
          </a:prstGeom>
          <a:noFill/>
        </p:spPr>
        <p:txBody>
          <a:bodyPr wrap="square" lIns="45720" tIns="27432" rIns="45720" bIns="27432" anchor="t">
            <a:spAutoFit/>
          </a:bodyPr>
          <a:lstStyle/>
          <a:p>
            <a:pPr algn="l">
              <a:lnSpc>
                <a:spcPct val="110000"/>
              </a:lnSpc>
            </a:pPr>
            <a:r>
              <a:rPr sz="4800" b="1" i="0">
                <a:solidFill>
                  <a:srgbClr val="1E6FE8"/>
                </a:solidFill>
                <a:latin typeface="Helvetica"/>
              </a:rPr>
              <a:t>4</a:t>
            </a:r>
          </a:p>
        </p:txBody>
      </p:sp>
      <p:sp>
        <p:nvSpPr>
          <p:cNvPr id="9" name="TextBox 8"/>
          <p:cNvSpPr txBox="1"/>
          <p:nvPr/>
        </p:nvSpPr>
        <p:spPr>
          <a:xfrm>
            <a:off x="731520" y="4572000"/>
            <a:ext cx="3291840" cy="777240"/>
          </a:xfrm>
          <a:prstGeom prst="rect">
            <a:avLst/>
          </a:prstGeom>
          <a:noFill/>
        </p:spPr>
        <p:txBody>
          <a:bodyPr wrap="square" lIns="45720" tIns="27432" rIns="45720" bIns="27432" anchor="t">
            <a:spAutoFit/>
          </a:bodyPr>
          <a:lstStyle/>
          <a:p>
            <a:pPr algn="l">
              <a:lnSpc>
                <a:spcPct val="110000"/>
              </a:lnSpc>
            </a:pPr>
            <a:r>
              <a:rPr sz="2000" b="0" i="0">
                <a:solidFill>
                  <a:srgbClr val="5B6B82"/>
                </a:solidFill>
                <a:latin typeface="Helvetica"/>
              </a:rPr>
              <a:t>lỗi trong mã gốc đã được sửa</a:t>
            </a:r>
          </a:p>
        </p:txBody>
      </p:sp>
      <p:sp>
        <p:nvSpPr>
          <p:cNvPr id="10" name="Rounded Rectangle 9"/>
          <p:cNvSpPr/>
          <p:nvPr/>
        </p:nvSpPr>
        <p:spPr>
          <a:xfrm>
            <a:off x="4297680" y="1737360"/>
            <a:ext cx="3566160" cy="356616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26280" y="1901952"/>
            <a:ext cx="310896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Đã làm</a:t>
            </a:r>
          </a:p>
        </p:txBody>
      </p:sp>
      <p:sp>
        <p:nvSpPr>
          <p:cNvPr id="12" name="TextBox 11"/>
          <p:cNvSpPr txBox="1"/>
          <p:nvPr/>
        </p:nvSpPr>
        <p:spPr>
          <a:xfrm>
            <a:off x="4526280" y="2468880"/>
            <a:ext cx="3108960" cy="269748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Viết lại encoder văn bản cho thư viện mới</a:t>
            </a:r>
          </a:p>
          <a:p>
            <a:pPr marL="292608" indent="-292608">
              <a:lnSpc>
                <a:spcPct val="108000"/>
              </a:lnSpc>
              <a:spcAft>
                <a:spcPts val="600"/>
              </a:spcAft>
              <a:buClr>
                <a:srgbClr val="1E6FE8"/>
              </a:buClr>
              <a:buFont typeface="Helvetica"/>
              <a:buChar char="•"/>
            </a:pPr>
            <a:r>
              <a:rPr sz="2100" b="0" i="0">
                <a:solidFill>
                  <a:srgbClr val="0F1C3F"/>
                </a:solidFill>
                <a:latin typeface="Helvetica"/>
              </a:rPr>
              <a:t>Thay tokenizer; token “$” có mã 259</a:t>
            </a:r>
          </a:p>
          <a:p>
            <a:pPr marL="292608" indent="-292608">
              <a:lnSpc>
                <a:spcPct val="108000"/>
              </a:lnSpc>
              <a:spcAft>
                <a:spcPts val="600"/>
              </a:spcAft>
              <a:buClr>
                <a:srgbClr val="1E6FE8"/>
              </a:buClr>
              <a:buFont typeface="Helvetica"/>
              <a:buChar char="•"/>
            </a:pPr>
            <a:r>
              <a:rPr sz="2100" b="0" i="0">
                <a:solidFill>
                  <a:srgbClr val="0F1C3F"/>
                </a:solidFill>
                <a:latin typeface="Helvetica"/>
              </a:rPr>
              <a:t>Kiểm chứng trên ViT-B/32 và ViT-L/14</a:t>
            </a:r>
          </a:p>
        </p:txBody>
      </p:sp>
      <p:sp>
        <p:nvSpPr>
          <p:cNvPr id="13" name="Rounded Rectangle 12"/>
          <p:cNvSpPr/>
          <p:nvPr/>
        </p:nvSpPr>
        <p:spPr>
          <a:xfrm>
            <a:off x="8092440" y="1737360"/>
            <a:ext cx="3566160" cy="3566160"/>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321040" y="1901952"/>
            <a:ext cx="310896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Chạy trên Kaggle</a:t>
            </a:r>
          </a:p>
        </p:txBody>
      </p:sp>
      <p:sp>
        <p:nvSpPr>
          <p:cNvPr id="15" name="TextBox 14"/>
          <p:cNvSpPr txBox="1"/>
          <p:nvPr/>
        </p:nvSpPr>
        <p:spPr>
          <a:xfrm>
            <a:off x="8321040" y="2468880"/>
            <a:ext cx="3108960" cy="269748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Baseline, A, B, A+B (H3: A+B có cộng hưởng không)</a:t>
            </a:r>
          </a:p>
          <a:p>
            <a:pPr marL="292608" indent="-292608">
              <a:lnSpc>
                <a:spcPct val="108000"/>
              </a:lnSpc>
              <a:spcAft>
                <a:spcPts val="600"/>
              </a:spcAft>
              <a:buClr>
                <a:srgbClr val="1E6FE8"/>
              </a:buClr>
              <a:buFont typeface="Helvetica"/>
              <a:buChar char="•"/>
            </a:pPr>
            <a:r>
              <a:rPr sz="2100" b="0" i="0">
                <a:solidFill>
                  <a:srgbClr val="0F1C3F"/>
                </a:solidFill>
                <a:latin typeface="Helvetica"/>
              </a:rPr>
              <a:t>3 seed, 5.000 bước, chỉ khác thành phần cải tiến</a:t>
            </a:r>
          </a:p>
          <a:p>
            <a:pPr marL="292608" indent="-292608">
              <a:lnSpc>
                <a:spcPct val="108000"/>
              </a:lnSpc>
              <a:spcAft>
                <a:spcPts val="600"/>
              </a:spcAft>
              <a:buClr>
                <a:srgbClr val="1E6FE8"/>
              </a:buClr>
              <a:buFont typeface="Helvetica"/>
              <a:buChar char="•"/>
            </a:pPr>
            <a:r>
              <a:rPr sz="2100" b="0" i="0">
                <a:solidFill>
                  <a:srgbClr val="0F1C3F"/>
                </a:solidFill>
                <a:latin typeface="Helvetica"/>
              </a:rPr>
              <a:t>2 GPU T4; nạp dữ liệu nhanh gấp 3,1 lần</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9875520" y="4480560"/>
            <a:ext cx="3474720" cy="347472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11704320" y="310896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548640" y="347472"/>
            <a:ext cx="10424160" cy="1143000"/>
          </a:xfrm>
          <a:prstGeom prst="rect">
            <a:avLst/>
          </a:prstGeom>
          <a:noFill/>
        </p:spPr>
        <p:txBody>
          <a:bodyPr wrap="square" lIns="45720" tIns="27432" rIns="45720" bIns="27432" anchor="ctr">
            <a:spAutoFit/>
          </a:bodyPr>
          <a:lstStyle/>
          <a:p>
            <a:pPr algn="l">
              <a:lnSpc>
                <a:spcPct val="110000"/>
              </a:lnSpc>
            </a:pPr>
            <a:r>
              <a:rPr sz="3200" b="1" i="0">
                <a:solidFill>
                  <a:srgbClr val="0F1C3F"/>
                </a:solidFill>
                <a:latin typeface="Helvetica"/>
              </a:rPr>
              <a:t>Checkpoint chính thức tái hiện khớp bài báo, lệch tối đa 0,77 điểm</a:t>
            </a:r>
          </a:p>
        </p:txBody>
      </p:sp>
      <p:sp>
        <p:nvSpPr>
          <p:cNvPr id="5"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12</a:t>
            </a:r>
          </a:p>
        </p:txBody>
      </p:sp>
      <p:graphicFrame>
        <p:nvGraphicFramePr>
          <p:cNvPr id="6" name="Table 5"/>
          <p:cNvGraphicFramePr>
            <a:graphicFrameLocks noGrp="1"/>
          </p:cNvGraphicFramePr>
          <p:nvPr/>
        </p:nvGraphicFramePr>
        <p:xfrm>
          <a:off x="548640" y="1783080"/>
          <a:ext cx="11064240" cy="1597152"/>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gridCol w="1143000">
                  <a:extLst>
                    <a:ext uri="{9D8B030D-6E8A-4147-A177-3AD203B41FA5}">
                      <a16:colId xmlns:a16="http://schemas.microsoft.com/office/drawing/2014/main" val="20008"/>
                    </a:ext>
                  </a:extLst>
                </a:gridCol>
              </a:tblGrid>
              <a:tr h="457200">
                <a:tc>
                  <a:txBody>
                    <a:bodyPr/>
                    <a:lstStyle/>
                    <a:p>
                      <a:pPr algn="l"/>
                      <a:r>
                        <a:rPr sz="2000" b="1" i="0">
                          <a:solidFill>
                            <a:srgbClr val="FFFFFF"/>
                          </a:solidFill>
                          <a:latin typeface="Helvetica"/>
                        </a:rPr>
                        <a:t>FashionIQ val</a:t>
                      </a:r>
                    </a:p>
                  </a:txBody>
                  <a:tcPr marL="73152" marR="73152" marT="36576" marB="36576" anchor="ctr">
                    <a:solidFill>
                      <a:srgbClr val="1E6FE8"/>
                    </a:solidFill>
                  </a:tcPr>
                </a:tc>
                <a:tc>
                  <a:txBody>
                    <a:bodyPr/>
                    <a:lstStyle/>
                    <a:p>
                      <a:pPr algn="ctr"/>
                      <a:r>
                        <a:rPr sz="2000" b="1" i="0">
                          <a:solidFill>
                            <a:srgbClr val="FFFFFF"/>
                          </a:solidFill>
                          <a:latin typeface="Helvetica"/>
                        </a:rPr>
                        <a:t>Dress R@10</a:t>
                      </a:r>
                    </a:p>
                  </a:txBody>
                  <a:tcPr marL="73152" marR="73152" marT="36576" marB="36576" anchor="ctr">
                    <a:solidFill>
                      <a:srgbClr val="1E6FE8"/>
                    </a:solidFill>
                  </a:tcPr>
                </a:tc>
                <a:tc>
                  <a:txBody>
                    <a:bodyPr/>
                    <a:lstStyle/>
                    <a:p>
                      <a:pPr algn="ctr"/>
                      <a:r>
                        <a:rPr sz="2000" b="1" i="0">
                          <a:solidFill>
                            <a:srgbClr val="FFFFFF"/>
                          </a:solidFill>
                          <a:latin typeface="Helvetica"/>
                        </a:rPr>
                        <a:t>Dress R@50</a:t>
                      </a:r>
                    </a:p>
                  </a:txBody>
                  <a:tcPr marL="73152" marR="73152" marT="36576" marB="36576" anchor="ctr">
                    <a:solidFill>
                      <a:srgbClr val="1E6FE8"/>
                    </a:solidFill>
                  </a:tcPr>
                </a:tc>
                <a:tc>
                  <a:txBody>
                    <a:bodyPr/>
                    <a:lstStyle/>
                    <a:p>
                      <a:pPr algn="ctr"/>
                      <a:r>
                        <a:rPr sz="2000" b="1" i="0">
                          <a:solidFill>
                            <a:srgbClr val="FFFFFF"/>
                          </a:solidFill>
                          <a:latin typeface="Helvetica"/>
                        </a:rPr>
                        <a:t>Shirt R@10</a:t>
                      </a:r>
                    </a:p>
                  </a:txBody>
                  <a:tcPr marL="73152" marR="73152" marT="36576" marB="36576" anchor="ctr">
                    <a:solidFill>
                      <a:srgbClr val="1E6FE8"/>
                    </a:solidFill>
                  </a:tcPr>
                </a:tc>
                <a:tc>
                  <a:txBody>
                    <a:bodyPr/>
                    <a:lstStyle/>
                    <a:p>
                      <a:pPr algn="ctr"/>
                      <a:r>
                        <a:rPr sz="2000" b="1" i="0">
                          <a:solidFill>
                            <a:srgbClr val="FFFFFF"/>
                          </a:solidFill>
                          <a:latin typeface="Helvetica"/>
                        </a:rPr>
                        <a:t>Shirt R@50</a:t>
                      </a:r>
                    </a:p>
                  </a:txBody>
                  <a:tcPr marL="73152" marR="73152" marT="36576" marB="36576" anchor="ctr">
                    <a:solidFill>
                      <a:srgbClr val="1E6FE8"/>
                    </a:solidFill>
                  </a:tcPr>
                </a:tc>
                <a:tc>
                  <a:txBody>
                    <a:bodyPr/>
                    <a:lstStyle/>
                    <a:p>
                      <a:pPr algn="ctr"/>
                      <a:r>
                        <a:rPr sz="2000" b="1" i="0">
                          <a:solidFill>
                            <a:srgbClr val="FFFFFF"/>
                          </a:solidFill>
                          <a:latin typeface="Helvetica"/>
                        </a:rPr>
                        <a:t>Toptee R@10</a:t>
                      </a:r>
                    </a:p>
                  </a:txBody>
                  <a:tcPr marL="73152" marR="73152" marT="36576" marB="36576" anchor="ctr">
                    <a:solidFill>
                      <a:srgbClr val="1E6FE8"/>
                    </a:solidFill>
                  </a:tcPr>
                </a:tc>
                <a:tc>
                  <a:txBody>
                    <a:bodyPr/>
                    <a:lstStyle/>
                    <a:p>
                      <a:pPr algn="ctr"/>
                      <a:r>
                        <a:rPr sz="2000" b="1" i="0">
                          <a:solidFill>
                            <a:srgbClr val="FFFFFF"/>
                          </a:solidFill>
                          <a:latin typeface="Helvetica"/>
                        </a:rPr>
                        <a:t>Toptee R@50</a:t>
                      </a:r>
                    </a:p>
                  </a:txBody>
                  <a:tcPr marL="73152" marR="73152" marT="36576" marB="36576" anchor="ctr">
                    <a:solidFill>
                      <a:srgbClr val="1E6FE8"/>
                    </a:solidFill>
                  </a:tcPr>
                </a:tc>
                <a:tc>
                  <a:txBody>
                    <a:bodyPr/>
                    <a:lstStyle/>
                    <a:p>
                      <a:pPr algn="ctr"/>
                      <a:r>
                        <a:rPr sz="2000" b="1" i="0">
                          <a:solidFill>
                            <a:srgbClr val="FFFFFF"/>
                          </a:solidFill>
                          <a:latin typeface="Helvetica"/>
                        </a:rPr>
                        <a:t>TB R@10</a:t>
                      </a:r>
                    </a:p>
                  </a:txBody>
                  <a:tcPr marL="73152" marR="73152" marT="36576" marB="36576" anchor="ctr">
                    <a:solidFill>
                      <a:srgbClr val="1E6FE8"/>
                    </a:solidFill>
                  </a:tcPr>
                </a:tc>
                <a:tc>
                  <a:txBody>
                    <a:bodyPr/>
                    <a:lstStyle/>
                    <a:p>
                      <a:pPr algn="ctr"/>
                      <a:r>
                        <a:rPr sz="2000" b="1" i="0">
                          <a:solidFill>
                            <a:srgbClr val="FFFFFF"/>
                          </a:solidFill>
                          <a:latin typeface="Helvetica"/>
                        </a:rPr>
                        <a:t>TB R@50</a:t>
                      </a:r>
                    </a:p>
                  </a:txBody>
                  <a:tcPr marL="73152" marR="73152" marT="36576" marB="36576" anchor="ctr">
                    <a:solidFill>
                      <a:srgbClr val="1E6FE8"/>
                    </a:solidFill>
                  </a:tcPr>
                </a:tc>
                <a:extLst>
                  <a:ext uri="{0D108BD9-81ED-4DB2-BD59-A6C34878D82A}">
                    <a16:rowId xmlns:a16="http://schemas.microsoft.com/office/drawing/2014/main" val="10000"/>
                  </a:ext>
                </a:extLst>
              </a:tr>
              <a:tr h="457200">
                <a:tc>
                  <a:txBody>
                    <a:bodyPr/>
                    <a:lstStyle/>
                    <a:p>
                      <a:pPr algn="l"/>
                      <a:r>
                        <a:rPr sz="2000" b="0" i="0">
                          <a:solidFill>
                            <a:srgbClr val="0F1C3F"/>
                          </a:solidFill>
                          <a:latin typeface="Helvetica"/>
                        </a:rPr>
                        <a:t>Bài báo</a:t>
                      </a:r>
                    </a:p>
                  </a:txBody>
                  <a:tcPr marL="73152" marR="73152" marT="36576" marB="36576" anchor="ctr">
                    <a:solidFill>
                      <a:srgbClr val="FFFFFF"/>
                    </a:solidFill>
                  </a:tcPr>
                </a:tc>
                <a:tc>
                  <a:txBody>
                    <a:bodyPr/>
                    <a:lstStyle/>
                    <a:p>
                      <a:pPr algn="ctr"/>
                      <a:r>
                        <a:rPr sz="2000" b="0" i="0">
                          <a:solidFill>
                            <a:srgbClr val="0F1C3F"/>
                          </a:solidFill>
                          <a:latin typeface="Helvetica"/>
                        </a:rPr>
                        <a:t>20,92</a:t>
                      </a:r>
                    </a:p>
                  </a:txBody>
                  <a:tcPr marL="73152" marR="73152" marT="36576" marB="36576" anchor="ctr">
                    <a:solidFill>
                      <a:srgbClr val="FFFFFF"/>
                    </a:solidFill>
                  </a:tcPr>
                </a:tc>
                <a:tc>
                  <a:txBody>
                    <a:bodyPr/>
                    <a:lstStyle/>
                    <a:p>
                      <a:pPr algn="ctr"/>
                      <a:r>
                        <a:rPr sz="2000" b="0" i="0">
                          <a:solidFill>
                            <a:srgbClr val="0F1C3F"/>
                          </a:solidFill>
                          <a:latin typeface="Helvetica"/>
                        </a:rPr>
                        <a:t>42,44</a:t>
                      </a:r>
                    </a:p>
                  </a:txBody>
                  <a:tcPr marL="73152" marR="73152" marT="36576" marB="36576" anchor="ctr">
                    <a:solidFill>
                      <a:srgbClr val="FFFFFF"/>
                    </a:solidFill>
                  </a:tcPr>
                </a:tc>
                <a:tc>
                  <a:txBody>
                    <a:bodyPr/>
                    <a:lstStyle/>
                    <a:p>
                      <a:pPr algn="ctr"/>
                      <a:r>
                        <a:rPr sz="2000" b="0" i="0">
                          <a:solidFill>
                            <a:srgbClr val="0F1C3F"/>
                          </a:solidFill>
                          <a:latin typeface="Helvetica"/>
                        </a:rPr>
                        <a:t>29,10</a:t>
                      </a:r>
                    </a:p>
                  </a:txBody>
                  <a:tcPr marL="73152" marR="73152" marT="36576" marB="36576" anchor="ctr">
                    <a:solidFill>
                      <a:srgbClr val="FFFFFF"/>
                    </a:solidFill>
                  </a:tcPr>
                </a:tc>
                <a:tc>
                  <a:txBody>
                    <a:bodyPr/>
                    <a:lstStyle/>
                    <a:p>
                      <a:pPr algn="ctr"/>
                      <a:r>
                        <a:rPr sz="2000" b="0" i="0">
                          <a:solidFill>
                            <a:srgbClr val="0F1C3F"/>
                          </a:solidFill>
                          <a:latin typeface="Helvetica"/>
                        </a:rPr>
                        <a:t>46,81</a:t>
                      </a:r>
                    </a:p>
                  </a:txBody>
                  <a:tcPr marL="73152" marR="73152" marT="36576" marB="36576" anchor="ctr">
                    <a:solidFill>
                      <a:srgbClr val="FFFFFF"/>
                    </a:solidFill>
                  </a:tcPr>
                </a:tc>
                <a:tc>
                  <a:txBody>
                    <a:bodyPr/>
                    <a:lstStyle/>
                    <a:p>
                      <a:pPr algn="ctr"/>
                      <a:r>
                        <a:rPr sz="2000" b="0" i="0">
                          <a:solidFill>
                            <a:srgbClr val="0F1C3F"/>
                          </a:solidFill>
                          <a:latin typeface="Helvetica"/>
                        </a:rPr>
                        <a:t>28,81</a:t>
                      </a:r>
                    </a:p>
                  </a:txBody>
                  <a:tcPr marL="73152" marR="73152" marT="36576" marB="36576" anchor="ctr">
                    <a:solidFill>
                      <a:srgbClr val="FFFFFF"/>
                    </a:solidFill>
                  </a:tcPr>
                </a:tc>
                <a:tc>
                  <a:txBody>
                    <a:bodyPr/>
                    <a:lstStyle/>
                    <a:p>
                      <a:pPr algn="ctr"/>
                      <a:r>
                        <a:rPr sz="2000" b="0" i="0">
                          <a:solidFill>
                            <a:srgbClr val="0F1C3F"/>
                          </a:solidFill>
                          <a:latin typeface="Helvetica"/>
                        </a:rPr>
                        <a:t>50,18</a:t>
                      </a:r>
                    </a:p>
                  </a:txBody>
                  <a:tcPr marL="73152" marR="73152" marT="36576" marB="36576" anchor="ctr">
                    <a:solidFill>
                      <a:srgbClr val="FFFFFF"/>
                    </a:solidFill>
                  </a:tcPr>
                </a:tc>
                <a:tc>
                  <a:txBody>
                    <a:bodyPr/>
                    <a:lstStyle/>
                    <a:p>
                      <a:pPr algn="ctr"/>
                      <a:r>
                        <a:rPr sz="2000" b="0" i="0">
                          <a:solidFill>
                            <a:srgbClr val="0F1C3F"/>
                          </a:solidFill>
                          <a:latin typeface="Helvetica"/>
                        </a:rPr>
                        <a:t>26,28</a:t>
                      </a:r>
                    </a:p>
                  </a:txBody>
                  <a:tcPr marL="73152" marR="73152" marT="36576" marB="36576" anchor="ctr">
                    <a:solidFill>
                      <a:srgbClr val="FFFFFF"/>
                    </a:solidFill>
                  </a:tcPr>
                </a:tc>
                <a:tc>
                  <a:txBody>
                    <a:bodyPr/>
                    <a:lstStyle/>
                    <a:p>
                      <a:pPr algn="ctr"/>
                      <a:r>
                        <a:rPr sz="2000" b="0" i="0">
                          <a:solidFill>
                            <a:srgbClr val="0F1C3F"/>
                          </a:solidFill>
                          <a:latin typeface="Helvetica"/>
                        </a:rPr>
                        <a:t>46,49</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r>
                        <a:rPr sz="2000" b="1" i="0">
                          <a:solidFill>
                            <a:srgbClr val="0F1C3F"/>
                          </a:solidFill>
                          <a:latin typeface="Helvetica"/>
                        </a:rPr>
                        <a:t>Nhóm chạy lại</a:t>
                      </a:r>
                    </a:p>
                  </a:txBody>
                  <a:tcPr marL="73152" marR="73152" marT="36576" marB="36576" anchor="ctr">
                    <a:solidFill>
                      <a:srgbClr val="EAF2FF"/>
                    </a:solidFill>
                  </a:tcPr>
                </a:tc>
                <a:tc>
                  <a:txBody>
                    <a:bodyPr/>
                    <a:lstStyle/>
                    <a:p>
                      <a:pPr algn="ctr"/>
                      <a:r>
                        <a:rPr sz="2000" b="1" i="0">
                          <a:solidFill>
                            <a:srgbClr val="0F1C3F"/>
                          </a:solidFill>
                          <a:latin typeface="Helvetica"/>
                        </a:rPr>
                        <a:t>21,32</a:t>
                      </a:r>
                    </a:p>
                  </a:txBody>
                  <a:tcPr marL="73152" marR="73152" marT="36576" marB="36576" anchor="ctr">
                    <a:solidFill>
                      <a:srgbClr val="EAF2FF"/>
                    </a:solidFill>
                  </a:tcPr>
                </a:tc>
                <a:tc>
                  <a:txBody>
                    <a:bodyPr/>
                    <a:lstStyle/>
                    <a:p>
                      <a:pPr algn="ctr"/>
                      <a:r>
                        <a:rPr sz="2000" b="1" i="0">
                          <a:solidFill>
                            <a:srgbClr val="0F1C3F"/>
                          </a:solidFill>
                          <a:latin typeface="Helvetica"/>
                        </a:rPr>
                        <a:t>42,19</a:t>
                      </a:r>
                    </a:p>
                  </a:txBody>
                  <a:tcPr marL="73152" marR="73152" marT="36576" marB="36576" anchor="ctr">
                    <a:solidFill>
                      <a:srgbClr val="EAF2FF"/>
                    </a:solidFill>
                  </a:tcPr>
                </a:tc>
                <a:tc>
                  <a:txBody>
                    <a:bodyPr/>
                    <a:lstStyle/>
                    <a:p>
                      <a:pPr algn="ctr"/>
                      <a:r>
                        <a:rPr sz="2000" b="1" i="0">
                          <a:solidFill>
                            <a:srgbClr val="0F1C3F"/>
                          </a:solidFill>
                          <a:latin typeface="Helvetica"/>
                        </a:rPr>
                        <a:t>28,70</a:t>
                      </a:r>
                    </a:p>
                  </a:txBody>
                  <a:tcPr marL="73152" marR="73152" marT="36576" marB="36576" anchor="ctr">
                    <a:solidFill>
                      <a:srgbClr val="EAF2FF"/>
                    </a:solidFill>
                  </a:tcPr>
                </a:tc>
                <a:tc>
                  <a:txBody>
                    <a:bodyPr/>
                    <a:lstStyle/>
                    <a:p>
                      <a:pPr algn="ctr"/>
                      <a:r>
                        <a:rPr sz="2000" b="1" i="0">
                          <a:solidFill>
                            <a:srgbClr val="0F1C3F"/>
                          </a:solidFill>
                          <a:latin typeface="Helvetica"/>
                        </a:rPr>
                        <a:t>46,76</a:t>
                      </a:r>
                    </a:p>
                  </a:txBody>
                  <a:tcPr marL="73152" marR="73152" marT="36576" marB="36576" anchor="ctr">
                    <a:solidFill>
                      <a:srgbClr val="EAF2FF"/>
                    </a:solidFill>
                  </a:tcPr>
                </a:tc>
                <a:tc>
                  <a:txBody>
                    <a:bodyPr/>
                    <a:lstStyle/>
                    <a:p>
                      <a:pPr algn="ctr"/>
                      <a:r>
                        <a:rPr sz="2000" b="1" i="0">
                          <a:solidFill>
                            <a:srgbClr val="0F1C3F"/>
                          </a:solidFill>
                          <a:latin typeface="Helvetica"/>
                        </a:rPr>
                        <a:t>29,02</a:t>
                      </a:r>
                    </a:p>
                  </a:txBody>
                  <a:tcPr marL="73152" marR="73152" marT="36576" marB="36576" anchor="ctr">
                    <a:solidFill>
                      <a:srgbClr val="EAF2FF"/>
                    </a:solidFill>
                  </a:tcPr>
                </a:tc>
                <a:tc>
                  <a:txBody>
                    <a:bodyPr/>
                    <a:lstStyle/>
                    <a:p>
                      <a:pPr algn="ctr"/>
                      <a:r>
                        <a:rPr sz="2000" b="1" i="0">
                          <a:solidFill>
                            <a:srgbClr val="0F1C3F"/>
                          </a:solidFill>
                          <a:latin typeface="Helvetica"/>
                        </a:rPr>
                        <a:t>49,41</a:t>
                      </a:r>
                    </a:p>
                  </a:txBody>
                  <a:tcPr marL="73152" marR="73152" marT="36576" marB="36576" anchor="ctr">
                    <a:solidFill>
                      <a:srgbClr val="EAF2FF"/>
                    </a:solidFill>
                  </a:tcPr>
                </a:tc>
                <a:tc>
                  <a:txBody>
                    <a:bodyPr/>
                    <a:lstStyle/>
                    <a:p>
                      <a:pPr algn="ctr"/>
                      <a:r>
                        <a:rPr sz="2000" b="1" i="0">
                          <a:solidFill>
                            <a:srgbClr val="0F1C3F"/>
                          </a:solidFill>
                          <a:latin typeface="Helvetica"/>
                        </a:rPr>
                        <a:t>26,35</a:t>
                      </a:r>
                    </a:p>
                  </a:txBody>
                  <a:tcPr marL="73152" marR="73152" marT="36576" marB="36576" anchor="ctr">
                    <a:solidFill>
                      <a:srgbClr val="EAF2FF"/>
                    </a:solidFill>
                  </a:tcPr>
                </a:tc>
                <a:tc>
                  <a:txBody>
                    <a:bodyPr/>
                    <a:lstStyle/>
                    <a:p>
                      <a:pPr algn="ctr"/>
                      <a:r>
                        <a:rPr sz="2000" b="1" i="0">
                          <a:solidFill>
                            <a:srgbClr val="0F1C3F"/>
                          </a:solidFill>
                          <a:latin typeface="Helvetica"/>
                        </a:rPr>
                        <a:t>46,12</a:t>
                      </a:r>
                    </a:p>
                  </a:txBody>
                  <a:tcPr marL="73152" marR="73152" marT="36576" marB="36576" anchor="ctr">
                    <a:solidFill>
                      <a:srgbClr val="EAF2FF"/>
                    </a:solidFill>
                  </a:tcPr>
                </a:tc>
                <a:extLst>
                  <a:ext uri="{0D108BD9-81ED-4DB2-BD59-A6C34878D82A}">
                    <a16:rowId xmlns:a16="http://schemas.microsoft.com/office/drawing/2014/main" val="10002"/>
                  </a:ext>
                </a:extLst>
              </a:tr>
            </a:tbl>
          </a:graphicData>
        </a:graphic>
      </p:graphicFrame>
      <p:sp>
        <p:nvSpPr>
          <p:cNvPr id="7" name="TextBox 6"/>
          <p:cNvSpPr txBox="1"/>
          <p:nvPr/>
        </p:nvSpPr>
        <p:spPr>
          <a:xfrm>
            <a:off x="731520" y="3840480"/>
            <a:ext cx="3383280" cy="868680"/>
          </a:xfrm>
          <a:prstGeom prst="rect">
            <a:avLst/>
          </a:prstGeom>
          <a:noFill/>
        </p:spPr>
        <p:txBody>
          <a:bodyPr wrap="square" lIns="45720" tIns="27432" rIns="45720" bIns="27432" anchor="t">
            <a:spAutoFit/>
          </a:bodyPr>
          <a:lstStyle/>
          <a:p>
            <a:pPr algn="l">
              <a:lnSpc>
                <a:spcPct val="110000"/>
              </a:lnSpc>
            </a:pPr>
            <a:r>
              <a:rPr sz="4800" b="1" i="0">
                <a:solidFill>
                  <a:srgbClr val="1E6FE8"/>
                </a:solidFill>
                <a:latin typeface="Helvetica"/>
              </a:rPr>
              <a:t>0,77</a:t>
            </a:r>
          </a:p>
        </p:txBody>
      </p:sp>
      <p:sp>
        <p:nvSpPr>
          <p:cNvPr id="8" name="TextBox 7"/>
          <p:cNvSpPr txBox="1"/>
          <p:nvPr/>
        </p:nvSpPr>
        <p:spPr>
          <a:xfrm>
            <a:off x="731520" y="4709160"/>
            <a:ext cx="3383280" cy="777240"/>
          </a:xfrm>
          <a:prstGeom prst="rect">
            <a:avLst/>
          </a:prstGeom>
          <a:noFill/>
        </p:spPr>
        <p:txBody>
          <a:bodyPr wrap="square" lIns="45720" tIns="27432" rIns="45720" bIns="27432" anchor="t">
            <a:spAutoFit/>
          </a:bodyPr>
          <a:lstStyle/>
          <a:p>
            <a:pPr algn="l">
              <a:lnSpc>
                <a:spcPct val="110000"/>
              </a:lnSpc>
            </a:pPr>
            <a:r>
              <a:rPr sz="2000" b="0" i="0">
                <a:solidFill>
                  <a:srgbClr val="5B6B82"/>
                </a:solidFill>
                <a:latin typeface="Helvetica"/>
              </a:rPr>
              <a:t>điểm lệch lớn nhất so với bài báo</a:t>
            </a:r>
          </a:p>
        </p:txBody>
      </p:sp>
      <p:sp>
        <p:nvSpPr>
          <p:cNvPr id="9" name="Rounded Rectangle 8"/>
          <p:cNvSpPr/>
          <p:nvPr/>
        </p:nvSpPr>
        <p:spPr>
          <a:xfrm>
            <a:off x="4297680" y="3749039"/>
            <a:ext cx="7315200" cy="224028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26280" y="3913631"/>
            <a:ext cx="685800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Bài báo khác mã nguồn (nhóm theo mã)</a:t>
            </a:r>
          </a:p>
        </p:txBody>
      </p:sp>
      <p:sp>
        <p:nvSpPr>
          <p:cNvPr id="11" name="TextBox 10"/>
          <p:cNvSpPr txBox="1"/>
          <p:nvPr/>
        </p:nvSpPr>
        <p:spPr>
          <a:xfrm>
            <a:off x="4526280" y="4480559"/>
            <a:ext cx="6858000" cy="137160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φ trong mã không có LayerNorm (bài báo có)</a:t>
            </a:r>
          </a:p>
          <a:p>
            <a:pPr marL="292608" indent="-292608">
              <a:lnSpc>
                <a:spcPct val="108000"/>
              </a:lnSpc>
              <a:spcAft>
                <a:spcPts val="600"/>
              </a:spcAft>
              <a:buClr>
                <a:srgbClr val="1E6FE8"/>
              </a:buClr>
              <a:buFont typeface="Helvetica"/>
              <a:buChar char="•"/>
            </a:pPr>
            <a:r>
              <a:rPr sz="2100" b="0" i="0">
                <a:solidFill>
                  <a:srgbClr val="0F1C3F"/>
                </a:solidFill>
                <a:latin typeface="Helvetica"/>
              </a:rPr>
              <a:t>Mã nạp thêm câu prompt Midjourney</a:t>
            </a:r>
          </a:p>
          <a:p>
            <a:pPr marL="292608" indent="-292608">
              <a:lnSpc>
                <a:spcPct val="108000"/>
              </a:lnSpc>
              <a:spcAft>
                <a:spcPts val="600"/>
              </a:spcAft>
              <a:buClr>
                <a:srgbClr val="1E6FE8"/>
              </a:buClr>
              <a:buFont typeface="Helvetica"/>
              <a:buChar char="•"/>
            </a:pPr>
            <a:r>
              <a:rPr sz="2100" b="0" i="0">
                <a:solidFill>
                  <a:srgbClr val="0F1C3F"/>
                </a:solidFill>
                <a:latin typeface="Helvetica"/>
              </a:rPr>
              <a:t>Từ khóa bị che gồm cả mạo từ (a, the)</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10241280" y="-2194560"/>
            <a:ext cx="4023360" cy="402336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11247120" y="50292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548640" y="347472"/>
            <a:ext cx="10424160" cy="1143000"/>
          </a:xfrm>
          <a:prstGeom prst="rect">
            <a:avLst/>
          </a:prstGeom>
          <a:noFill/>
        </p:spPr>
        <p:txBody>
          <a:bodyPr wrap="square" lIns="45720" tIns="27432" rIns="45720" bIns="27432" anchor="ctr">
            <a:spAutoFit/>
          </a:bodyPr>
          <a:lstStyle/>
          <a:p>
            <a:pPr algn="l">
              <a:lnSpc>
                <a:spcPct val="110000"/>
              </a:lnSpc>
            </a:pPr>
            <a:r>
              <a:rPr sz="3200" b="1" i="0">
                <a:solidFill>
                  <a:srgbClr val="0F1C3F"/>
                </a:solidFill>
                <a:latin typeface="Helvetica"/>
              </a:rPr>
              <a:t>Nhiễu có hướng (B) tốt hơn LinCIR, InfoNCE (A) làm giảm hiệu năng</a:t>
            </a:r>
          </a:p>
        </p:txBody>
      </p:sp>
      <p:sp>
        <p:nvSpPr>
          <p:cNvPr id="5"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13</a:t>
            </a:r>
          </a:p>
        </p:txBody>
      </p:sp>
      <p:graphicFrame>
        <p:nvGraphicFramePr>
          <p:cNvPr id="6" name="Table 5"/>
          <p:cNvGraphicFramePr>
            <a:graphicFrameLocks noGrp="1"/>
          </p:cNvGraphicFramePr>
          <p:nvPr/>
        </p:nvGraphicFramePr>
        <p:xfrm>
          <a:off x="548640" y="1783080"/>
          <a:ext cx="11064240" cy="2286000"/>
        </p:xfrm>
        <a:graphic>
          <a:graphicData uri="http://schemas.openxmlformats.org/drawingml/2006/table">
            <a:tbl>
              <a:tblPr firstRow="1" bandRow="1">
                <a:tableStyleId>{5C22544A-7EE6-4342-B048-85BDC9FD1C3A}</a:tableStyleId>
              </a:tblPr>
              <a:tblGrid>
                <a:gridCol w="338328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457200">
                <a:tc>
                  <a:txBody>
                    <a:bodyPr/>
                    <a:lstStyle/>
                    <a:p>
                      <a:pPr algn="l"/>
                      <a:r>
                        <a:rPr sz="2000" b="1" i="0">
                          <a:solidFill>
                            <a:srgbClr val="FFFFFF"/>
                          </a:solidFill>
                          <a:latin typeface="Helvetica"/>
                        </a:rPr>
                        <a:t>Biến thể</a:t>
                      </a:r>
                    </a:p>
                  </a:txBody>
                  <a:tcPr marL="73152" marR="73152" marT="36576" marB="36576" anchor="ctr">
                    <a:solidFill>
                      <a:srgbClr val="1E6FE8"/>
                    </a:solidFill>
                  </a:tcPr>
                </a:tc>
                <a:tc>
                  <a:txBody>
                    <a:bodyPr/>
                    <a:lstStyle/>
                    <a:p>
                      <a:pPr algn="ctr"/>
                      <a:r>
                        <a:rPr sz="2000" b="1" i="0">
                          <a:solidFill>
                            <a:srgbClr val="FFFFFF"/>
                          </a:solidFill>
                          <a:latin typeface="Helvetica"/>
                        </a:rPr>
                        <a:t>FashionIQ R@10</a:t>
                      </a:r>
                    </a:p>
                  </a:txBody>
                  <a:tcPr marL="73152" marR="73152" marT="36576" marB="36576" anchor="ctr">
                    <a:solidFill>
                      <a:srgbClr val="1E6FE8"/>
                    </a:solidFill>
                  </a:tcPr>
                </a:tc>
                <a:tc>
                  <a:txBody>
                    <a:bodyPr/>
                    <a:lstStyle/>
                    <a:p>
                      <a:pPr algn="ctr"/>
                      <a:r>
                        <a:rPr sz="2000" b="1" i="0">
                          <a:solidFill>
                            <a:srgbClr val="FFFFFF"/>
                          </a:solidFill>
                          <a:latin typeface="Helvetica"/>
                        </a:rPr>
                        <a:t>FashionIQ R@50</a:t>
                      </a:r>
                    </a:p>
                  </a:txBody>
                  <a:tcPr marL="73152" marR="73152" marT="36576" marB="36576" anchor="ctr">
                    <a:solidFill>
                      <a:srgbClr val="1E6FE8"/>
                    </a:solidFill>
                  </a:tcPr>
                </a:tc>
                <a:tc>
                  <a:txBody>
                    <a:bodyPr/>
                    <a:lstStyle/>
                    <a:p>
                      <a:pPr algn="ctr"/>
                      <a:r>
                        <a:rPr sz="2000" b="1" i="0">
                          <a:solidFill>
                            <a:srgbClr val="FFFFFF"/>
                          </a:solidFill>
                          <a:latin typeface="Helvetica"/>
                        </a:rPr>
                        <a:t>CIRCO mAP@5</a:t>
                      </a:r>
                    </a:p>
                  </a:txBody>
                  <a:tcPr marL="73152" marR="73152" marT="36576" marB="36576" anchor="ctr">
                    <a:solidFill>
                      <a:srgbClr val="1E6FE8"/>
                    </a:solidFill>
                  </a:tcPr>
                </a:tc>
                <a:extLst>
                  <a:ext uri="{0D108BD9-81ED-4DB2-BD59-A6C34878D82A}">
                    <a16:rowId xmlns:a16="http://schemas.microsoft.com/office/drawing/2014/main" val="10000"/>
                  </a:ext>
                </a:extLst>
              </a:tr>
              <a:tr h="457200">
                <a:tc>
                  <a:txBody>
                    <a:bodyPr/>
                    <a:lstStyle/>
                    <a:p>
                      <a:pPr algn="l"/>
                      <a:r>
                        <a:rPr sz="2000" b="0" i="0">
                          <a:solidFill>
                            <a:srgbClr val="0F1C3F"/>
                          </a:solidFill>
                          <a:latin typeface="Helvetica"/>
                        </a:rPr>
                        <a:t>Baseline</a:t>
                      </a:r>
                    </a:p>
                  </a:txBody>
                  <a:tcPr marL="73152" marR="73152" marT="36576" marB="36576" anchor="ctr">
                    <a:solidFill>
                      <a:srgbClr val="FFFFFF"/>
                    </a:solidFill>
                  </a:tcPr>
                </a:tc>
                <a:tc>
                  <a:txBody>
                    <a:bodyPr/>
                    <a:lstStyle/>
                    <a:p>
                      <a:pPr algn="ctr"/>
                      <a:r>
                        <a:rPr sz="2000" b="0" i="0">
                          <a:solidFill>
                            <a:srgbClr val="0F1C3F"/>
                          </a:solidFill>
                          <a:latin typeface="Helvetica"/>
                        </a:rPr>
                        <a:t>25,90 ± 0,24</a:t>
                      </a:r>
                    </a:p>
                  </a:txBody>
                  <a:tcPr marL="73152" marR="73152" marT="36576" marB="36576" anchor="ctr">
                    <a:solidFill>
                      <a:srgbClr val="FFFFFF"/>
                    </a:solidFill>
                  </a:tcPr>
                </a:tc>
                <a:tc>
                  <a:txBody>
                    <a:bodyPr/>
                    <a:lstStyle/>
                    <a:p>
                      <a:pPr algn="ctr"/>
                      <a:r>
                        <a:rPr sz="2000" b="0" i="0">
                          <a:solidFill>
                            <a:srgbClr val="0F1C3F"/>
                          </a:solidFill>
                          <a:latin typeface="Helvetica"/>
                        </a:rPr>
                        <a:t>45,53 ± 0,23</a:t>
                      </a:r>
                    </a:p>
                  </a:txBody>
                  <a:tcPr marL="73152" marR="73152" marT="36576" marB="36576" anchor="ctr">
                    <a:solidFill>
                      <a:srgbClr val="FFFFFF"/>
                    </a:solidFill>
                  </a:tcPr>
                </a:tc>
                <a:tc>
                  <a:txBody>
                    <a:bodyPr/>
                    <a:lstStyle/>
                    <a:p>
                      <a:pPr algn="ctr"/>
                      <a:r>
                        <a:rPr sz="2000" b="0" i="0">
                          <a:solidFill>
                            <a:srgbClr val="0F1C3F"/>
                          </a:solidFill>
                          <a:latin typeface="Helvetica"/>
                        </a:rPr>
                        <a:t>10,47 ± 0,10</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r>
                        <a:rPr sz="2000" b="0" i="0">
                          <a:solidFill>
                            <a:srgbClr val="0F1C3F"/>
                          </a:solidFill>
                          <a:latin typeface="Helvetica"/>
                        </a:rPr>
                        <a:t>A: + InfoNCE</a:t>
                      </a:r>
                    </a:p>
                  </a:txBody>
                  <a:tcPr marL="73152" marR="73152" marT="36576" marB="36576" anchor="ctr">
                    <a:solidFill>
                      <a:srgbClr val="FFFFFF"/>
                    </a:solidFill>
                  </a:tcPr>
                </a:tc>
                <a:tc>
                  <a:txBody>
                    <a:bodyPr/>
                    <a:lstStyle/>
                    <a:p>
                      <a:pPr algn="ctr"/>
                      <a:r>
                        <a:rPr sz="2000" b="0" i="0">
                          <a:solidFill>
                            <a:srgbClr val="0F1C3F"/>
                          </a:solidFill>
                          <a:latin typeface="Helvetica"/>
                        </a:rPr>
                        <a:t>25,54 ± 0,14</a:t>
                      </a:r>
                    </a:p>
                  </a:txBody>
                  <a:tcPr marL="73152" marR="73152" marT="36576" marB="36576" anchor="ctr">
                    <a:solidFill>
                      <a:srgbClr val="FFFFFF"/>
                    </a:solidFill>
                  </a:tcPr>
                </a:tc>
                <a:tc>
                  <a:txBody>
                    <a:bodyPr/>
                    <a:lstStyle/>
                    <a:p>
                      <a:pPr algn="ctr"/>
                      <a:r>
                        <a:rPr sz="2000" b="0" i="0">
                          <a:solidFill>
                            <a:srgbClr val="0F1C3F"/>
                          </a:solidFill>
                          <a:latin typeface="Helvetica"/>
                        </a:rPr>
                        <a:t>45,16 ± 0,21</a:t>
                      </a:r>
                    </a:p>
                  </a:txBody>
                  <a:tcPr marL="73152" marR="73152" marT="36576" marB="36576" anchor="ctr">
                    <a:solidFill>
                      <a:srgbClr val="FFFFFF"/>
                    </a:solidFill>
                  </a:tcPr>
                </a:tc>
                <a:tc>
                  <a:txBody>
                    <a:bodyPr/>
                    <a:lstStyle/>
                    <a:p>
                      <a:pPr algn="ctr"/>
                      <a:r>
                        <a:rPr sz="2000" b="0" i="0">
                          <a:solidFill>
                            <a:srgbClr val="0F1C3F"/>
                          </a:solidFill>
                          <a:latin typeface="Helvetica"/>
                        </a:rPr>
                        <a:t>8,02 ± 0,44</a:t>
                      </a:r>
                    </a:p>
                  </a:txBody>
                  <a:tcPr marL="73152" marR="73152" marT="36576" marB="36576" anchor="ctr">
                    <a:solidFill>
                      <a:srgbClr val="FFFFFF"/>
                    </a:solidFill>
                  </a:tcPr>
                </a:tc>
                <a:extLst>
                  <a:ext uri="{0D108BD9-81ED-4DB2-BD59-A6C34878D82A}">
                    <a16:rowId xmlns:a16="http://schemas.microsoft.com/office/drawing/2014/main" val="10002"/>
                  </a:ext>
                </a:extLst>
              </a:tr>
              <a:tr h="457200">
                <a:tc>
                  <a:txBody>
                    <a:bodyPr/>
                    <a:lstStyle/>
                    <a:p>
                      <a:pPr algn="l"/>
                      <a:r>
                        <a:rPr sz="2000" b="1" i="0">
                          <a:solidFill>
                            <a:srgbClr val="0F1C3F"/>
                          </a:solidFill>
                          <a:latin typeface="Helvetica"/>
                        </a:rPr>
                        <a:t>B: + nhiễu có hướng</a:t>
                      </a:r>
                    </a:p>
                  </a:txBody>
                  <a:tcPr marL="73152" marR="73152" marT="36576" marB="36576" anchor="ctr">
                    <a:solidFill>
                      <a:srgbClr val="EAF2FF"/>
                    </a:solidFill>
                  </a:tcPr>
                </a:tc>
                <a:tc>
                  <a:txBody>
                    <a:bodyPr/>
                    <a:lstStyle/>
                    <a:p>
                      <a:pPr algn="ctr"/>
                      <a:r>
                        <a:rPr sz="2000" b="1" i="0">
                          <a:solidFill>
                            <a:srgbClr val="0F1C3F"/>
                          </a:solidFill>
                          <a:latin typeface="Helvetica"/>
                        </a:rPr>
                        <a:t>26,50 ± 0,04</a:t>
                      </a:r>
                    </a:p>
                  </a:txBody>
                  <a:tcPr marL="73152" marR="73152" marT="36576" marB="36576" anchor="ctr">
                    <a:solidFill>
                      <a:srgbClr val="EAF2FF"/>
                    </a:solidFill>
                  </a:tcPr>
                </a:tc>
                <a:tc>
                  <a:txBody>
                    <a:bodyPr/>
                    <a:lstStyle/>
                    <a:p>
                      <a:pPr algn="ctr"/>
                      <a:r>
                        <a:rPr sz="2000" b="1" i="0">
                          <a:solidFill>
                            <a:srgbClr val="0F1C3F"/>
                          </a:solidFill>
                          <a:latin typeface="Helvetica"/>
                        </a:rPr>
                        <a:t>46,79 ± 0,07</a:t>
                      </a:r>
                    </a:p>
                  </a:txBody>
                  <a:tcPr marL="73152" marR="73152" marT="36576" marB="36576" anchor="ctr">
                    <a:solidFill>
                      <a:srgbClr val="EAF2FF"/>
                    </a:solidFill>
                  </a:tcPr>
                </a:tc>
                <a:tc>
                  <a:txBody>
                    <a:bodyPr/>
                    <a:lstStyle/>
                    <a:p>
                      <a:pPr algn="ctr"/>
                      <a:r>
                        <a:rPr sz="2000" b="1" i="0">
                          <a:solidFill>
                            <a:srgbClr val="0F1C3F"/>
                          </a:solidFill>
                          <a:latin typeface="Helvetica"/>
                        </a:rPr>
                        <a:t>10,94 ± 0,35</a:t>
                      </a:r>
                    </a:p>
                  </a:txBody>
                  <a:tcPr marL="73152" marR="73152" marT="36576" marB="36576" anchor="ctr">
                    <a:solidFill>
                      <a:srgbClr val="EAF2FF"/>
                    </a:solidFill>
                  </a:tcPr>
                </a:tc>
                <a:extLst>
                  <a:ext uri="{0D108BD9-81ED-4DB2-BD59-A6C34878D82A}">
                    <a16:rowId xmlns:a16="http://schemas.microsoft.com/office/drawing/2014/main" val="10003"/>
                  </a:ext>
                </a:extLst>
              </a:tr>
              <a:tr h="457200">
                <a:tc>
                  <a:txBody>
                    <a:bodyPr/>
                    <a:lstStyle/>
                    <a:p>
                      <a:pPr algn="l"/>
                      <a:r>
                        <a:rPr sz="2000" b="0" i="0">
                          <a:solidFill>
                            <a:srgbClr val="0F1C3F"/>
                          </a:solidFill>
                          <a:latin typeface="Helvetica"/>
                        </a:rPr>
                        <a:t>A + B</a:t>
                      </a:r>
                    </a:p>
                  </a:txBody>
                  <a:tcPr marL="73152" marR="73152" marT="36576" marB="36576" anchor="ctr">
                    <a:solidFill>
                      <a:srgbClr val="FFFFFF"/>
                    </a:solidFill>
                  </a:tcPr>
                </a:tc>
                <a:tc>
                  <a:txBody>
                    <a:bodyPr/>
                    <a:lstStyle/>
                    <a:p>
                      <a:pPr algn="ctr"/>
                      <a:r>
                        <a:rPr sz="2000" b="0" i="0">
                          <a:solidFill>
                            <a:srgbClr val="0F1C3F"/>
                          </a:solidFill>
                          <a:latin typeface="Helvetica"/>
                        </a:rPr>
                        <a:t>25,44 ± 0,13</a:t>
                      </a:r>
                    </a:p>
                  </a:txBody>
                  <a:tcPr marL="73152" marR="73152" marT="36576" marB="36576" anchor="ctr">
                    <a:solidFill>
                      <a:srgbClr val="FFFFFF"/>
                    </a:solidFill>
                  </a:tcPr>
                </a:tc>
                <a:tc>
                  <a:txBody>
                    <a:bodyPr/>
                    <a:lstStyle/>
                    <a:p>
                      <a:pPr algn="ctr"/>
                      <a:r>
                        <a:rPr sz="2000" b="0" i="0">
                          <a:solidFill>
                            <a:srgbClr val="0F1C3F"/>
                          </a:solidFill>
                          <a:latin typeface="Helvetica"/>
                        </a:rPr>
                        <a:t>45,36 ± 0,16</a:t>
                      </a:r>
                    </a:p>
                  </a:txBody>
                  <a:tcPr marL="73152" marR="73152" marT="36576" marB="36576" anchor="ctr">
                    <a:solidFill>
                      <a:srgbClr val="FFFFFF"/>
                    </a:solidFill>
                  </a:tcPr>
                </a:tc>
                <a:tc>
                  <a:txBody>
                    <a:bodyPr/>
                    <a:lstStyle/>
                    <a:p>
                      <a:pPr algn="ctr"/>
                      <a:r>
                        <a:rPr sz="2000" b="0" i="0">
                          <a:solidFill>
                            <a:srgbClr val="0F1C3F"/>
                          </a:solidFill>
                          <a:latin typeface="Helvetica"/>
                        </a:rPr>
                        <a:t>7,81 ± 0,19</a:t>
                      </a:r>
                    </a:p>
                  </a:txBody>
                  <a:tcPr marL="73152" marR="73152" marT="36576" marB="36576" anchor="ctr">
                    <a:solidFill>
                      <a:srgbClr val="FFFFFF"/>
                    </a:solidFill>
                  </a:tcPr>
                </a:tc>
                <a:extLst>
                  <a:ext uri="{0D108BD9-81ED-4DB2-BD59-A6C34878D82A}">
                    <a16:rowId xmlns:a16="http://schemas.microsoft.com/office/drawing/2014/main" val="10004"/>
                  </a:ext>
                </a:extLst>
              </a:tr>
              <a:tr h="457200">
                <a:tc>
                  <a:txBody>
                    <a:bodyPr/>
                    <a:lstStyle/>
                    <a:p>
                      <a:pPr algn="l"/>
                      <a:r>
                        <a:rPr sz="2000" b="0" i="1">
                          <a:solidFill>
                            <a:srgbClr val="5B6B82"/>
                          </a:solidFill>
                          <a:latin typeface="Helvetica"/>
                        </a:rPr>
                        <a:t>Checkpoint chính thức (20.000 bước)</a:t>
                      </a:r>
                    </a:p>
                  </a:txBody>
                  <a:tcPr marL="73152" marR="73152" marT="36576" marB="36576" anchor="ctr">
                    <a:solidFill>
                      <a:srgbClr val="FFFFFF"/>
                    </a:solidFill>
                  </a:tcPr>
                </a:tc>
                <a:tc>
                  <a:txBody>
                    <a:bodyPr/>
                    <a:lstStyle/>
                    <a:p>
                      <a:pPr algn="ctr"/>
                      <a:r>
                        <a:rPr sz="2000" b="0" i="1">
                          <a:solidFill>
                            <a:srgbClr val="5B6B82"/>
                          </a:solidFill>
                          <a:latin typeface="Helvetica"/>
                        </a:rPr>
                        <a:t>26,35</a:t>
                      </a:r>
                    </a:p>
                  </a:txBody>
                  <a:tcPr marL="73152" marR="73152" marT="36576" marB="36576" anchor="ctr">
                    <a:solidFill>
                      <a:srgbClr val="FFFFFF"/>
                    </a:solidFill>
                  </a:tcPr>
                </a:tc>
                <a:tc>
                  <a:txBody>
                    <a:bodyPr/>
                    <a:lstStyle/>
                    <a:p>
                      <a:pPr algn="ctr"/>
                      <a:r>
                        <a:rPr sz="2000" b="0" i="1">
                          <a:solidFill>
                            <a:srgbClr val="5B6B82"/>
                          </a:solidFill>
                          <a:latin typeface="Helvetica"/>
                        </a:rPr>
                        <a:t>46,12</a:t>
                      </a:r>
                    </a:p>
                  </a:txBody>
                  <a:tcPr marL="73152" marR="73152" marT="36576" marB="36576" anchor="ctr">
                    <a:solidFill>
                      <a:srgbClr val="FFFFFF"/>
                    </a:solidFill>
                  </a:tcPr>
                </a:tc>
                <a:tc>
                  <a:txBody>
                    <a:bodyPr/>
                    <a:lstStyle/>
                    <a:p>
                      <a:pPr algn="ctr"/>
                      <a:r>
                        <a:rPr sz="2000" b="0" i="1">
                          <a:solidFill>
                            <a:srgbClr val="5B6B82"/>
                          </a:solidFill>
                          <a:latin typeface="Helvetica"/>
                        </a:rPr>
                        <a:t>10,50</a:t>
                      </a:r>
                    </a:p>
                  </a:txBody>
                  <a:tcPr marL="73152" marR="73152" marT="36576" marB="36576" anchor="ctr">
                    <a:solidFill>
                      <a:srgbClr val="FFFFFF"/>
                    </a:solidFill>
                  </a:tcPr>
                </a:tc>
                <a:extLst>
                  <a:ext uri="{0D108BD9-81ED-4DB2-BD59-A6C34878D82A}">
                    <a16:rowId xmlns:a16="http://schemas.microsoft.com/office/drawing/2014/main" val="3725871879"/>
                  </a:ext>
                </a:extLst>
              </a:tr>
            </a:tbl>
          </a:graphicData>
        </a:graphic>
      </p:graphicFrame>
      <p:sp>
        <p:nvSpPr>
          <p:cNvPr id="7" name="Rounded Rectangle 6"/>
          <p:cNvSpPr/>
          <p:nvPr/>
        </p:nvSpPr>
        <p:spPr>
          <a:xfrm>
            <a:off x="548640" y="4800600"/>
            <a:ext cx="11064240" cy="1344168"/>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59" y="5029200"/>
            <a:ext cx="10515600" cy="1097280"/>
          </a:xfrm>
          <a:prstGeom prst="rect">
            <a:avLst/>
          </a:prstGeom>
          <a:noFill/>
        </p:spPr>
        <p:txBody>
          <a:bodyPr wrap="square" lIns="45720" tIns="27432" rIns="45720" bIns="27432" anchor="t">
            <a:spAutoFit/>
          </a:bodyPr>
          <a:lstStyle/>
          <a:p>
            <a:pPr algn="l">
              <a:lnSpc>
                <a:spcPct val="110000"/>
              </a:lnSpc>
            </a:pPr>
            <a:r>
              <a:rPr sz="2200" b="0" i="0">
                <a:solidFill>
                  <a:srgbClr val="0F1C3F"/>
                </a:solidFill>
                <a:latin typeface="Helvetica"/>
              </a:rPr>
              <a:t>B tốt hơn baseline: FashionIQ R@10 +0,60 (p = 0,006), R@50 +1,27 (p &lt; 0,001)</a:t>
            </a:r>
          </a:p>
          <a:p>
            <a:pPr algn="l">
              <a:lnSpc>
                <a:spcPct val="110000"/>
              </a:lnSpc>
            </a:pPr>
            <a:r>
              <a:rPr sz="2200" b="0" i="0">
                <a:solidFill>
                  <a:srgbClr val="0F1C3F"/>
                </a:solidFill>
                <a:latin typeface="Helvetica"/>
              </a:rPr>
              <a:t>A kém hơn trên CIRCO: mAP@5 −2,45, khoảng tin cậy 95% [−3,95; −1,07]; A+B tương tự</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1737360" y="-2011680"/>
            <a:ext cx="3657600" cy="365760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54864" y="329184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548640" y="347472"/>
            <a:ext cx="10424160" cy="1143000"/>
          </a:xfrm>
          <a:prstGeom prst="rect">
            <a:avLst/>
          </a:prstGeom>
          <a:noFill/>
        </p:spPr>
        <p:txBody>
          <a:bodyPr wrap="square" lIns="45720" tIns="27432" rIns="45720" bIns="27432" anchor="ctr">
            <a:spAutoFit/>
          </a:bodyPr>
          <a:lstStyle/>
          <a:p>
            <a:pPr algn="l">
              <a:lnSpc>
                <a:spcPct val="110000"/>
              </a:lnSpc>
            </a:pPr>
            <a:r>
              <a:rPr sz="3200" b="1" i="0">
                <a:solidFill>
                  <a:srgbClr val="0F1C3F"/>
                </a:solidFill>
                <a:latin typeface="Helvetica"/>
              </a:rPr>
              <a:t>Vì sao: B làm φ nhất quán hơn giữa ảnh và văn bản, A làm ngược lại</a:t>
            </a:r>
          </a:p>
        </p:txBody>
      </p:sp>
      <p:sp>
        <p:nvSpPr>
          <p:cNvPr id="5"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14</a:t>
            </a:r>
          </a:p>
        </p:txBody>
      </p:sp>
      <p:pic>
        <p:nvPicPr>
          <p:cNvPr id="12" name="Picture 11" descr="image.png"/>
          <p:cNvPicPr>
            <a:picLocks noChangeAspect="1"/>
          </p:cNvPicPr>
          <p:nvPr/>
        </p:nvPicPr>
        <p:blipFill>
          <a:blip r:embed="rId3"/>
          <a:stretch>
            <a:fillRect/>
          </a:stretch>
        </p:blipFill>
        <p:spPr>
          <a:xfrm>
            <a:off x="985157" y="1600200"/>
            <a:ext cx="4521925" cy="3063240"/>
          </a:xfrm>
          <a:prstGeom prst="rect">
            <a:avLst/>
          </a:prstGeom>
        </p:spPr>
      </p:pic>
      <p:pic>
        <p:nvPicPr>
          <p:cNvPr id="13" name="Picture 12" descr="image.png"/>
          <p:cNvPicPr>
            <a:picLocks noChangeAspect="1"/>
          </p:cNvPicPr>
          <p:nvPr/>
        </p:nvPicPr>
        <p:blipFill>
          <a:blip r:embed="rId4"/>
          <a:stretch>
            <a:fillRect/>
          </a:stretch>
        </p:blipFill>
        <p:spPr>
          <a:xfrm>
            <a:off x="6654437" y="1600200"/>
            <a:ext cx="4521925" cy="3063240"/>
          </a:xfrm>
          <a:prstGeom prst="rect">
            <a:avLst/>
          </a:prstGeom>
        </p:spPr>
      </p:pic>
      <p:sp>
        <p:nvSpPr>
          <p:cNvPr id="14" name="TextBox 13"/>
          <p:cNvSpPr txBox="1"/>
          <p:nvPr/>
        </p:nvSpPr>
        <p:spPr>
          <a:xfrm>
            <a:off x="548640" y="4800600"/>
            <a:ext cx="10241280" cy="1371600"/>
          </a:xfrm>
          <a:prstGeom prst="rect">
            <a:avLst/>
          </a:prstGeom>
          <a:noFill/>
        </p:spPr>
        <p:txBody>
          <a:bodyPr wrap="square" lIns="45720" tIns="27432" rIns="45720" bIns="27432" anchor="t">
            <a:spAutoFit/>
          </a:bodyPr>
          <a:lstStyle/>
          <a:p>
            <a:pPr algn="l">
              <a:lnSpc>
                <a:spcPct val="105000"/>
              </a:lnSpc>
            </a:pPr>
            <a:r>
              <a:rPr sz="2000" b="1" i="0">
                <a:solidFill>
                  <a:srgbClr val="144FB0"/>
                </a:solidFill>
                <a:latin typeface="Helvetica"/>
              </a:rPr>
              <a:t>Trái: </a:t>
            </a:r>
            <a:r>
              <a:rPr sz="2000" b="0" i="0">
                <a:solidFill>
                  <a:srgbClr val="0F1C3F"/>
                </a:solidFill>
                <a:latin typeface="Helvetica"/>
              </a:rPr>
              <a:t>cosine giữa φ(ảnh) và φ(văn bản) của cùng một cặp; B cao nhất (0,84), A thấp nhất (0,64), cùng thứ tự với CIRCO mAP@5</a:t>
            </a:r>
          </a:p>
          <a:p>
            <a:pPr algn="l">
              <a:lnSpc>
                <a:spcPct val="105000"/>
              </a:lnSpc>
            </a:pPr>
            <a:r>
              <a:rPr sz="2000" b="1" i="0">
                <a:solidFill>
                  <a:srgbClr val="144FB0"/>
                </a:solidFill>
                <a:latin typeface="Helvetica"/>
              </a:rPr>
              <a:t>Phải: </a:t>
            </a:r>
            <a:r>
              <a:rPr sz="2000" b="0" i="0">
                <a:solidFill>
                  <a:srgbClr val="0F1C3F"/>
                </a:solidFill>
                <a:latin typeface="Helvetica"/>
              </a:rPr>
              <a:t>A thấp hơn baseline ở mọi mốc huấn luyện, nên kết luận không phụ thuộc điểm dừng</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9875520" y="4297680"/>
            <a:ext cx="3657600" cy="365760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11704320" y="347472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548640" y="347472"/>
            <a:ext cx="10424160" cy="1143000"/>
          </a:xfrm>
          <a:prstGeom prst="rect">
            <a:avLst/>
          </a:prstGeom>
          <a:noFill/>
        </p:spPr>
        <p:txBody>
          <a:bodyPr wrap="square" lIns="45720" tIns="27432" rIns="45720" bIns="27432" anchor="ctr">
            <a:spAutoFit/>
          </a:bodyPr>
          <a:lstStyle/>
          <a:p>
            <a:pPr algn="l">
              <a:lnSpc>
                <a:spcPct val="110000"/>
              </a:lnSpc>
            </a:pPr>
            <a:r>
              <a:rPr sz="3200" b="1" i="0">
                <a:solidFill>
                  <a:srgbClr val="0F1C3F"/>
                </a:solidFill>
                <a:latin typeface="Helvetica"/>
              </a:rPr>
              <a:t>Kết luận: H2 được ủng hộ, H1 và H3 bị bác bỏ</a:t>
            </a:r>
          </a:p>
        </p:txBody>
      </p:sp>
      <p:sp>
        <p:nvSpPr>
          <p:cNvPr id="5"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15</a:t>
            </a:r>
          </a:p>
        </p:txBody>
      </p:sp>
      <p:pic>
        <p:nvPicPr>
          <p:cNvPr id="6" name="Picture 5" descr="qualitative_fiq_1.png"/>
          <p:cNvPicPr>
            <a:picLocks noChangeAspect="1"/>
          </p:cNvPicPr>
          <p:nvPr/>
        </p:nvPicPr>
        <p:blipFill>
          <a:blip r:embed="rId3"/>
          <a:stretch>
            <a:fillRect/>
          </a:stretch>
        </p:blipFill>
        <p:spPr>
          <a:xfrm>
            <a:off x="548640" y="1600200"/>
            <a:ext cx="6949440" cy="2779776"/>
          </a:xfrm>
          <a:prstGeom prst="rect">
            <a:avLst/>
          </a:prstGeom>
        </p:spPr>
      </p:pic>
      <p:sp>
        <p:nvSpPr>
          <p:cNvPr id="7" name="TextBox 6"/>
          <p:cNvSpPr txBox="1"/>
          <p:nvPr/>
        </p:nvSpPr>
        <p:spPr>
          <a:xfrm>
            <a:off x="548640" y="4471416"/>
            <a:ext cx="6949440" cy="731520"/>
          </a:xfrm>
          <a:prstGeom prst="rect">
            <a:avLst/>
          </a:prstGeom>
          <a:noFill/>
        </p:spPr>
        <p:txBody>
          <a:bodyPr wrap="square" lIns="45720" tIns="27432" rIns="45720" bIns="27432" anchor="t">
            <a:spAutoFit/>
          </a:bodyPr>
          <a:lstStyle/>
          <a:p>
            <a:pPr algn="l">
              <a:lnSpc>
                <a:spcPct val="110000"/>
              </a:lnSpc>
            </a:pPr>
            <a:r>
              <a:rPr sz="2000" b="0" i="0">
                <a:solidFill>
                  <a:srgbClr val="0F1C3F"/>
                </a:solidFill>
                <a:latin typeface="Helvetica"/>
              </a:rPr>
              <a:t>Ví dụ FashionIQ: B xếp đúng ảnh đích ở hạng 1; baseline trả về váy ngắn, tối màu</a:t>
            </a:r>
          </a:p>
        </p:txBody>
      </p:sp>
      <p:sp>
        <p:nvSpPr>
          <p:cNvPr id="8" name="TextBox 7"/>
          <p:cNvSpPr txBox="1"/>
          <p:nvPr/>
        </p:nvSpPr>
        <p:spPr>
          <a:xfrm>
            <a:off x="548640" y="5340096"/>
            <a:ext cx="6949440" cy="731520"/>
          </a:xfrm>
          <a:prstGeom prst="rect">
            <a:avLst/>
          </a:prstGeom>
          <a:noFill/>
        </p:spPr>
        <p:txBody>
          <a:bodyPr wrap="square" lIns="45720" tIns="27432" rIns="45720" bIns="27432" anchor="t">
            <a:spAutoFit/>
          </a:bodyPr>
          <a:lstStyle/>
          <a:p>
            <a:pPr algn="l">
              <a:lnSpc>
                <a:spcPct val="110000"/>
              </a:lnSpc>
            </a:pPr>
            <a:r>
              <a:rPr sz="2000" b="1" i="0">
                <a:solidFill>
                  <a:srgbClr val="144FB0"/>
                </a:solidFill>
                <a:latin typeface="Helvetica"/>
              </a:rPr>
              <a:t>Đóng góp: </a:t>
            </a:r>
            <a:r>
              <a:rPr sz="2000" b="0" i="0">
                <a:solidFill>
                  <a:srgbClr val="0F1C3F"/>
                </a:solidFill>
                <a:latin typeface="Helvetica"/>
              </a:rPr>
              <a:t>dựng lại mã, tái hiện, hai cải tiến, kiểm định thống kê, phân tích cơ chế</a:t>
            </a:r>
          </a:p>
        </p:txBody>
      </p:sp>
      <p:sp>
        <p:nvSpPr>
          <p:cNvPr id="9" name="Rounded Rectangle 8"/>
          <p:cNvSpPr/>
          <p:nvPr/>
        </p:nvSpPr>
        <p:spPr>
          <a:xfrm>
            <a:off x="7726679" y="1600200"/>
            <a:ext cx="3931920" cy="443484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955279" y="1764792"/>
            <a:ext cx="347472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Kết luận</a:t>
            </a:r>
          </a:p>
        </p:txBody>
      </p:sp>
      <p:sp>
        <p:nvSpPr>
          <p:cNvPr id="11" name="TextBox 10"/>
          <p:cNvSpPr txBox="1"/>
          <p:nvPr/>
        </p:nvSpPr>
        <p:spPr>
          <a:xfrm>
            <a:off x="7955279" y="2331720"/>
            <a:ext cx="3474720" cy="3566159"/>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000" b="0" i="0">
                <a:solidFill>
                  <a:srgbClr val="0F1C3F"/>
                </a:solidFill>
                <a:latin typeface="Helvetica"/>
              </a:rPr>
              <a:t>H2 (B) được ủng hộ: R@10 +0,60, R@50 +1,27</a:t>
            </a:r>
          </a:p>
          <a:p>
            <a:pPr marL="292608" indent="-292608">
              <a:lnSpc>
                <a:spcPct val="108000"/>
              </a:lnSpc>
              <a:spcAft>
                <a:spcPts val="600"/>
              </a:spcAft>
              <a:buClr>
                <a:srgbClr val="1E6FE8"/>
              </a:buClr>
              <a:buFont typeface="Helvetica"/>
              <a:buChar char="•"/>
            </a:pPr>
            <a:r>
              <a:rPr sz="2000" b="0" i="0">
                <a:solidFill>
                  <a:srgbClr val="0F1C3F"/>
                </a:solidFill>
                <a:latin typeface="Helvetica"/>
              </a:rPr>
              <a:t>H1 (A) bị bác bỏ: CIRCO mAP@5 giảm 2,45</a:t>
            </a:r>
          </a:p>
          <a:p>
            <a:pPr marL="292608" indent="-292608">
              <a:lnSpc>
                <a:spcPct val="108000"/>
              </a:lnSpc>
              <a:spcAft>
                <a:spcPts val="600"/>
              </a:spcAft>
              <a:buClr>
                <a:srgbClr val="1E6FE8"/>
              </a:buClr>
              <a:buFont typeface="Helvetica"/>
              <a:buChar char="•"/>
            </a:pPr>
            <a:r>
              <a:rPr sz="2000" b="0" i="0">
                <a:solidFill>
                  <a:srgbClr val="0F1C3F"/>
                </a:solidFill>
                <a:latin typeface="Helvetica"/>
              </a:rPr>
              <a:t>H3 (A+B) bị bác bỏ: kém baseline trên CIRCO</a:t>
            </a:r>
          </a:p>
          <a:p>
            <a:pPr marL="292608" indent="-292608">
              <a:lnSpc>
                <a:spcPct val="108000"/>
              </a:lnSpc>
              <a:spcAft>
                <a:spcPts val="600"/>
              </a:spcAft>
              <a:buClr>
                <a:srgbClr val="1E6FE8"/>
              </a:buClr>
              <a:buFont typeface="Helvetica"/>
              <a:buChar char="•"/>
            </a:pPr>
            <a:r>
              <a:rPr sz="2000" b="0" i="0">
                <a:solidFill>
                  <a:srgbClr val="0F1C3F"/>
                </a:solidFill>
                <a:latin typeface="Helvetica"/>
              </a:rPr>
              <a:t>Hạn chế: 5.000 bước, chưa quét λ, α</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1783080" y="-4770120"/>
            <a:ext cx="15758159" cy="15758159"/>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5368065" y="1416270"/>
            <a:ext cx="1960581" cy="1960581"/>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731520" y="2011680"/>
            <a:ext cx="9601200" cy="769763"/>
          </a:xfrm>
          <a:prstGeom prst="rect">
            <a:avLst/>
          </a:prstGeom>
          <a:noFill/>
        </p:spPr>
        <p:txBody>
          <a:bodyPr wrap="square" lIns="45720" tIns="27432" rIns="45720" bIns="27432" anchor="t">
            <a:spAutoFit/>
          </a:bodyPr>
          <a:lstStyle/>
          <a:p>
            <a:pPr algn="l">
              <a:lnSpc>
                <a:spcPct val="110000"/>
              </a:lnSpc>
            </a:pPr>
            <a:r>
              <a:rPr sz="4400" b="1" i="0" dirty="0" err="1">
                <a:solidFill>
                  <a:srgbClr val="0F1C3F"/>
                </a:solidFill>
                <a:latin typeface="Helvetica"/>
              </a:rPr>
              <a:t>Cảm</a:t>
            </a:r>
            <a:r>
              <a:rPr sz="4400" b="1" i="0" dirty="0">
                <a:solidFill>
                  <a:srgbClr val="0F1C3F"/>
                </a:solidFill>
                <a:latin typeface="Helvetica"/>
              </a:rPr>
              <a:t> </a:t>
            </a:r>
            <a:r>
              <a:rPr sz="4400" b="1" i="0" dirty="0" err="1">
                <a:solidFill>
                  <a:srgbClr val="0F1C3F"/>
                </a:solidFill>
                <a:latin typeface="Helvetica"/>
              </a:rPr>
              <a:t>ơn</a:t>
            </a:r>
            <a:r>
              <a:rPr sz="4400" b="1" i="0" dirty="0">
                <a:solidFill>
                  <a:srgbClr val="0F1C3F"/>
                </a:solidFill>
                <a:latin typeface="Helvetica"/>
              </a:rPr>
              <a:t> </a:t>
            </a:r>
            <a:r>
              <a:rPr sz="4400" b="1" i="0" dirty="0" err="1">
                <a:solidFill>
                  <a:srgbClr val="0F1C3F"/>
                </a:solidFill>
                <a:latin typeface="Helvetica"/>
              </a:rPr>
              <a:t>cô</a:t>
            </a:r>
            <a:r>
              <a:rPr sz="4400" b="1" i="0" dirty="0">
                <a:solidFill>
                  <a:srgbClr val="0F1C3F"/>
                </a:solidFill>
                <a:latin typeface="Helvetica"/>
              </a:rPr>
              <a:t> </a:t>
            </a:r>
            <a:r>
              <a:rPr sz="4400" b="1" i="0" dirty="0" err="1">
                <a:solidFill>
                  <a:srgbClr val="0F1C3F"/>
                </a:solidFill>
                <a:latin typeface="Helvetica"/>
              </a:rPr>
              <a:t>và</a:t>
            </a:r>
            <a:r>
              <a:rPr sz="4400" b="1" i="0" dirty="0">
                <a:solidFill>
                  <a:srgbClr val="0F1C3F"/>
                </a:solidFill>
                <a:latin typeface="Helvetica"/>
              </a:rPr>
              <a:t> </a:t>
            </a:r>
            <a:r>
              <a:rPr sz="4400" b="1" i="0" dirty="0" err="1">
                <a:solidFill>
                  <a:srgbClr val="0F1C3F"/>
                </a:solidFill>
                <a:latin typeface="Helvetica"/>
              </a:rPr>
              <a:t>các</a:t>
            </a:r>
            <a:r>
              <a:rPr sz="4400" b="1" i="0" dirty="0">
                <a:solidFill>
                  <a:srgbClr val="0F1C3F"/>
                </a:solidFill>
                <a:latin typeface="Helvetica"/>
              </a:rPr>
              <a:t> </a:t>
            </a:r>
            <a:r>
              <a:rPr sz="4400" b="1" i="0" dirty="0" err="1">
                <a:solidFill>
                  <a:srgbClr val="0F1C3F"/>
                </a:solidFill>
                <a:latin typeface="Helvetica"/>
              </a:rPr>
              <a:t>bạn</a:t>
            </a:r>
            <a:r>
              <a:rPr lang="en-US" sz="4400" b="1" i="0" dirty="0">
                <a:solidFill>
                  <a:srgbClr val="0F1C3F"/>
                </a:solidFill>
                <a:latin typeface="Helvetica"/>
              </a:rPr>
              <a:t> </a:t>
            </a:r>
            <a:r>
              <a:rPr lang="en-US" sz="4400" b="1" i="0" dirty="0" err="1">
                <a:solidFill>
                  <a:srgbClr val="0F1C3F"/>
                </a:solidFill>
                <a:latin typeface="Helvetica"/>
              </a:rPr>
              <a:t>đã</a:t>
            </a:r>
            <a:r>
              <a:rPr lang="en-US" sz="4400" b="1" i="0" dirty="0">
                <a:solidFill>
                  <a:srgbClr val="0F1C3F"/>
                </a:solidFill>
                <a:latin typeface="Helvetica"/>
              </a:rPr>
              <a:t> </a:t>
            </a:r>
            <a:r>
              <a:rPr lang="en-US" sz="4400" b="1" i="0" dirty="0" err="1">
                <a:solidFill>
                  <a:srgbClr val="0F1C3F"/>
                </a:solidFill>
                <a:latin typeface="Helvetica"/>
              </a:rPr>
              <a:t>theo</a:t>
            </a:r>
            <a:r>
              <a:rPr lang="en-US" sz="4400" b="1" i="0" dirty="0">
                <a:solidFill>
                  <a:srgbClr val="0F1C3F"/>
                </a:solidFill>
                <a:latin typeface="Helvetica"/>
              </a:rPr>
              <a:t> </a:t>
            </a:r>
            <a:r>
              <a:rPr lang="en-US" sz="4400" b="1" i="0" dirty="0" err="1">
                <a:solidFill>
                  <a:srgbClr val="0F1C3F"/>
                </a:solidFill>
                <a:latin typeface="Helvetica"/>
              </a:rPr>
              <a:t>dõi</a:t>
            </a:r>
            <a:endParaRPr sz="4400" b="1" i="0" dirty="0">
              <a:solidFill>
                <a:srgbClr val="0F1C3F"/>
              </a:solidFill>
              <a:latin typeface="Helvetica"/>
            </a:endParaRPr>
          </a:p>
        </p:txBody>
      </p:sp>
      <p:sp>
        <p:nvSpPr>
          <p:cNvPr id="5" name="TextBox 4"/>
          <p:cNvSpPr txBox="1"/>
          <p:nvPr/>
        </p:nvSpPr>
        <p:spPr>
          <a:xfrm>
            <a:off x="731520" y="3108960"/>
            <a:ext cx="9601200" cy="510011"/>
          </a:xfrm>
          <a:prstGeom prst="rect">
            <a:avLst/>
          </a:prstGeom>
          <a:noFill/>
        </p:spPr>
        <p:txBody>
          <a:bodyPr wrap="square" lIns="45720" tIns="27432" rIns="45720" bIns="27432" anchor="t">
            <a:spAutoFit/>
          </a:bodyPr>
          <a:lstStyle/>
          <a:p>
            <a:pPr algn="l">
              <a:lnSpc>
                <a:spcPct val="110000"/>
              </a:lnSpc>
            </a:pPr>
            <a:r>
              <a:rPr lang="en-US" sz="2800" b="0" i="0" dirty="0">
                <a:solidFill>
                  <a:srgbClr val="1E6FE8"/>
                </a:solidFill>
                <a:latin typeface="Helvetica"/>
              </a:rPr>
              <a:t>Xin </a:t>
            </a:r>
            <a:r>
              <a:rPr lang="en-US" sz="2800" b="0" i="0" dirty="0" err="1">
                <a:solidFill>
                  <a:srgbClr val="1E6FE8"/>
                </a:solidFill>
                <a:latin typeface="Helvetica"/>
              </a:rPr>
              <a:t>mời</a:t>
            </a:r>
            <a:r>
              <a:rPr lang="en-US" sz="2800" b="0" i="0" dirty="0">
                <a:solidFill>
                  <a:srgbClr val="1E6FE8"/>
                </a:solidFill>
                <a:latin typeface="Helvetica"/>
              </a:rPr>
              <a:t> </a:t>
            </a:r>
            <a:r>
              <a:rPr lang="en-US" sz="2800" b="0" i="0" dirty="0" err="1">
                <a:solidFill>
                  <a:srgbClr val="1E6FE8"/>
                </a:solidFill>
                <a:latin typeface="Helvetica"/>
              </a:rPr>
              <a:t>câu</a:t>
            </a:r>
            <a:r>
              <a:rPr lang="en-US" sz="2800" b="0" i="0" dirty="0">
                <a:solidFill>
                  <a:srgbClr val="1E6FE8"/>
                </a:solidFill>
                <a:latin typeface="Helvetica"/>
              </a:rPr>
              <a:t> </a:t>
            </a:r>
            <a:r>
              <a:rPr lang="en-US" sz="2800" dirty="0" err="1">
                <a:solidFill>
                  <a:srgbClr val="1E6FE8"/>
                </a:solidFill>
                <a:latin typeface="Helvetica"/>
              </a:rPr>
              <a:t>h</a:t>
            </a:r>
            <a:r>
              <a:rPr sz="2800" b="0" i="0" dirty="0" err="1">
                <a:solidFill>
                  <a:srgbClr val="1E6FE8"/>
                </a:solidFill>
                <a:latin typeface="Helvetica"/>
              </a:rPr>
              <a:t>ỏi</a:t>
            </a:r>
            <a:r>
              <a:rPr sz="2800" b="0" i="0" dirty="0">
                <a:solidFill>
                  <a:srgbClr val="1E6FE8"/>
                </a:solidFill>
                <a:latin typeface="Helvetica"/>
              </a:rPr>
              <a:t> </a:t>
            </a:r>
            <a:r>
              <a:rPr lang="en-US" sz="2800" dirty="0" err="1">
                <a:solidFill>
                  <a:srgbClr val="1E6FE8"/>
                </a:solidFill>
                <a:latin typeface="Helvetica"/>
              </a:rPr>
              <a:t>và</a:t>
            </a:r>
            <a:r>
              <a:rPr lang="en-US" sz="2800" dirty="0">
                <a:solidFill>
                  <a:srgbClr val="1E6FE8"/>
                </a:solidFill>
                <a:latin typeface="Helvetica"/>
              </a:rPr>
              <a:t> </a:t>
            </a:r>
            <a:r>
              <a:rPr lang="en-US" sz="2800" dirty="0" err="1">
                <a:solidFill>
                  <a:srgbClr val="1E6FE8"/>
                </a:solidFill>
                <a:latin typeface="Helvetica"/>
              </a:rPr>
              <a:t>góp</a:t>
            </a:r>
            <a:r>
              <a:rPr lang="en-US" sz="2800" dirty="0">
                <a:solidFill>
                  <a:srgbClr val="1E6FE8"/>
                </a:solidFill>
                <a:latin typeface="Helvetica"/>
              </a:rPr>
              <a:t> </a:t>
            </a:r>
            <a:r>
              <a:rPr lang="en-US" sz="2800" dirty="0" err="1">
                <a:solidFill>
                  <a:srgbClr val="1E6FE8"/>
                </a:solidFill>
                <a:latin typeface="Helvetica"/>
              </a:rPr>
              <a:t>ý</a:t>
            </a:r>
            <a:r>
              <a:rPr lang="en-US" sz="2800" dirty="0">
                <a:solidFill>
                  <a:srgbClr val="1E6FE8"/>
                </a:solidFill>
                <a:latin typeface="Helvetica"/>
              </a:rPr>
              <a:t>!</a:t>
            </a:r>
            <a:endParaRPr sz="2800" b="0" i="0" dirty="0">
              <a:solidFill>
                <a:srgbClr val="1E6FE8"/>
              </a:solidFill>
              <a:latin typeface="Helvetica"/>
            </a:endParaRPr>
          </a:p>
        </p:txBody>
      </p:sp>
      <p:sp>
        <p:nvSpPr>
          <p:cNvPr id="6"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16</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Helvetic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Helvetica"/>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Helvetica"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Helvetica"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TotalTime>
  <Words>2767</Words>
  <Application>Microsoft Macintosh PowerPoint</Application>
  <PresentationFormat>Widescreen</PresentationFormat>
  <Paragraphs>216</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Helvetica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Dao Van Tam</cp:lastModifiedBy>
  <cp:revision>12</cp:revision>
  <dcterms:created xsi:type="dcterms:W3CDTF">2013-01-27T09:14:16Z</dcterms:created>
  <dcterms:modified xsi:type="dcterms:W3CDTF">2026-10-12T17:09:21Z</dcterms:modified>
  <cp:category/>
</cp:coreProperties>
</file>